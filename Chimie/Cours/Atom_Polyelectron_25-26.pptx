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33"/>
  </p:notesMasterIdLst>
  <p:sldIdLst>
    <p:sldId id="276" r:id="rId2"/>
    <p:sldId id="277" r:id="rId3"/>
    <p:sldId id="278" r:id="rId4"/>
    <p:sldId id="279" r:id="rId5"/>
    <p:sldId id="295" r:id="rId6"/>
    <p:sldId id="280" r:id="rId7"/>
    <p:sldId id="281" r:id="rId8"/>
    <p:sldId id="282" r:id="rId9"/>
    <p:sldId id="283" r:id="rId10"/>
    <p:sldId id="284" r:id="rId11"/>
    <p:sldId id="296" r:id="rId12"/>
    <p:sldId id="297" r:id="rId13"/>
    <p:sldId id="285" r:id="rId14"/>
    <p:sldId id="286" r:id="rId15"/>
    <p:sldId id="308" r:id="rId16"/>
    <p:sldId id="287" r:id="rId17"/>
    <p:sldId id="288" r:id="rId18"/>
    <p:sldId id="289" r:id="rId19"/>
    <p:sldId id="290" r:id="rId20"/>
    <p:sldId id="291" r:id="rId21"/>
    <p:sldId id="292" r:id="rId22"/>
    <p:sldId id="302" r:id="rId23"/>
    <p:sldId id="304" r:id="rId24"/>
    <p:sldId id="293" r:id="rId25"/>
    <p:sldId id="299" r:id="rId26"/>
    <p:sldId id="300" r:id="rId27"/>
    <p:sldId id="305" r:id="rId28"/>
    <p:sldId id="303" r:id="rId29"/>
    <p:sldId id="306" r:id="rId30"/>
    <p:sldId id="301" r:id="rId31"/>
    <p:sldId id="30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1-01-21T12:44:42.42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10838 11882 874,'29'90'-10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1048886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812F7-D08D-4CDD-9511-1FD12545A378}" type="datetimeFigureOut">
              <a:rPr lang="fr-MA" smtClean="0"/>
              <a:t>15/01/2026</a:t>
            </a:fld>
            <a:endParaRPr lang="fr-MA"/>
          </a:p>
        </p:txBody>
      </p:sp>
      <p:sp>
        <p:nvSpPr>
          <p:cNvPr id="1048887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1048888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89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1048890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43A98-AADE-451F-8A68-B073CFC6F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9807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30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831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443A98-AADE-451F-8A68-B073CFC6FEA7}" type="slidenum">
              <a:rPr lang="fr-MA" smtClean="0"/>
              <a:t>21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00052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8E37-6A79-4A82-B36D-E0A92DABEA0C}" type="datetime1">
              <a:rPr lang="fr-MA" smtClean="0"/>
              <a:t>15/01/2026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9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90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461-CEF4-4D02-995B-69D727B04B06}" type="datetime1">
              <a:rPr lang="fr-MA" smtClean="0"/>
              <a:t>15/01/2026</a:t>
            </a:fld>
            <a:endParaRPr lang="fr-MA"/>
          </a:p>
        </p:txBody>
      </p:sp>
      <p:sp>
        <p:nvSpPr>
          <p:cNvPr id="1048591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59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70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87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FDA7-E8D6-4E35-B61D-8FD0425CA692}" type="datetime1">
              <a:rPr lang="fr-MA" smtClean="0"/>
              <a:t>15/01/2026</a:t>
            </a:fld>
            <a:endParaRPr lang="fr-MA"/>
          </a:p>
        </p:txBody>
      </p:sp>
      <p:sp>
        <p:nvSpPr>
          <p:cNvPr id="104887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7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38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39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40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65AB0-0363-4C0C-BF69-999D6A44B8F2}" type="datetime1">
              <a:rPr lang="fr-MA" smtClean="0"/>
              <a:t>15/01/2026</a:t>
            </a:fld>
            <a:endParaRPr lang="fr-MA"/>
          </a:p>
        </p:txBody>
      </p:sp>
      <p:sp>
        <p:nvSpPr>
          <p:cNvPr id="1048841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42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44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845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46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847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48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0712-4C1A-4EAD-AE47-79102466B8A3}" type="datetime1">
              <a:rPr lang="fr-MA" smtClean="0"/>
              <a:t>15/01/2026</a:t>
            </a:fld>
            <a:endParaRPr lang="fr-MA"/>
          </a:p>
        </p:txBody>
      </p:sp>
      <p:sp>
        <p:nvSpPr>
          <p:cNvPr id="1048849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50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52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66C6E-555E-45FA-B62E-10526C1D3F00}" type="datetime1">
              <a:rPr lang="fr-MA" smtClean="0"/>
              <a:t>15/01/2026</a:t>
            </a:fld>
            <a:endParaRPr lang="fr-MA"/>
          </a:p>
        </p:txBody>
      </p:sp>
      <p:sp>
        <p:nvSpPr>
          <p:cNvPr id="1048853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54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023-99CD-49C6-A37A-73823B7AAFCF}" type="datetime1">
              <a:rPr lang="fr-MA" smtClean="0"/>
              <a:t>15/01/2026</a:t>
            </a:fld>
            <a:endParaRPr lang="fr-MA"/>
          </a:p>
        </p:txBody>
      </p:sp>
      <p:sp>
        <p:nvSpPr>
          <p:cNvPr id="1048861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62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9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80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81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882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655C-6B64-4967-A6AF-F93AFD979338}" type="datetime1">
              <a:rPr lang="fr-MA" smtClean="0"/>
              <a:t>15/01/2026</a:t>
            </a:fld>
            <a:endParaRPr lang="fr-MA"/>
          </a:p>
        </p:txBody>
      </p:sp>
      <p:sp>
        <p:nvSpPr>
          <p:cNvPr id="1048883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84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64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48865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866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D383C-3144-43AE-9C0F-9381F09D5047}" type="datetime1">
              <a:rPr lang="fr-MA" smtClean="0"/>
              <a:t>15/01/2026</a:t>
            </a:fld>
            <a:endParaRPr lang="fr-MA"/>
          </a:p>
        </p:txBody>
      </p:sp>
      <p:sp>
        <p:nvSpPr>
          <p:cNvPr id="1048867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68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75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7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B9B52-2895-4BC1-A5A1-6A4A2E57DB80}" type="datetime1">
              <a:rPr lang="fr-MA" smtClean="0"/>
              <a:t>15/01/2026</a:t>
            </a:fld>
            <a:endParaRPr lang="fr-MA"/>
          </a:p>
        </p:txBody>
      </p:sp>
      <p:sp>
        <p:nvSpPr>
          <p:cNvPr id="104887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7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856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85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0926-813E-4D0C-B7BF-98289FD8D94D}" type="datetime1">
              <a:rPr lang="fr-MA" smtClean="0"/>
              <a:t>15/01/2026</a:t>
            </a:fld>
            <a:endParaRPr lang="fr-MA"/>
          </a:p>
        </p:txBody>
      </p:sp>
      <p:sp>
        <p:nvSpPr>
          <p:cNvPr id="104885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104885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5350E-D0E8-4767-953B-4D16521A288A}" type="datetime1">
              <a:rPr lang="fr-MA" smtClean="0"/>
              <a:t>15/01/2026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MA"/>
              <a:t>O.Azagrouze</a:t>
            </a:r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51F40-0173-489D-8165-8D5067579CC0}" type="slidenum">
              <a:rPr lang="fr-MA" smtClean="0"/>
              <a:t>‹#›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6.png"/><Relationship Id="rId10" Type="http://schemas.openxmlformats.org/officeDocument/2006/relationships/image" Target="../media/image32.png"/><Relationship Id="rId4" Type="http://schemas.openxmlformats.org/officeDocument/2006/relationships/image" Target="../media/image27.wmf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png"/><Relationship Id="rId5" Type="http://schemas.openxmlformats.org/officeDocument/2006/relationships/image" Target="../media/image6.png"/><Relationship Id="rId4" Type="http://schemas.openxmlformats.org/officeDocument/2006/relationships/image" Target="../media/image37.wmf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4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7.png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re 1"/>
          <p:cNvSpPr>
            <a:spLocks noGrp="1"/>
          </p:cNvSpPr>
          <p:nvPr>
            <p:ph type="ctrTitle"/>
          </p:nvPr>
        </p:nvSpPr>
        <p:spPr>
          <a:xfrm>
            <a:off x="1485364" y="1405698"/>
            <a:ext cx="9144000" cy="115719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fr-MA" dirty="0">
                <a:latin typeface="AR BLANCA" panose="02000000000000000000" pitchFamily="2" charset="0"/>
              </a:rPr>
              <a:t>L’atome poly-électronique</a:t>
            </a:r>
          </a:p>
        </p:txBody>
      </p:sp>
      <p:sp>
        <p:nvSpPr>
          <p:cNvPr id="1048587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 sz="1400" dirty="0" err="1">
                <a:solidFill>
                  <a:schemeClr val="tx1"/>
                </a:solidFill>
                <a:latin typeface="AR BLANCA" panose="02000000000000000000" pitchFamily="2" charset="0"/>
              </a:rPr>
              <a:t>O.Azagrouze</a:t>
            </a:r>
            <a:endParaRPr lang="fr-MA" sz="1400" dirty="0">
              <a:solidFill>
                <a:schemeClr val="tx1"/>
              </a:solidFill>
              <a:latin typeface="AR BLANCA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Rectangle 1"/>
          <p:cNvSpPr/>
          <p:nvPr/>
        </p:nvSpPr>
        <p:spPr>
          <a:xfrm>
            <a:off x="554834" y="256617"/>
            <a:ext cx="739208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3600" dirty="0">
                <a:latin typeface="AR BLANCA" panose="02000000000000000000"/>
                <a:ea typeface="Times New Roman" panose="02020603050405020304" pitchFamily="18" charset="0"/>
              </a:rPr>
              <a:t>1. Édification du cortège électronique d'un atome</a:t>
            </a:r>
            <a:endParaRPr lang="fr-MA" sz="3600" dirty="0">
              <a:latin typeface="AR BLANCA" panose="02000000000000000000"/>
            </a:endParaRPr>
          </a:p>
        </p:txBody>
      </p:sp>
      <p:sp>
        <p:nvSpPr>
          <p:cNvPr id="1048594" name="Rectangle 2"/>
          <p:cNvSpPr/>
          <p:nvPr/>
        </p:nvSpPr>
        <p:spPr>
          <a:xfrm>
            <a:off x="551776" y="977652"/>
            <a:ext cx="11142242" cy="80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>
                <a:ea typeface="Times New Roman" panose="02020603050405020304" pitchFamily="18" charset="0"/>
              </a:rPr>
              <a:t> les électrons sont indiscernables, </a:t>
            </a:r>
            <a:r>
              <a:rPr lang="fr-FR" sz="2400" dirty="0"/>
              <a:t>seule l'énergie totale de l'atome a un véritable sens physique.</a:t>
            </a:r>
          </a:p>
        </p:txBody>
      </p:sp>
      <p:sp>
        <p:nvSpPr>
          <p:cNvPr id="1048595" name="Rectangle 3"/>
          <p:cNvSpPr/>
          <p:nvPr/>
        </p:nvSpPr>
        <p:spPr>
          <a:xfrm>
            <a:off x="551775" y="1916493"/>
            <a:ext cx="8566467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fr-FR" sz="3200" dirty="0">
                <a:latin typeface="AR BLANCA"/>
                <a:ea typeface="Times New Roman" panose="02020603050405020304" pitchFamily="18" charset="0"/>
              </a:rPr>
              <a:t>1.1. Nombres quantiques et niveaux d'énergie correspondants</a:t>
            </a:r>
            <a:endParaRPr lang="fr-MA" sz="3200" dirty="0">
              <a:latin typeface="AR BLANCA"/>
            </a:endParaRPr>
          </a:p>
        </p:txBody>
      </p:sp>
      <p:sp>
        <p:nvSpPr>
          <p:cNvPr id="1048596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1774" y="2588653"/>
            <a:ext cx="11142243" cy="461665"/>
          </a:xfrm>
          <a:prstGeom prst="rect">
            <a:avLst/>
          </a:prstGeom>
          <a:blipFill rotWithShape="0">
            <a:blip r:embed="rId2"/>
            <a:stretch>
              <a:fillRect l="-766" t="-10667" b="-30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7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00012" y="3260813"/>
            <a:ext cx="7130157" cy="712631"/>
          </a:xfrm>
          <a:prstGeom prst="rect">
            <a:avLst/>
          </a:prstGeom>
          <a:blipFill rotWithShape="0">
            <a:blip r:embed="rId3"/>
            <a:stretch>
              <a:fillRect b="-1111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8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1774" y="4183939"/>
            <a:ext cx="8094332" cy="461665"/>
          </a:xfrm>
          <a:prstGeom prst="rect">
            <a:avLst/>
          </a:prstGeom>
          <a:blipFill rotWithShape="0">
            <a:blip r:embed="rId4"/>
            <a:stretch>
              <a:fillRect l="-1055" t="-10526" b="-2894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6823" y="5035639"/>
            <a:ext cx="7713202" cy="1200329"/>
          </a:xfrm>
          <a:prstGeom prst="rect">
            <a:avLst/>
          </a:prstGeom>
          <a:blipFill rotWithShape="0">
            <a:blip r:embed="rId5"/>
            <a:stretch>
              <a:fillRect l="-1107" t="-4061" b="-1066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0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Rectangle 1"/>
          <p:cNvSpPr/>
          <p:nvPr/>
        </p:nvSpPr>
        <p:spPr>
          <a:xfrm>
            <a:off x="577533" y="316445"/>
            <a:ext cx="523612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hangingPunct="0"/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1.2. </a:t>
            </a:r>
            <a:r>
              <a:rPr lang="fr-FR" sz="3200" dirty="0">
                <a:latin typeface="AR BLANCA" panose="02000000000000000000" pitchFamily="2" charset="0"/>
              </a:rPr>
              <a:t>Principe d'exclusion de Pauli</a:t>
            </a:r>
            <a:endParaRPr lang="en-US" sz="3200" dirty="0">
              <a:latin typeface="AR BLANCA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8602" name="Rectangle 2"/>
              <p:cNvSpPr/>
              <p:nvPr/>
            </p:nvSpPr>
            <p:spPr>
              <a:xfrm>
                <a:off x="577531" y="942234"/>
                <a:ext cx="11052091" cy="12471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fr-FR" sz="2400" dirty="0">
                    <a:ea typeface="Times New Roman" panose="02020603050405020304" pitchFamily="18" charset="0"/>
                  </a:rPr>
                  <a:t>Principe : Deux électrons d'un même atome ne peuvent avoir leurs 4 nombres quantiques </a:t>
                </a:r>
                <a14:m>
                  <m:oMath xmlns:m="http://schemas.openxmlformats.org/officeDocument/2006/math">
                    <m:r>
                      <a:rPr lang="fr-F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2400" i="1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fr-F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fr-FR" sz="2400" i="1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fr-F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fr-FR" sz="24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fr-FR" sz="2400" i="1" dirty="0">
                    <a:ea typeface="Cambria Math" panose="02040503050406030204" pitchFamily="18" charset="0"/>
                  </a:rPr>
                  <a:t> </a:t>
                </a:r>
                <a:r>
                  <a:rPr lang="fr-FR" sz="2400" dirty="0">
                    <a:ea typeface="Cambria Math" panose="02040503050406030204" pitchFamily="18" charset="0"/>
                  </a:rPr>
                  <a:t>et</a:t>
                </a:r>
                <a:r>
                  <a:rPr lang="fr-FR" sz="2400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fr-FR" sz="24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r-FR" sz="2400" dirty="0">
                    <a:ea typeface="Times New Roman" panose="02020603050405020304" pitchFamily="18" charset="0"/>
                  </a:rPr>
                  <a:t> identiques. Il ne peut donc y avoir plus de deux électrons dans une même orbitale.</a:t>
                </a:r>
                <a:endParaRPr lang="fr-MA" sz="2400" dirty="0"/>
              </a:p>
            </p:txBody>
          </p:sp>
        </mc:Choice>
        <mc:Fallback xmlns="">
          <p:sp>
            <p:nvSpPr>
              <p:cNvPr id="104860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31" y="942234"/>
                <a:ext cx="11052091" cy="1247139"/>
              </a:xfrm>
              <a:prstGeom prst="rect">
                <a:avLst/>
              </a:prstGeom>
              <a:blipFill>
                <a:blip r:embed="rId2"/>
                <a:stretch>
                  <a:fillRect l="-772" t="-3922" r="-827" b="-68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3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77531" y="2191954"/>
            <a:ext cx="11041489" cy="1569660"/>
          </a:xfrm>
          <a:prstGeom prst="rect">
            <a:avLst/>
          </a:prstGeom>
          <a:blipFill rotWithShape="0">
            <a:blip r:embed="rId3"/>
            <a:stretch>
              <a:fillRect l="-773" t="-2724" r="-828" b="-8560"/>
            </a:stretch>
          </a:blipFill>
          <a:ln>
            <a:noFill/>
          </a:ln>
          <a:effectLst/>
        </p:spPr>
        <p:txBody>
          <a:bodyPr/>
          <a:lstStyle/>
          <a:p>
            <a:r>
              <a:rPr lang="es-ES">
                <a:noFill/>
              </a:rPr>
              <a:t> </a:t>
            </a:r>
          </a:p>
        </p:txBody>
      </p:sp>
      <p:sp>
        <p:nvSpPr>
          <p:cNvPr id="1048604" name="Rectangle 8"/>
          <p:cNvSpPr/>
          <p:nvPr/>
        </p:nvSpPr>
        <p:spPr>
          <a:xfrm>
            <a:off x="577532" y="3822742"/>
            <a:ext cx="11245274" cy="1869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>
                <a:ea typeface="Times New Roman" panose="02020603050405020304" pitchFamily="18" charset="0"/>
              </a:rPr>
              <a:t>Si une case quantique ne contient qu'un seul électron        , </a:t>
            </a:r>
            <a:r>
              <a:rPr lang="fr-FR" sz="2400" dirty="0"/>
              <a:t>on dit que cet électron est "</a:t>
            </a:r>
            <a:r>
              <a:rPr lang="fr-FR" sz="2400" b="1" i="1" dirty="0"/>
              <a:t>célibataire</a:t>
            </a:r>
            <a:r>
              <a:rPr lang="fr-FR" sz="2400" dirty="0"/>
              <a:t>'" ou "</a:t>
            </a:r>
            <a:r>
              <a:rPr lang="fr-FR" sz="2400" b="1" i="1" dirty="0"/>
              <a:t>non apparié</a:t>
            </a:r>
            <a:r>
              <a:rPr lang="fr-FR" sz="2400" dirty="0"/>
              <a:t>".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/>
              <a:t> si elle contient deux électrons, ils forment une "</a:t>
            </a:r>
            <a:r>
              <a:rPr lang="fr-FR" sz="2400" b="1" i="1" dirty="0"/>
              <a:t>paire</a:t>
            </a:r>
            <a:r>
              <a:rPr lang="fr-FR" sz="2400" dirty="0"/>
              <a:t>" ou "</a:t>
            </a:r>
            <a:r>
              <a:rPr lang="fr-FR" sz="2400" b="1" i="1" dirty="0"/>
              <a:t>doublet</a:t>
            </a:r>
            <a:r>
              <a:rPr lang="fr-FR" sz="2400" dirty="0"/>
              <a:t>" (ils sont appariés), leurs spins sont "antiparallèles" :       </a:t>
            </a:r>
            <a:endParaRPr lang="fr-MA" sz="2400" dirty="0"/>
          </a:p>
        </p:txBody>
      </p:sp>
      <p:grpSp>
        <p:nvGrpSpPr>
          <p:cNvPr id="38" name="Groupe 13"/>
          <p:cNvGrpSpPr/>
          <p:nvPr/>
        </p:nvGrpSpPr>
        <p:grpSpPr>
          <a:xfrm>
            <a:off x="6999595" y="5353493"/>
            <a:ext cx="542136" cy="461665"/>
            <a:chOff x="5170104" y="6055457"/>
            <a:chExt cx="542136" cy="461665"/>
          </a:xfrm>
        </p:grpSpPr>
        <p:sp>
          <p:nvSpPr>
            <p:cNvPr id="1048607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4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08" name="Rectangle 12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609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MA"/>
          </a:p>
        </p:txBody>
      </p:sp>
      <p:sp>
        <p:nvSpPr>
          <p:cNvPr id="1048610" name="Rectangle 9"/>
          <p:cNvSpPr>
            <a:spLocks noChangeArrowheads="1"/>
          </p:cNvSpPr>
          <p:nvPr/>
        </p:nvSpPr>
        <p:spPr bwMode="auto">
          <a:xfrm>
            <a:off x="0" y="600075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MA"/>
          </a:p>
        </p:txBody>
      </p:sp>
      <p:sp>
        <p:nvSpPr>
          <p:cNvPr id="1048611" name="Rectangle 10"/>
          <p:cNvSpPr>
            <a:spLocks noChangeArrowheads="1"/>
          </p:cNvSpPr>
          <p:nvPr/>
        </p:nvSpPr>
        <p:spPr bwMode="auto">
          <a:xfrm>
            <a:off x="0" y="80010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MA"/>
          </a:p>
        </p:txBody>
      </p:sp>
      <p:sp>
        <p:nvSpPr>
          <p:cNvPr id="1048612" name="Rectangle 11"/>
          <p:cNvSpPr>
            <a:spLocks noChangeArrowheads="1"/>
          </p:cNvSpPr>
          <p:nvPr/>
        </p:nvSpPr>
        <p:spPr bwMode="auto">
          <a:xfrm>
            <a:off x="0" y="865505"/>
            <a:ext cx="220980" cy="269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1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8937" name="Encre 1048936"/>
              <p14:cNvContentPartPr/>
              <p14:nvPr/>
            </p14:nvContentPartPr>
            <p14:xfrm>
              <a:off x="5202597" y="5703566"/>
              <a:ext cx="10590" cy="32514"/>
            </p14:xfrm>
          </p:contentPart>
        </mc:Choice>
        <mc:Fallback xmlns="">
          <p:sp>
            <p:nvSpPr>
              <p:cNvPr id="1048937" name=""/>
              <p:cNvSpPr/>
              <p:nvPr/>
            </p:nvSpPr>
            <p:spPr>
              <a:xfrm>
                <a:off x="5202597" y="5703566"/>
                <a:ext cx="10590" cy="32514"/>
              </a:xfrm>
            </p:spPr>
          </p:sp>
        </mc:Fallback>
      </mc:AlternateContent>
      <p:grpSp>
        <p:nvGrpSpPr>
          <p:cNvPr id="2" name="Groupe 14">
            <a:extLst>
              <a:ext uri="{FF2B5EF4-FFF2-40B4-BE49-F238E27FC236}">
                <a16:creationId xmlns:a16="http://schemas.microsoft.com/office/drawing/2014/main" id="{830BC70A-B77A-DBFB-56D6-94BE9691C89F}"/>
              </a:ext>
            </a:extLst>
          </p:cNvPr>
          <p:cNvGrpSpPr/>
          <p:nvPr/>
        </p:nvGrpSpPr>
        <p:grpSpPr>
          <a:xfrm>
            <a:off x="7511340" y="3862865"/>
            <a:ext cx="525271" cy="461665"/>
            <a:chOff x="7843234" y="6233375"/>
            <a:chExt cx="525271" cy="461665"/>
          </a:xfrm>
        </p:grpSpPr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80CD09DF-316C-1725-9051-D04D85C8F463}"/>
                </a:ext>
              </a:extLst>
            </p:cNvPr>
            <p:cNvSpPr/>
            <p:nvPr/>
          </p:nvSpPr>
          <p:spPr>
            <a:xfrm>
              <a:off x="7933386" y="6233375"/>
              <a:ext cx="435119" cy="4142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" name="ZoneTexte 10">
              <a:extLst>
                <a:ext uri="{FF2B5EF4-FFF2-40B4-BE49-F238E27FC236}">
                  <a16:creationId xmlns:a16="http://schemas.microsoft.com/office/drawing/2014/main" id="{5A7027AA-7F81-0C78-392A-BC379D7C800E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843234" y="6233375"/>
              <a:ext cx="397865" cy="461665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Rectangle 2"/>
          <p:cNvSpPr/>
          <p:nvPr/>
        </p:nvSpPr>
        <p:spPr>
          <a:xfrm>
            <a:off x="321970" y="955963"/>
            <a:ext cx="113720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>
                <a:ea typeface="Times New Roman" panose="02020603050405020304" pitchFamily="18" charset="0"/>
              </a:rPr>
              <a:t> Dans l'état fondamental de l'atome, son énergie électronique totale a la plus petite valeur possible­. Les niveaux d'énergie sont donc remplis au maximum, dans l'ordre croissant.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8616" name="Rectangle 3"/>
              <p:cNvSpPr/>
              <p:nvPr/>
            </p:nvSpPr>
            <p:spPr>
              <a:xfrm>
                <a:off x="412396" y="2427810"/>
                <a:ext cx="6155832" cy="19389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q"/>
                </a:pPr>
                <a:r>
                  <a:rPr lang="fr-FR" sz="2400" dirty="0"/>
                  <a:t> </a:t>
                </a:r>
                <a:r>
                  <a:rPr lang="fr-FR" sz="2400" u="sng" dirty="0"/>
                  <a:t>Règle :</a:t>
                </a:r>
                <a:r>
                  <a:rPr lang="fr-FR" sz="2400" dirty="0"/>
                  <a:t> </a:t>
                </a:r>
                <a:r>
                  <a:rPr lang="fr-FR" sz="2400" b="1" i="1" dirty="0"/>
                  <a:t>L'énergie d'un état (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fr-FR" sz="2400" b="1" i="1" dirty="0"/>
                  <a:t>) non encore occupé est, en première approximation, pour Z donné, une fonction croissante de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fr-FR" sz="2400" b="1" i="1" dirty="0"/>
                  <a:t>.</a:t>
                </a:r>
                <a:r>
                  <a:rPr lang="fr-FR" sz="2400" i="1" dirty="0"/>
                  <a:t> </a:t>
                </a:r>
                <a:r>
                  <a:rPr lang="fr-FR" sz="2400" b="1" i="1" dirty="0"/>
                  <a:t>Pour une même valeur de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fr-FR" sz="2400" b="1" i="1" dirty="0"/>
                  <a:t>, c'est une fonction croissante de </a:t>
                </a:r>
                <a14:m>
                  <m:oMath xmlns:m="http://schemas.openxmlformats.org/officeDocument/2006/math">
                    <m:r>
                      <a:rPr lang="fr-FR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fr-FR" sz="2400" b="1" i="1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48616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96" y="2427810"/>
                <a:ext cx="6155832" cy="1938992"/>
              </a:xfrm>
              <a:prstGeom prst="rect">
                <a:avLst/>
              </a:prstGeom>
              <a:blipFill>
                <a:blip r:embed="rId2"/>
                <a:stretch>
                  <a:fillRect l="-1388" t="-2516" r="-1586" b="-62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68228" y="1815924"/>
            <a:ext cx="5138669" cy="4761388"/>
          </a:xfrm>
          <a:prstGeom prst="rect">
            <a:avLst/>
          </a:prstGeom>
          <a:noFill/>
        </p:spPr>
      </p:pic>
      <p:sp>
        <p:nvSpPr>
          <p:cNvPr id="104861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2B8096-110C-74D7-D256-26B77D984545}"/>
              </a:ext>
            </a:extLst>
          </p:cNvPr>
          <p:cNvSpPr txBox="1"/>
          <p:nvPr/>
        </p:nvSpPr>
        <p:spPr>
          <a:xfrm>
            <a:off x="78877" y="186207"/>
            <a:ext cx="12113123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ea typeface="Times New Roman" panose="02020603050405020304" pitchFamily="18" charset="0"/>
              </a:defRPr>
            </a:lvl1pPr>
          </a:lstStyle>
          <a:p>
            <a:r>
              <a:rPr lang="fr-FR" sz="3200" dirty="0">
                <a:latin typeface="AR BLANCA" panose="02000000000000000000"/>
              </a:rPr>
              <a:t>1.3. Règle de </a:t>
            </a:r>
            <a:r>
              <a:rPr lang="fr-FR" sz="3200" dirty="0" err="1">
                <a:latin typeface="AR BLANCA" panose="02000000000000000000"/>
              </a:rPr>
              <a:t>Klechkovsky</a:t>
            </a:r>
            <a:r>
              <a:rPr lang="fr-FR" sz="3200" dirty="0">
                <a:latin typeface="AR BLANCA" panose="02000000000000000000"/>
              </a:rPr>
              <a:t> : ordre de remplissage des niveaux d'énergie de l'atome neutre</a:t>
            </a:r>
            <a:endParaRPr lang="fr-MA" sz="3200" dirty="0">
              <a:latin typeface="AR BLANCA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3" name="Espace réservé du pied de page 10490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angle 2"/>
          <p:cNvSpPr/>
          <p:nvPr/>
        </p:nvSpPr>
        <p:spPr>
          <a:xfrm>
            <a:off x="412261" y="136525"/>
            <a:ext cx="1114022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hangingPunct="0">
              <a:spcAft>
                <a:spcPts val="0"/>
              </a:spcAft>
              <a:buFontTx/>
              <a:buChar char="-"/>
            </a:pPr>
            <a:r>
              <a:rPr lang="fr-FR" sz="2800" i="1" dirty="0">
                <a:latin typeface="AR BLANCA" panose="02000000000000000000" pitchFamily="2" charset="0"/>
                <a:ea typeface="Times New Roman" panose="02020603050405020304" pitchFamily="18" charset="0"/>
              </a:rPr>
              <a:t>Exemples d'utilisation</a:t>
            </a:r>
            <a:r>
              <a:rPr lang="fr-FR" sz="2800" dirty="0">
                <a:latin typeface="AR BLANCA" panose="02000000000000000000" pitchFamily="2" charset="0"/>
                <a:ea typeface="Times New Roman" panose="02020603050405020304" pitchFamily="18" charset="0"/>
              </a:rPr>
              <a:t> :</a:t>
            </a:r>
          </a:p>
          <a:p>
            <a:pPr algn="just" hangingPunct="0">
              <a:spcAft>
                <a:spcPts val="0"/>
              </a:spcAft>
            </a:pPr>
            <a:endParaRPr lang="en-US" sz="2000" dirty="0">
              <a:latin typeface="AR BLANCA" panose="02000000000000000000" pitchFamily="2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 (iode)		Z = 53	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soit, en rangeant par couches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(K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indent="450215" algn="just" hangingPunct="0"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 (fer)		Z = 26	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soit, en rangeant par couches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(K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algn="just" hangingPunct="0"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Zn (zinc)		Z = 30	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soit, en rangeant par couches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(K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18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algn="just" hangingPunct="0"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L'ionisation change l'ordre des niveaux d'énergie. Aussi, les électrons 4s partent-ils avant les électrons 3d lors de l'ionisation et </a:t>
            </a: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 général les électrons qui partent lors de l'ionisation sont ceux qui correspondent à la plus grande valeur de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et, à égalité, à la plus grande valeur de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L'intérêt de ranger les électrons par couches est donc que cela permet de voir quels électrons partiront les premiers lors de l'ionisation de l'atome.</a:t>
            </a: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(ion fer(II))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Fe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3+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(ion fer(III))    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</a:p>
          <a:p>
            <a:pPr algn="just" hangingPunct="0">
              <a:spcAft>
                <a:spcPts val="0"/>
              </a:spcAft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Zn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(ion zinc(II))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19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1"/>
          <p:cNvSpPr/>
          <p:nvPr/>
        </p:nvSpPr>
        <p:spPr>
          <a:xfrm>
            <a:off x="540912" y="810149"/>
            <a:ext cx="11346287" cy="2821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On les rencontre seulement dans les séries de transition (remplissage des sous couches d ou f)</a:t>
            </a:r>
            <a:r>
              <a:rPr lang="fr-FR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premier type d'anomalies s'interprète par la stabilisation particulière des niveaux d saturés ou à demi remplis (nd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et nd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par exemple) :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Cr (chrome)		Z = 24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0430"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lieu de 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  <a:p>
            <a:pPr marL="900430" indent="450215" algn="just" hangingPunct="0">
              <a:spcAft>
                <a:spcPts val="0"/>
              </a:spcAft>
            </a:pPr>
            <a:endParaRPr lang="fr-FR" sz="1000" b="1" baseline="300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Pd (palladium)	Z = 46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0430"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lieu de 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0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1" name="Rectangle 2"/>
          <p:cNvSpPr/>
          <p:nvPr/>
        </p:nvSpPr>
        <p:spPr>
          <a:xfrm>
            <a:off x="540912" y="3469688"/>
            <a:ext cx="11320529" cy="3317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 (cuivre)		Z = 29	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0430" indent="450215"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lieu de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 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8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même anomalie que pour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Cu, (n–1)d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ns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lieu de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(n–1)d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ns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 retrouve pour les éléments de la même famille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 (argent) 		Z = 47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0430" indent="450215"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lieu de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0430" indent="450215" algn="just" hangingPunct="0">
              <a:spcAft>
                <a:spcPts val="0"/>
              </a:spcAft>
            </a:pP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Au (or) 		Z = 79	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4f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5d</a:t>
            </a:r>
            <a:r>
              <a:rPr lang="fr-FR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	au lieu de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4f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5d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6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2" name="Rectangle 3"/>
          <p:cNvSpPr/>
          <p:nvPr/>
        </p:nvSpPr>
        <p:spPr>
          <a:xfrm>
            <a:off x="804929" y="116817"/>
            <a:ext cx="11041380" cy="574040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fr-FR" sz="32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Les exceptions à la règle de </a:t>
            </a:r>
            <a:r>
              <a:rPr lang="fr-FR" sz="32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Klechkovsky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sont nombreuses.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1"/>
          <p:cNvSpPr/>
          <p:nvPr/>
        </p:nvSpPr>
        <p:spPr>
          <a:xfrm>
            <a:off x="592428" y="406783"/>
            <a:ext cx="11204620" cy="4980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0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Une autre anomalie a un caractère général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un niveau </a:t>
            </a:r>
            <a:r>
              <a:rPr lang="fr-FR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se remplit d'après la règle après le niveau. (n–1)f, lorsqu'il existe; mais en fait </a:t>
            </a: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 niveau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accueille d'abord un électron avant le remplissage de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(n‑1)f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Ces deux niveaux sont très voisins et leurs remplissages se chevauchent... Cette exception intervient deux fois :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hangingPunct="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(lanthane)	Z = 57		       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au lieu de	       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4f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</a:p>
          <a:p>
            <a:pPr algn="just" hangingPunct="0">
              <a:spcAft>
                <a:spcPts val="0"/>
              </a:spcAft>
            </a:pP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hangingPunct="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(actinium)	Z = 89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4f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6d</a:t>
            </a:r>
            <a:r>
              <a:rPr lang="fr-FR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7s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au lieu de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4f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14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5f</a:t>
            </a:r>
            <a:r>
              <a:rPr lang="fr-FR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7s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hangingPunct="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 contre l'élément qui suit le lanthane suit la règle de </a:t>
            </a:r>
            <a:r>
              <a:rPr lang="fr-FR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Klechkovsky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:</a:t>
            </a:r>
          </a:p>
          <a:p>
            <a:pPr algn="just" hangingPunct="0">
              <a:spcAft>
                <a:spcPts val="0"/>
              </a:spcAft>
            </a:pP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 (cérium)		Z = 58		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4f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Il y a encore de nombreuses autres exceptions non citées ici.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1"/>
          <p:cNvSpPr/>
          <p:nvPr/>
        </p:nvSpPr>
        <p:spPr>
          <a:xfrm>
            <a:off x="424582" y="8373"/>
            <a:ext cx="482118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1.4. Règle de </a:t>
            </a:r>
            <a:r>
              <a:rPr lang="fr-FR" sz="3200" dirty="0" err="1">
                <a:latin typeface="AR BLANCA" panose="02000000000000000000" pitchFamily="2" charset="0"/>
                <a:ea typeface="Times New Roman" panose="02020603050405020304" pitchFamily="18" charset="0"/>
              </a:rPr>
              <a:t>Hund</a:t>
            </a:r>
            <a:endParaRPr lang="fr-MA" sz="3200" dirty="0">
              <a:latin typeface="AR BLANCA" panose="02000000000000000000" pitchFamily="2" charset="0"/>
            </a:endParaRPr>
          </a:p>
        </p:txBody>
      </p:sp>
      <p:sp>
        <p:nvSpPr>
          <p:cNvPr id="1048627" name="Rectangle 2"/>
          <p:cNvSpPr/>
          <p:nvPr/>
        </p:nvSpPr>
        <p:spPr>
          <a:xfrm>
            <a:off x="424582" y="664423"/>
            <a:ext cx="1134283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Règle 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Dans un même niveau d'énergie, les électrons occupent le maximum possible de cases quantiques. </a:t>
            </a:r>
            <a:endParaRPr lang="fr-MA" sz="2400" dirty="0"/>
          </a:p>
        </p:txBody>
      </p:sp>
      <p:sp>
        <p:nvSpPr>
          <p:cNvPr id="1048628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1973" y="1453633"/>
            <a:ext cx="11590985" cy="1157689"/>
          </a:xfrm>
          <a:prstGeom prst="rect">
            <a:avLst/>
          </a:prstGeom>
          <a:blipFill rotWithShape="0">
            <a:blip r:embed="rId2"/>
            <a:stretch>
              <a:fillRect l="-473" t="-2105" r="-526" b="-4737"/>
            </a:stretch>
          </a:blipFill>
          <a:ln>
            <a:noFill/>
          </a:ln>
          <a:effectLst/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9" name="Rectangle 6"/>
          <p:cNvSpPr/>
          <p:nvPr/>
        </p:nvSpPr>
        <p:spPr>
          <a:xfrm>
            <a:off x="321973" y="2611322"/>
            <a:ext cx="4997001" cy="1043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000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Exemples d'utilisation </a:t>
            </a:r>
            <a:r>
              <a:rPr lang="fr-FR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 (oxygène)	Z = 8	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endParaRPr lang="en-US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1s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     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2s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2p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4" name="Groupe 93"/>
          <p:cNvGrpSpPr/>
          <p:nvPr/>
        </p:nvGrpSpPr>
        <p:grpSpPr>
          <a:xfrm>
            <a:off x="940156" y="3907038"/>
            <a:ext cx="2987694" cy="476622"/>
            <a:chOff x="991671" y="4112778"/>
            <a:chExt cx="2987694" cy="476622"/>
          </a:xfrm>
        </p:grpSpPr>
        <p:grpSp>
          <p:nvGrpSpPr>
            <p:cNvPr id="45" name="Groupe 29"/>
            <p:cNvGrpSpPr/>
            <p:nvPr/>
          </p:nvGrpSpPr>
          <p:grpSpPr>
            <a:xfrm>
              <a:off x="991671" y="4112778"/>
              <a:ext cx="542136" cy="461665"/>
              <a:chOff x="5170104" y="6055457"/>
              <a:chExt cx="542136" cy="461665"/>
            </a:xfrm>
          </p:grpSpPr>
          <p:sp>
            <p:nvSpPr>
              <p:cNvPr id="1048630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31" name="Rectangle 31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46" name="Groupe 32"/>
            <p:cNvGrpSpPr/>
            <p:nvPr/>
          </p:nvGrpSpPr>
          <p:grpSpPr>
            <a:xfrm>
              <a:off x="1673028" y="4123579"/>
              <a:ext cx="542136" cy="461665"/>
              <a:chOff x="5170104" y="6055457"/>
              <a:chExt cx="542136" cy="461665"/>
            </a:xfrm>
          </p:grpSpPr>
          <p:sp>
            <p:nvSpPr>
              <p:cNvPr id="104863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33" name="Rectangle 34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47" name="Groupe 44"/>
            <p:cNvGrpSpPr/>
            <p:nvPr/>
          </p:nvGrpSpPr>
          <p:grpSpPr>
            <a:xfrm>
              <a:off x="2517051" y="4123579"/>
              <a:ext cx="1462314" cy="465821"/>
              <a:chOff x="4371613" y="4615381"/>
              <a:chExt cx="1462314" cy="465821"/>
            </a:xfrm>
          </p:grpSpPr>
          <p:grpSp>
            <p:nvGrpSpPr>
              <p:cNvPr id="48" name="Groupe 35"/>
              <p:cNvGrpSpPr/>
              <p:nvPr/>
            </p:nvGrpSpPr>
            <p:grpSpPr>
              <a:xfrm>
                <a:off x="4371613" y="4619537"/>
                <a:ext cx="542136" cy="461665"/>
                <a:chOff x="5170104" y="6055457"/>
                <a:chExt cx="542136" cy="461665"/>
              </a:xfrm>
            </p:grpSpPr>
            <p:sp>
              <p:nvSpPr>
                <p:cNvPr id="1048634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542136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4494" r="-1124"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35" name="Rectangle 37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grpSp>
            <p:nvGrpSpPr>
              <p:cNvPr id="49" name="Groupe 38"/>
              <p:cNvGrpSpPr/>
              <p:nvPr/>
            </p:nvGrpSpPr>
            <p:grpSpPr>
              <a:xfrm>
                <a:off x="5330428" y="4615381"/>
                <a:ext cx="503499" cy="461665"/>
                <a:chOff x="5170104" y="6055457"/>
                <a:chExt cx="503499" cy="461665"/>
              </a:xfrm>
            </p:grpSpPr>
            <p:sp>
              <p:nvSpPr>
                <p:cNvPr id="1048636" name="ZoneTexte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37" name="Rectangle 40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sp>
            <p:nvSpPr>
              <p:cNvPr id="1048638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862" y="4617459"/>
                <a:ext cx="397866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39" name="Rectangle 43"/>
              <p:cNvSpPr/>
              <p:nvPr/>
            </p:nvSpPr>
            <p:spPr>
              <a:xfrm>
                <a:off x="4884424" y="4628260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</p:grpSp>
      <p:pic>
        <p:nvPicPr>
          <p:cNvPr id="2097153" name="Picture 2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63895" y="2164061"/>
            <a:ext cx="3024214" cy="4353059"/>
          </a:xfrm>
          <a:prstGeom prst="rect">
            <a:avLst/>
          </a:prstGeom>
          <a:noFill/>
        </p:spPr>
      </p:pic>
      <p:sp>
        <p:nvSpPr>
          <p:cNvPr id="104864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e 1"/>
          <p:cNvGrpSpPr/>
          <p:nvPr/>
        </p:nvGrpSpPr>
        <p:grpSpPr>
          <a:xfrm>
            <a:off x="450762" y="1214686"/>
            <a:ext cx="542136" cy="461665"/>
            <a:chOff x="5170104" y="6055457"/>
            <a:chExt cx="542136" cy="461665"/>
          </a:xfrm>
        </p:grpSpPr>
        <p:sp>
          <p:nvSpPr>
            <p:cNvPr id="1048641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2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42" name="Rectangle 3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52" name="Groupe 4"/>
          <p:cNvGrpSpPr/>
          <p:nvPr/>
        </p:nvGrpSpPr>
        <p:grpSpPr>
          <a:xfrm>
            <a:off x="1132119" y="1225487"/>
            <a:ext cx="542136" cy="461665"/>
            <a:chOff x="5170104" y="6055457"/>
            <a:chExt cx="542136" cy="461665"/>
          </a:xfrm>
        </p:grpSpPr>
        <p:sp>
          <p:nvSpPr>
            <p:cNvPr id="1048643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2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44" name="Rectangle 6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53" name="Groupe 7"/>
          <p:cNvGrpSpPr/>
          <p:nvPr/>
        </p:nvGrpSpPr>
        <p:grpSpPr>
          <a:xfrm>
            <a:off x="1898868" y="1225487"/>
            <a:ext cx="1500951" cy="465821"/>
            <a:chOff x="4371613" y="4615381"/>
            <a:chExt cx="1500951" cy="465821"/>
          </a:xfrm>
        </p:grpSpPr>
        <p:grpSp>
          <p:nvGrpSpPr>
            <p:cNvPr id="54" name="Groupe 8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645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46" name="Rectangle 15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55" name="Groupe 9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647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48" name="Rectangle 13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649" name="ZoneTexte 1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4"/>
              <a:stretch>
                <a:fillRect l="-3371" r="-2247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50" name="Rectangle 11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651" name="Rectangle 16"/>
          <p:cNvSpPr/>
          <p:nvPr/>
        </p:nvSpPr>
        <p:spPr>
          <a:xfrm>
            <a:off x="351344" y="398435"/>
            <a:ext cx="2964180" cy="358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Mn (manganèse)  Z = 25 </a:t>
            </a:r>
            <a:endParaRPr lang="fr-MA" dirty="0"/>
          </a:p>
        </p:txBody>
      </p:sp>
      <p:sp>
        <p:nvSpPr>
          <p:cNvPr id="1048652" name="Rectangle 17"/>
          <p:cNvSpPr/>
          <p:nvPr/>
        </p:nvSpPr>
        <p:spPr>
          <a:xfrm>
            <a:off x="438686" y="810407"/>
            <a:ext cx="11152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                                                   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6" name="Groupe 18"/>
          <p:cNvGrpSpPr/>
          <p:nvPr/>
        </p:nvGrpSpPr>
        <p:grpSpPr>
          <a:xfrm>
            <a:off x="3800976" y="1224629"/>
            <a:ext cx="542136" cy="461665"/>
            <a:chOff x="5170104" y="6055457"/>
            <a:chExt cx="542136" cy="461665"/>
          </a:xfrm>
        </p:grpSpPr>
        <p:sp>
          <p:nvSpPr>
            <p:cNvPr id="1048653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2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54" name="Rectangle 20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57" name="Groupe 21"/>
          <p:cNvGrpSpPr/>
          <p:nvPr/>
        </p:nvGrpSpPr>
        <p:grpSpPr>
          <a:xfrm>
            <a:off x="4583247" y="1236288"/>
            <a:ext cx="1500951" cy="465821"/>
            <a:chOff x="4371613" y="4615381"/>
            <a:chExt cx="1500951" cy="465821"/>
          </a:xfrm>
        </p:grpSpPr>
        <p:grpSp>
          <p:nvGrpSpPr>
            <p:cNvPr id="58" name="Groupe 22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655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56" name="Rectangle 29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59" name="Groupe 23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65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371" r="-224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58" name="Rectangle 27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659" name="ZoneTexte 24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6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60" name="Rectangle 25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60" name="Groupe 30"/>
          <p:cNvGrpSpPr/>
          <p:nvPr/>
        </p:nvGrpSpPr>
        <p:grpSpPr>
          <a:xfrm>
            <a:off x="6446718" y="1266406"/>
            <a:ext cx="2414681" cy="469491"/>
            <a:chOff x="6571753" y="5990223"/>
            <a:chExt cx="2414681" cy="469491"/>
          </a:xfrm>
        </p:grpSpPr>
        <p:grpSp>
          <p:nvGrpSpPr>
            <p:cNvPr id="61" name="Groupe 31"/>
            <p:cNvGrpSpPr/>
            <p:nvPr/>
          </p:nvGrpSpPr>
          <p:grpSpPr>
            <a:xfrm>
              <a:off x="6571753" y="5993893"/>
              <a:ext cx="1462314" cy="465821"/>
              <a:chOff x="4371613" y="4615381"/>
              <a:chExt cx="1462314" cy="465821"/>
            </a:xfrm>
          </p:grpSpPr>
          <p:grpSp>
            <p:nvGrpSpPr>
              <p:cNvPr id="62" name="Groupe 38"/>
              <p:cNvGrpSpPr/>
              <p:nvPr/>
            </p:nvGrpSpPr>
            <p:grpSpPr>
              <a:xfrm>
                <a:off x="4371613" y="4617459"/>
                <a:ext cx="503499" cy="463743"/>
                <a:chOff x="5170104" y="6053379"/>
                <a:chExt cx="503499" cy="463743"/>
              </a:xfrm>
            </p:grpSpPr>
            <p:sp>
              <p:nvSpPr>
                <p:cNvPr id="1048661" name="ZoneTexte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62" name="Rectangle 45"/>
                <p:cNvSpPr/>
                <p:nvPr/>
              </p:nvSpPr>
              <p:spPr>
                <a:xfrm>
                  <a:off x="5196666" y="6053379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grpSp>
            <p:nvGrpSpPr>
              <p:cNvPr id="63" name="Groupe 39"/>
              <p:cNvGrpSpPr/>
              <p:nvPr/>
            </p:nvGrpSpPr>
            <p:grpSpPr>
              <a:xfrm>
                <a:off x="5330428" y="4615381"/>
                <a:ext cx="503499" cy="461665"/>
                <a:chOff x="5170104" y="6055457"/>
                <a:chExt cx="503499" cy="461665"/>
              </a:xfrm>
            </p:grpSpPr>
            <p:sp>
              <p:nvSpPr>
                <p:cNvPr id="1048663" name="ZoneTexte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64" name="Rectangle 43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sp>
            <p:nvSpPr>
              <p:cNvPr id="1048665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862" y="4617459"/>
                <a:ext cx="397866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66" name="Rectangle 41"/>
              <p:cNvSpPr/>
              <p:nvPr/>
            </p:nvSpPr>
            <p:spPr>
              <a:xfrm>
                <a:off x="4884424" y="4628260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64" name="Groupe 32"/>
            <p:cNvGrpSpPr/>
            <p:nvPr/>
          </p:nvGrpSpPr>
          <p:grpSpPr>
            <a:xfrm>
              <a:off x="8015595" y="5991815"/>
              <a:ext cx="503499" cy="461665"/>
              <a:chOff x="5170104" y="6055457"/>
              <a:chExt cx="503499" cy="461665"/>
            </a:xfrm>
          </p:grpSpPr>
          <p:sp>
            <p:nvSpPr>
              <p:cNvPr id="104866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68" name="Rectangle 37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65" name="Groupe 33"/>
            <p:cNvGrpSpPr/>
            <p:nvPr/>
          </p:nvGrpSpPr>
          <p:grpSpPr>
            <a:xfrm>
              <a:off x="8482935" y="5990223"/>
              <a:ext cx="503499" cy="461665"/>
              <a:chOff x="5170104" y="6055457"/>
              <a:chExt cx="503499" cy="461665"/>
            </a:xfrm>
          </p:grpSpPr>
          <p:sp>
            <p:nvSpPr>
              <p:cNvPr id="1048669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70" name="Rectangle 35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</p:grpSp>
      <p:grpSp>
        <p:nvGrpSpPr>
          <p:cNvPr id="66" name="Groupe 46"/>
          <p:cNvGrpSpPr/>
          <p:nvPr/>
        </p:nvGrpSpPr>
        <p:grpSpPr>
          <a:xfrm>
            <a:off x="9511765" y="1264348"/>
            <a:ext cx="542136" cy="461665"/>
            <a:chOff x="5170104" y="6055457"/>
            <a:chExt cx="542136" cy="461665"/>
          </a:xfrm>
        </p:grpSpPr>
        <p:sp>
          <p:nvSpPr>
            <p:cNvPr id="1048671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2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672" name="Rectangle 48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pic>
        <p:nvPicPr>
          <p:cNvPr id="2097154" name="Picture 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269852" y="1830390"/>
            <a:ext cx="4830959" cy="4630825"/>
          </a:xfrm>
          <a:prstGeom prst="rect">
            <a:avLst/>
          </a:prstGeom>
          <a:noFill/>
        </p:spPr>
      </p:pic>
      <p:sp>
        <p:nvSpPr>
          <p:cNvPr id="1048673" name="Espace réservé du pied de page 4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9" name="Espace réservé du pied de page 10495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32" name="Espace réservé du pied de page 10497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ectangle 3"/>
          <p:cNvSpPr/>
          <p:nvPr/>
        </p:nvSpPr>
        <p:spPr>
          <a:xfrm>
            <a:off x="387963" y="158837"/>
            <a:ext cx="5708037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2. Électrons de valence, électrons de cœur</a:t>
            </a:r>
            <a:endParaRPr lang="fr-MA" sz="3200" dirty="0">
              <a:latin typeface="AR BLANCA" panose="02000000000000000000" pitchFamily="2" charset="0"/>
            </a:endParaRPr>
          </a:p>
        </p:txBody>
      </p:sp>
      <p:sp>
        <p:nvSpPr>
          <p:cNvPr id="1048675" name="Rectangle 4"/>
          <p:cNvSpPr/>
          <p:nvPr/>
        </p:nvSpPr>
        <p:spPr>
          <a:xfrm>
            <a:off x="387963" y="890216"/>
            <a:ext cx="2327304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3.1. Définitions</a:t>
            </a:r>
            <a:endParaRPr lang="fr-MA" sz="3200" dirty="0">
              <a:latin typeface="AR BLANCA" panose="02000000000000000000" pitchFamily="2" charset="0"/>
            </a:endParaRPr>
          </a:p>
        </p:txBody>
      </p:sp>
      <p:sp>
        <p:nvSpPr>
          <p:cNvPr id="1048676" name="Rectangle 5"/>
          <p:cNvSpPr/>
          <p:nvPr/>
        </p:nvSpPr>
        <p:spPr>
          <a:xfrm>
            <a:off x="202131" y="1560041"/>
            <a:ext cx="117428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Les propriétés chimiques d'un élément chimique sont dues aux possibilités de mise en commun d'électrons (liaisons de covalence) et de perte ou de gain d'électrons (ionisation).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</a:rPr>
              <a:t> </a:t>
            </a:r>
            <a:r>
              <a:rPr lang="fr-FR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Elles ne font intervenir que les électrons les moins liés au reste de l'atome dans son état fondamental, c'est à dire ceux de la "couche périphérique" (n le plus grand) et, éventuellement, ceux de la couche sous-jacente, plus exactement des sous-couches d et f, si elles sont non saturées, de cette couche sous-jacente.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2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/>
              <a:t> Ces électrons sont appelés "</a:t>
            </a:r>
            <a:r>
              <a:rPr lang="fr-FR" sz="2400" b="1" i="1" dirty="0"/>
              <a:t>électrons de valence</a:t>
            </a:r>
            <a:r>
              <a:rPr lang="fr-FR" sz="2400" dirty="0"/>
              <a:t>".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2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400" dirty="0"/>
              <a:t> Les électrons des autres couches, saturées, sont fortement liées au noyau avec lequel ils forment un ensemble stable, ce sont les "</a:t>
            </a:r>
            <a:r>
              <a:rPr lang="fr-FR" sz="2400" b="1" i="1" dirty="0"/>
              <a:t>électrons de cœur</a:t>
            </a:r>
            <a:r>
              <a:rPr lang="fr-FR" sz="2400" dirty="0"/>
              <a:t>".</a:t>
            </a:r>
            <a:endParaRPr lang="fr-MA" sz="2400" dirty="0"/>
          </a:p>
        </p:txBody>
      </p:sp>
      <p:sp>
        <p:nvSpPr>
          <p:cNvPr id="1048677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Rectangle 3"/>
          <p:cNvSpPr/>
          <p:nvPr/>
        </p:nvSpPr>
        <p:spPr>
          <a:xfrm>
            <a:off x="807075" y="641692"/>
            <a:ext cx="10977093" cy="2606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hangingPunct="0">
              <a:spcAft>
                <a:spcPts val="0"/>
              </a:spcAft>
            </a:pPr>
            <a:r>
              <a:rPr lang="fr-FR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 exemple, pour</a:t>
            </a: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 : 	Z = 8 	 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fr-FR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	6 électrons de valence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 : 	Z = 20 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	                                2 électrons de valence</a:t>
            </a: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fr-FR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Mn : 	Z = 25 	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  4s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7 électrons de valence</a:t>
            </a: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fr-FR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 :	Z = 17	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7 électrons de valence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97155" name="Picture 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00885" y="3310841"/>
            <a:ext cx="1787843" cy="3090588"/>
          </a:xfrm>
          <a:prstGeom prst="rect">
            <a:avLst/>
          </a:prstGeom>
          <a:noFill/>
        </p:spPr>
      </p:pic>
      <p:sp>
        <p:nvSpPr>
          <p:cNvPr id="1048679" name="Rectangle 5"/>
          <p:cNvSpPr/>
          <p:nvPr/>
        </p:nvSpPr>
        <p:spPr>
          <a:xfrm>
            <a:off x="665408" y="3780885"/>
            <a:ext cx="6096000" cy="7645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 : 	Z = 8 	  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fr-FR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	6 électrons de valence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80" name="Ellipse 6"/>
          <p:cNvSpPr/>
          <p:nvPr/>
        </p:nvSpPr>
        <p:spPr>
          <a:xfrm>
            <a:off x="5666704" y="3528810"/>
            <a:ext cx="1916636" cy="93828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28" name="Connecteur droit avec flèche 8"/>
          <p:cNvCxnSpPr>
            <a:cxnSpLocks/>
          </p:cNvCxnSpPr>
          <p:nvPr/>
        </p:nvCxnSpPr>
        <p:spPr>
          <a:xfrm flipH="1">
            <a:off x="7583340" y="3824408"/>
            <a:ext cx="553791" cy="1361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1" name="Rectangle 9"/>
          <p:cNvSpPr/>
          <p:nvPr/>
        </p:nvSpPr>
        <p:spPr>
          <a:xfrm>
            <a:off x="8137131" y="3490528"/>
            <a:ext cx="2722880" cy="39624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électrons de valence</a:t>
            </a:r>
            <a:endParaRPr lang="fr-MA" sz="2000" b="1" dirty="0"/>
          </a:p>
        </p:txBody>
      </p:sp>
      <p:sp>
        <p:nvSpPr>
          <p:cNvPr id="1048682" name="Ellipse 10"/>
          <p:cNvSpPr/>
          <p:nvPr/>
        </p:nvSpPr>
        <p:spPr>
          <a:xfrm>
            <a:off x="5986788" y="5643516"/>
            <a:ext cx="1300593" cy="461070"/>
          </a:xfrm>
          <a:prstGeom prst="ellipse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29" name="Connecteur droit avec flèche 11"/>
          <p:cNvCxnSpPr>
            <a:cxnSpLocks/>
          </p:cNvCxnSpPr>
          <p:nvPr/>
        </p:nvCxnSpPr>
        <p:spPr>
          <a:xfrm flipH="1">
            <a:off x="7386034" y="5737887"/>
            <a:ext cx="553791" cy="13616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3" name="Rectangle 12"/>
          <p:cNvSpPr/>
          <p:nvPr/>
        </p:nvSpPr>
        <p:spPr>
          <a:xfrm>
            <a:off x="7939825" y="5348840"/>
            <a:ext cx="2430779" cy="396241"/>
          </a:xfrm>
          <a:prstGeom prst="rect">
            <a:avLst/>
          </a:prstGeom>
          <a:ln w="28575"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électrons de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cœur</a:t>
            </a:r>
            <a:endParaRPr lang="fr-M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4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47D96A-C5E8-1146-7143-33893E28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  <p:extLst>
      <p:ext uri="{BB962C8B-B14F-4D97-AF65-F5344CB8AC3E}">
        <p14:creationId xmlns:p14="http://schemas.microsoft.com/office/powerpoint/2010/main" val="3836266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Rectangle 3"/>
          <p:cNvSpPr/>
          <p:nvPr/>
        </p:nvSpPr>
        <p:spPr>
          <a:xfrm>
            <a:off x="767860" y="320830"/>
            <a:ext cx="420922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3.2. Représentation de Lewis</a:t>
            </a:r>
            <a:endParaRPr lang="fr-MA" sz="3200" dirty="0">
              <a:latin typeface="AR BLANCA" panose="02000000000000000000" pitchFamily="2" charset="0"/>
            </a:endParaRPr>
          </a:p>
        </p:txBody>
      </p:sp>
      <p:sp>
        <p:nvSpPr>
          <p:cNvPr id="1048686" name="Rectangle 2"/>
          <p:cNvSpPr>
            <a:spLocks noChangeArrowheads="1"/>
          </p:cNvSpPr>
          <p:nvPr/>
        </p:nvSpPr>
        <p:spPr bwMode="auto">
          <a:xfrm>
            <a:off x="767859" y="945736"/>
            <a:ext cx="10926157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fr-FR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</a:rPr>
              <a:t>Règle :</a:t>
            </a: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Dans la représentation de Lewis d'un atome (ou d'un ion simple) on note autour du symbole de l'élément chimique les électrons de valence avec : un tiret </a:t>
            </a:r>
            <a:r>
              <a:rPr kumimoji="0" 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–– </a:t>
            </a: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pour chaque doublet et un point       pour chaque électron célibataire.</a:t>
            </a:r>
            <a:endParaRPr kumimoji="0" 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194304" name="Objet 5"/>
          <p:cNvGraphicFramePr>
            <a:graphicFrameLocks noChangeAspect="1"/>
          </p:cNvGraphicFramePr>
          <p:nvPr/>
        </p:nvGraphicFramePr>
        <p:xfrm>
          <a:off x="3344962" y="1609859"/>
          <a:ext cx="312639" cy="257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Équation" r:id="rId3" imgW="101512" imgH="101512" progId="Equation.3">
                  <p:embed/>
                </p:oleObj>
              </mc:Choice>
              <mc:Fallback>
                <p:oleObj name="Équation" r:id="rId3" imgW="101512" imgH="101512" progId="Equation.3">
                  <p:embed/>
                  <p:pic>
                    <p:nvPicPr>
                      <p:cNvPr id="209715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962" y="1609859"/>
                        <a:ext cx="312639" cy="2575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87" name="Rectangle 7"/>
          <p:cNvSpPr/>
          <p:nvPr/>
        </p:nvSpPr>
        <p:spPr>
          <a:xfrm>
            <a:off x="767859" y="2781464"/>
            <a:ext cx="2303779" cy="1310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 exemple 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</a:rPr>
              <a:t> oxygène O, Z=8</a:t>
            </a:r>
            <a:endParaRPr lang="fr-MA" sz="2000" dirty="0"/>
          </a:p>
        </p:txBody>
      </p:sp>
      <p:graphicFrame>
        <p:nvGraphicFramePr>
          <p:cNvPr id="4194305" name="Objet 9"/>
          <p:cNvGraphicFramePr>
            <a:graphicFrameLocks noChangeAspect="1"/>
          </p:cNvGraphicFramePr>
          <p:nvPr/>
        </p:nvGraphicFramePr>
        <p:xfrm>
          <a:off x="8166465" y="3616318"/>
          <a:ext cx="637917" cy="520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Équation" r:id="rId5" imgW="291960" imgH="241200" progId="Equation.3">
                  <p:embed/>
                </p:oleObj>
              </mc:Choice>
              <mc:Fallback>
                <p:oleObj name="Équation" r:id="rId5" imgW="291960" imgH="241200" progId="Equation.3">
                  <p:embed/>
                  <p:pic>
                    <p:nvPicPr>
                      <p:cNvPr id="20971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465" y="3616318"/>
                        <a:ext cx="637917" cy="520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Groupe 20"/>
          <p:cNvGrpSpPr/>
          <p:nvPr/>
        </p:nvGrpSpPr>
        <p:grpSpPr>
          <a:xfrm>
            <a:off x="3358682" y="3766719"/>
            <a:ext cx="2987694" cy="476622"/>
            <a:chOff x="991671" y="4112778"/>
            <a:chExt cx="2987694" cy="476622"/>
          </a:xfrm>
        </p:grpSpPr>
        <p:grpSp>
          <p:nvGrpSpPr>
            <p:cNvPr id="71" name="Groupe 21"/>
            <p:cNvGrpSpPr/>
            <p:nvPr/>
          </p:nvGrpSpPr>
          <p:grpSpPr>
            <a:xfrm>
              <a:off x="991671" y="4112778"/>
              <a:ext cx="542136" cy="461665"/>
              <a:chOff x="5170104" y="6055457"/>
              <a:chExt cx="542136" cy="461665"/>
            </a:xfrm>
          </p:grpSpPr>
          <p:sp>
            <p:nvSpPr>
              <p:cNvPr id="1048688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89" name="Rectangle 35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72" name="Groupe 22"/>
            <p:cNvGrpSpPr/>
            <p:nvPr/>
          </p:nvGrpSpPr>
          <p:grpSpPr>
            <a:xfrm>
              <a:off x="1673028" y="4123579"/>
              <a:ext cx="542136" cy="461665"/>
              <a:chOff x="5170104" y="6055457"/>
              <a:chExt cx="542136" cy="461665"/>
            </a:xfrm>
          </p:grpSpPr>
          <p:sp>
            <p:nvSpPr>
              <p:cNvPr id="1048690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91" name="Rectangle 33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73" name="Groupe 23"/>
            <p:cNvGrpSpPr/>
            <p:nvPr/>
          </p:nvGrpSpPr>
          <p:grpSpPr>
            <a:xfrm>
              <a:off x="2517051" y="4123579"/>
              <a:ext cx="1462314" cy="465821"/>
              <a:chOff x="4371613" y="4615381"/>
              <a:chExt cx="1462314" cy="465821"/>
            </a:xfrm>
          </p:grpSpPr>
          <p:grpSp>
            <p:nvGrpSpPr>
              <p:cNvPr id="74" name="Groupe 24"/>
              <p:cNvGrpSpPr/>
              <p:nvPr/>
            </p:nvGrpSpPr>
            <p:grpSpPr>
              <a:xfrm>
                <a:off x="4371613" y="4619537"/>
                <a:ext cx="542136" cy="461665"/>
                <a:chOff x="5170104" y="6055457"/>
                <a:chExt cx="542136" cy="461665"/>
              </a:xfrm>
            </p:grpSpPr>
            <p:sp>
              <p:nvSpPr>
                <p:cNvPr id="104869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542136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4494" r="-1124"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93" name="Rectangle 31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grpSp>
            <p:nvGrpSpPr>
              <p:cNvPr id="75" name="Groupe 25"/>
              <p:cNvGrpSpPr/>
              <p:nvPr/>
            </p:nvGrpSpPr>
            <p:grpSpPr>
              <a:xfrm>
                <a:off x="5330428" y="4615381"/>
                <a:ext cx="503499" cy="461665"/>
                <a:chOff x="5170104" y="6055457"/>
                <a:chExt cx="503499" cy="461665"/>
              </a:xfrm>
            </p:grpSpPr>
            <p:sp>
              <p:nvSpPr>
                <p:cNvPr id="1048694" name="ZoneTexte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695" name="Rectangle 29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sp>
            <p:nvSpPr>
              <p:cNvPr id="1048696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862" y="4617459"/>
                <a:ext cx="397866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697" name="Rectangle 27"/>
              <p:cNvSpPr/>
              <p:nvPr/>
            </p:nvSpPr>
            <p:spPr>
              <a:xfrm>
                <a:off x="4869507" y="4628627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</p:grpSp>
      <p:sp>
        <p:nvSpPr>
          <p:cNvPr id="1048698" name="Ellipse 36"/>
          <p:cNvSpPr/>
          <p:nvPr/>
        </p:nvSpPr>
        <p:spPr>
          <a:xfrm>
            <a:off x="3927380" y="3521007"/>
            <a:ext cx="2537814" cy="92221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99" name="Rectangle 37"/>
          <p:cNvSpPr/>
          <p:nvPr/>
        </p:nvSpPr>
        <p:spPr>
          <a:xfrm>
            <a:off x="1345485" y="4935806"/>
            <a:ext cx="3243579" cy="44704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électrons de valence</a:t>
            </a:r>
            <a:endParaRPr lang="fr-MA" sz="2400" b="1" dirty="0"/>
          </a:p>
        </p:txBody>
      </p:sp>
      <p:cxnSp>
        <p:nvCxnSpPr>
          <p:cNvPr id="3145730" name="Connecteur droit avec flèche 39"/>
          <p:cNvCxnSpPr>
            <a:cxnSpLocks/>
            <a:stCxn id="1048700" idx="2"/>
            <a:endCxn id="1048691" idx="0"/>
          </p:cNvCxnSpPr>
          <p:nvPr/>
        </p:nvCxnSpPr>
        <p:spPr>
          <a:xfrm flipH="1">
            <a:off x="4305070" y="3265540"/>
            <a:ext cx="372413" cy="5227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eur droit avec flèche 41"/>
          <p:cNvCxnSpPr>
            <a:cxnSpLocks/>
            <a:stCxn id="1048700" idx="2"/>
            <a:endCxn id="1048693" idx="0"/>
          </p:cNvCxnSpPr>
          <p:nvPr/>
        </p:nvCxnSpPr>
        <p:spPr>
          <a:xfrm>
            <a:off x="4677483" y="3265540"/>
            <a:ext cx="471610" cy="5269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0" name="ZoneTexte 48"/>
          <p:cNvSpPr txBox="1"/>
          <p:nvPr/>
        </p:nvSpPr>
        <p:spPr>
          <a:xfrm>
            <a:off x="4038558" y="2803875"/>
            <a:ext cx="1363980" cy="44704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/>
              <a:t>doublets</a:t>
            </a:r>
          </a:p>
        </p:txBody>
      </p:sp>
      <p:cxnSp>
        <p:nvCxnSpPr>
          <p:cNvPr id="3145732" name="Connecteur droit avec flèche 50"/>
          <p:cNvCxnSpPr>
            <a:cxnSpLocks/>
          </p:cNvCxnSpPr>
          <p:nvPr/>
        </p:nvCxnSpPr>
        <p:spPr>
          <a:xfrm flipH="1" flipV="1">
            <a:off x="5620424" y="4160197"/>
            <a:ext cx="249015" cy="5754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eur droit avec flèche 51"/>
          <p:cNvCxnSpPr>
            <a:cxnSpLocks/>
            <a:endCxn id="1048695" idx="2"/>
          </p:cNvCxnSpPr>
          <p:nvPr/>
        </p:nvCxnSpPr>
        <p:spPr>
          <a:xfrm flipV="1">
            <a:off x="5912447" y="4170998"/>
            <a:ext cx="195461" cy="56463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1" name="ZoneTexte 57"/>
          <p:cNvSpPr txBox="1"/>
          <p:nvPr/>
        </p:nvSpPr>
        <p:spPr>
          <a:xfrm>
            <a:off x="5236685" y="4735635"/>
            <a:ext cx="1757679" cy="8026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MA" sz="2400" dirty="0"/>
              <a:t>Électrons</a:t>
            </a:r>
          </a:p>
          <a:p>
            <a:pPr algn="ctr"/>
            <a:r>
              <a:rPr lang="fr-MA" sz="2400" dirty="0"/>
              <a:t>célibataires</a:t>
            </a:r>
          </a:p>
        </p:txBody>
      </p:sp>
      <p:sp>
        <p:nvSpPr>
          <p:cNvPr id="1048702" name="Forme libre 66"/>
          <p:cNvSpPr/>
          <p:nvPr/>
        </p:nvSpPr>
        <p:spPr>
          <a:xfrm>
            <a:off x="4881093" y="2523801"/>
            <a:ext cx="3567448" cy="1133800"/>
          </a:xfrm>
          <a:custGeom>
            <a:avLst/>
            <a:gdLst>
              <a:gd name="connsiteX0" fmla="*/ 0 w 3567448"/>
              <a:gd name="connsiteY0" fmla="*/ 270916 h 1133800"/>
              <a:gd name="connsiteX1" fmla="*/ 1107583 w 3567448"/>
              <a:gd name="connsiteY1" fmla="*/ 51975 h 1133800"/>
              <a:gd name="connsiteX2" fmla="*/ 3567448 w 3567448"/>
              <a:gd name="connsiteY2" fmla="*/ 1133800 h 1133800"/>
              <a:gd name="connsiteX3" fmla="*/ 3567448 w 3567448"/>
              <a:gd name="connsiteY3" fmla="*/ 1133800 h 113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7448" h="1133800">
                <a:moveTo>
                  <a:pt x="0" y="270916"/>
                </a:moveTo>
                <a:cubicBezTo>
                  <a:pt x="256504" y="89538"/>
                  <a:pt x="513008" y="-91839"/>
                  <a:pt x="1107583" y="51975"/>
                </a:cubicBezTo>
                <a:cubicBezTo>
                  <a:pt x="1702158" y="195789"/>
                  <a:pt x="3567448" y="1133800"/>
                  <a:pt x="3567448" y="1133800"/>
                </a:cubicBezTo>
                <a:lnTo>
                  <a:pt x="3567448" y="1133800"/>
                </a:lnTo>
              </a:path>
            </a:pathLst>
          </a:custGeom>
          <a:noFill/>
          <a:ln w="28575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03" name="Forme libre 67"/>
          <p:cNvSpPr/>
          <p:nvPr/>
        </p:nvSpPr>
        <p:spPr>
          <a:xfrm>
            <a:off x="5318975" y="3039416"/>
            <a:ext cx="3142445" cy="1763406"/>
          </a:xfrm>
          <a:custGeom>
            <a:avLst/>
            <a:gdLst>
              <a:gd name="connsiteX0" fmla="*/ 0 w 3142445"/>
              <a:gd name="connsiteY0" fmla="*/ 0 h 1763406"/>
              <a:gd name="connsiteX1" fmla="*/ 1287887 w 3142445"/>
              <a:gd name="connsiteY1" fmla="*/ 360608 h 1763406"/>
              <a:gd name="connsiteX2" fmla="*/ 2459864 w 3142445"/>
              <a:gd name="connsiteY2" fmla="*/ 1751526 h 1763406"/>
              <a:gd name="connsiteX3" fmla="*/ 3142445 w 3142445"/>
              <a:gd name="connsiteY3" fmla="*/ 1068946 h 1763406"/>
              <a:gd name="connsiteX4" fmla="*/ 3142445 w 3142445"/>
              <a:gd name="connsiteY4" fmla="*/ 1068946 h 176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2445" h="1763406">
                <a:moveTo>
                  <a:pt x="0" y="0"/>
                </a:moveTo>
                <a:cubicBezTo>
                  <a:pt x="438955" y="34343"/>
                  <a:pt x="877910" y="68687"/>
                  <a:pt x="1287887" y="360608"/>
                </a:cubicBezTo>
                <a:cubicBezTo>
                  <a:pt x="1697864" y="652529"/>
                  <a:pt x="2150771" y="1633470"/>
                  <a:pt x="2459864" y="1751526"/>
                </a:cubicBezTo>
                <a:cubicBezTo>
                  <a:pt x="2768957" y="1869582"/>
                  <a:pt x="3142445" y="1068946"/>
                  <a:pt x="3142445" y="1068946"/>
                </a:cubicBezTo>
                <a:lnTo>
                  <a:pt x="3142445" y="1068946"/>
                </a:lnTo>
              </a:path>
            </a:pathLst>
          </a:custGeom>
          <a:noFill/>
          <a:ln w="28575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04" name="Forme libre 68"/>
          <p:cNvSpPr/>
          <p:nvPr/>
        </p:nvSpPr>
        <p:spPr>
          <a:xfrm rot="21015265">
            <a:off x="6318022" y="3876568"/>
            <a:ext cx="1968140" cy="675378"/>
          </a:xfrm>
          <a:custGeom>
            <a:avLst/>
            <a:gdLst>
              <a:gd name="connsiteX0" fmla="*/ 0 w 1790163"/>
              <a:gd name="connsiteY0" fmla="*/ 1137600 h 1137600"/>
              <a:gd name="connsiteX1" fmla="*/ 1223493 w 1790163"/>
              <a:gd name="connsiteY1" fmla="*/ 42896 h 1137600"/>
              <a:gd name="connsiteX2" fmla="*/ 1790163 w 1790163"/>
              <a:gd name="connsiteY2" fmla="*/ 326231 h 113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163" h="1137600">
                <a:moveTo>
                  <a:pt x="0" y="1137600"/>
                </a:moveTo>
                <a:cubicBezTo>
                  <a:pt x="462566" y="657862"/>
                  <a:pt x="925133" y="178124"/>
                  <a:pt x="1223493" y="42896"/>
                </a:cubicBezTo>
                <a:cubicBezTo>
                  <a:pt x="1521853" y="-92332"/>
                  <a:pt x="1656008" y="116949"/>
                  <a:pt x="1790163" y="326231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05" name="Forme libre 69"/>
          <p:cNvSpPr/>
          <p:nvPr/>
        </p:nvSpPr>
        <p:spPr>
          <a:xfrm>
            <a:off x="6890197" y="4005331"/>
            <a:ext cx="2322042" cy="1548913"/>
          </a:xfrm>
          <a:custGeom>
            <a:avLst/>
            <a:gdLst>
              <a:gd name="connsiteX0" fmla="*/ 0 w 2322042"/>
              <a:gd name="connsiteY0" fmla="*/ 1081825 h 1548913"/>
              <a:gd name="connsiteX1" fmla="*/ 2240924 w 2322042"/>
              <a:gd name="connsiteY1" fmla="*/ 1493949 h 1548913"/>
              <a:gd name="connsiteX2" fmla="*/ 1867437 w 2322042"/>
              <a:gd name="connsiteY2" fmla="*/ 0 h 154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2042" h="1548913">
                <a:moveTo>
                  <a:pt x="0" y="1081825"/>
                </a:moveTo>
                <a:cubicBezTo>
                  <a:pt x="964842" y="1378039"/>
                  <a:pt x="1929685" y="1674253"/>
                  <a:pt x="2240924" y="1493949"/>
                </a:cubicBezTo>
                <a:cubicBezTo>
                  <a:pt x="2552164" y="1313645"/>
                  <a:pt x="1867437" y="0"/>
                  <a:pt x="1867437" y="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4" name="Connecteur droit avec flèche 71"/>
          <p:cNvCxnSpPr>
            <a:cxnSpLocks/>
          </p:cNvCxnSpPr>
          <p:nvPr/>
        </p:nvCxnSpPr>
        <p:spPr>
          <a:xfrm flipV="1">
            <a:off x="4066601" y="4360370"/>
            <a:ext cx="424675" cy="5593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06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e 6"/>
          <p:cNvGrpSpPr/>
          <p:nvPr/>
        </p:nvGrpSpPr>
        <p:grpSpPr>
          <a:xfrm>
            <a:off x="7432095" y="4426540"/>
            <a:ext cx="615100" cy="629986"/>
            <a:chOff x="5170983" y="2064480"/>
            <a:chExt cx="615100" cy="629986"/>
          </a:xfrm>
        </p:grpSpPr>
        <p:graphicFrame>
          <p:nvGraphicFramePr>
            <p:cNvPr id="4194306" name="Objet 7"/>
            <p:cNvGraphicFramePr>
              <a:graphicFrameLocks noChangeAspect="1"/>
            </p:cNvGraphicFramePr>
            <p:nvPr/>
          </p:nvGraphicFramePr>
          <p:xfrm>
            <a:off x="5255996" y="2064480"/>
            <a:ext cx="530087" cy="629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Équation" r:id="rId3" imgW="304536" imgH="355292" progId="Equation.3">
                    <p:embed/>
                  </p:oleObj>
                </mc:Choice>
                <mc:Fallback>
                  <p:oleObj name="Équation" r:id="rId3" imgW="304536" imgH="355292" progId="Equation.3">
                    <p:embed/>
                    <p:pic>
                      <p:nvPicPr>
                        <p:cNvPr id="209716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5996" y="2064480"/>
                          <a:ext cx="530087" cy="6299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8707" name="Rectangle 7"/>
            <p:cNvSpPr>
              <a:spLocks noChangeArrowheads="1"/>
            </p:cNvSpPr>
            <p:nvPr/>
          </p:nvSpPr>
          <p:spPr bwMode="auto">
            <a:xfrm flipV="1">
              <a:off x="5170983" y="2248531"/>
              <a:ext cx="17002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|</a:t>
              </a:r>
              <a:endParaRPr kumimoji="0" 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8" name="Groupe 10"/>
          <p:cNvGrpSpPr/>
          <p:nvPr/>
        </p:nvGrpSpPr>
        <p:grpSpPr>
          <a:xfrm>
            <a:off x="450762" y="1961660"/>
            <a:ext cx="542136" cy="461665"/>
            <a:chOff x="5170104" y="6055457"/>
            <a:chExt cx="542136" cy="461665"/>
          </a:xfrm>
        </p:grpSpPr>
        <p:sp>
          <p:nvSpPr>
            <p:cNvPr id="1048708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09" name="Rectangle 12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79" name="Groupe 13"/>
          <p:cNvGrpSpPr/>
          <p:nvPr/>
        </p:nvGrpSpPr>
        <p:grpSpPr>
          <a:xfrm>
            <a:off x="1132119" y="1972461"/>
            <a:ext cx="542136" cy="461665"/>
            <a:chOff x="5170104" y="6055457"/>
            <a:chExt cx="542136" cy="461665"/>
          </a:xfrm>
        </p:grpSpPr>
        <p:sp>
          <p:nvSpPr>
            <p:cNvPr id="1048710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11" name="Rectangle 15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80" name="Groupe 16"/>
          <p:cNvGrpSpPr/>
          <p:nvPr/>
        </p:nvGrpSpPr>
        <p:grpSpPr>
          <a:xfrm>
            <a:off x="1898868" y="1972461"/>
            <a:ext cx="1500951" cy="465821"/>
            <a:chOff x="4371613" y="4615381"/>
            <a:chExt cx="1500951" cy="465821"/>
          </a:xfrm>
        </p:grpSpPr>
        <p:grpSp>
          <p:nvGrpSpPr>
            <p:cNvPr id="81" name="Groupe 17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7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13" name="Rectangle 24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82" name="Groupe 18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714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15" name="Rectangle 22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716" name="ZoneTexte 1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7"/>
              <a:stretch>
                <a:fillRect l="-3371" r="-2247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17" name="Rectangle 20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718" name="Rectangle 25"/>
          <p:cNvSpPr/>
          <p:nvPr/>
        </p:nvSpPr>
        <p:spPr>
          <a:xfrm>
            <a:off x="351344" y="1145409"/>
            <a:ext cx="29641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Mn (manganèse)  Z = 25 </a:t>
            </a:r>
            <a:endParaRPr lang="fr-MA" dirty="0"/>
          </a:p>
        </p:txBody>
      </p:sp>
      <p:sp>
        <p:nvSpPr>
          <p:cNvPr id="1048719" name="Rectangle 26"/>
          <p:cNvSpPr/>
          <p:nvPr/>
        </p:nvSpPr>
        <p:spPr>
          <a:xfrm>
            <a:off x="438686" y="1557381"/>
            <a:ext cx="11152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3s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3p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                                                   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4s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83" name="Groupe 27"/>
          <p:cNvGrpSpPr/>
          <p:nvPr/>
        </p:nvGrpSpPr>
        <p:grpSpPr>
          <a:xfrm>
            <a:off x="3800976" y="1971603"/>
            <a:ext cx="542136" cy="461665"/>
            <a:chOff x="5170104" y="6055457"/>
            <a:chExt cx="542136" cy="461665"/>
          </a:xfrm>
        </p:grpSpPr>
        <p:sp>
          <p:nvSpPr>
            <p:cNvPr id="1048720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21" name="Rectangle 29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84" name="Groupe 30"/>
          <p:cNvGrpSpPr/>
          <p:nvPr/>
        </p:nvGrpSpPr>
        <p:grpSpPr>
          <a:xfrm>
            <a:off x="4583247" y="1983262"/>
            <a:ext cx="1500951" cy="465821"/>
            <a:chOff x="4371613" y="4615381"/>
            <a:chExt cx="1500951" cy="465821"/>
          </a:xfrm>
        </p:grpSpPr>
        <p:grpSp>
          <p:nvGrpSpPr>
            <p:cNvPr id="85" name="Groupe 31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72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23" name="Rectangle 38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86" name="Groupe 32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724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3371" r="-224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25" name="Rectangle 36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726" name="ZoneTexte 3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9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27" name="Rectangle 34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87" name="Groupe 39"/>
          <p:cNvGrpSpPr/>
          <p:nvPr/>
        </p:nvGrpSpPr>
        <p:grpSpPr>
          <a:xfrm>
            <a:off x="6446718" y="2013380"/>
            <a:ext cx="2414681" cy="469491"/>
            <a:chOff x="6571753" y="5990223"/>
            <a:chExt cx="2414681" cy="469491"/>
          </a:xfrm>
        </p:grpSpPr>
        <p:grpSp>
          <p:nvGrpSpPr>
            <p:cNvPr id="88" name="Groupe 40"/>
            <p:cNvGrpSpPr/>
            <p:nvPr/>
          </p:nvGrpSpPr>
          <p:grpSpPr>
            <a:xfrm>
              <a:off x="6571753" y="5993893"/>
              <a:ext cx="1462314" cy="465821"/>
              <a:chOff x="4371613" y="4615381"/>
              <a:chExt cx="1462314" cy="465821"/>
            </a:xfrm>
          </p:grpSpPr>
          <p:grpSp>
            <p:nvGrpSpPr>
              <p:cNvPr id="89" name="Groupe 47"/>
              <p:cNvGrpSpPr/>
              <p:nvPr/>
            </p:nvGrpSpPr>
            <p:grpSpPr>
              <a:xfrm>
                <a:off x="4371613" y="4617459"/>
                <a:ext cx="503499" cy="463743"/>
                <a:chOff x="5170104" y="6053379"/>
                <a:chExt cx="503499" cy="463743"/>
              </a:xfrm>
            </p:grpSpPr>
            <p:sp>
              <p:nvSpPr>
                <p:cNvPr id="1048728" name="ZoneTexte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729" name="Rectangle 54"/>
                <p:cNvSpPr/>
                <p:nvPr/>
              </p:nvSpPr>
              <p:spPr>
                <a:xfrm>
                  <a:off x="5196666" y="6053379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grpSp>
            <p:nvGrpSpPr>
              <p:cNvPr id="90" name="Groupe 48"/>
              <p:cNvGrpSpPr/>
              <p:nvPr/>
            </p:nvGrpSpPr>
            <p:grpSpPr>
              <a:xfrm>
                <a:off x="5330428" y="4615381"/>
                <a:ext cx="503499" cy="461665"/>
                <a:chOff x="5170104" y="6055457"/>
                <a:chExt cx="503499" cy="461665"/>
              </a:xfrm>
            </p:grpSpPr>
            <p:sp>
              <p:nvSpPr>
                <p:cNvPr id="1048730" name="ZoneTexte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0104" y="6055457"/>
                  <a:ext cx="397866" cy="46166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MA">
                      <a:noFill/>
                    </a:rPr>
                    <a:t> </a:t>
                  </a:r>
                </a:p>
              </p:txBody>
            </p:sp>
            <p:sp>
              <p:nvSpPr>
                <p:cNvPr id="1048731" name="Rectangle 52"/>
                <p:cNvSpPr/>
                <p:nvPr/>
              </p:nvSpPr>
              <p:spPr>
                <a:xfrm>
                  <a:off x="5196666" y="6066258"/>
                  <a:ext cx="476937" cy="3826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MA" sz="2400"/>
                </a:p>
              </p:txBody>
            </p:sp>
          </p:grpSp>
          <p:sp>
            <p:nvSpPr>
              <p:cNvPr id="1048732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862" y="4617459"/>
                <a:ext cx="397866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33" name="Rectangle 50"/>
              <p:cNvSpPr/>
              <p:nvPr/>
            </p:nvSpPr>
            <p:spPr>
              <a:xfrm>
                <a:off x="4884424" y="4628260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91" name="Groupe 41"/>
            <p:cNvGrpSpPr/>
            <p:nvPr/>
          </p:nvGrpSpPr>
          <p:grpSpPr>
            <a:xfrm>
              <a:off x="8015595" y="5991815"/>
              <a:ext cx="503499" cy="461665"/>
              <a:chOff x="5170104" y="6055457"/>
              <a:chExt cx="503499" cy="461665"/>
            </a:xfrm>
          </p:grpSpPr>
          <p:sp>
            <p:nvSpPr>
              <p:cNvPr id="1048734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35" name="Rectangle 46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92" name="Groupe 42"/>
            <p:cNvGrpSpPr/>
            <p:nvPr/>
          </p:nvGrpSpPr>
          <p:grpSpPr>
            <a:xfrm>
              <a:off x="8482935" y="5990223"/>
              <a:ext cx="503499" cy="461665"/>
              <a:chOff x="5170104" y="6055457"/>
              <a:chExt cx="503499" cy="461665"/>
            </a:xfrm>
          </p:grpSpPr>
          <p:sp>
            <p:nvSpPr>
              <p:cNvPr id="1048736" name="ZoneTexte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37" name="Rectangle 44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</p:grpSp>
      <p:grpSp>
        <p:nvGrpSpPr>
          <p:cNvPr id="93" name="Groupe 55"/>
          <p:cNvGrpSpPr/>
          <p:nvPr/>
        </p:nvGrpSpPr>
        <p:grpSpPr>
          <a:xfrm>
            <a:off x="9511765" y="2011322"/>
            <a:ext cx="542136" cy="461665"/>
            <a:chOff x="5170104" y="6055457"/>
            <a:chExt cx="542136" cy="461665"/>
          </a:xfrm>
        </p:grpSpPr>
        <p:sp>
          <p:nvSpPr>
            <p:cNvPr id="1048738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39" name="Rectangle 57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740" name="ZoneTexte 58"/>
          <p:cNvSpPr txBox="1"/>
          <p:nvPr/>
        </p:nvSpPr>
        <p:spPr>
          <a:xfrm>
            <a:off x="6796995" y="2760661"/>
            <a:ext cx="1757679" cy="8026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MA" sz="2400" dirty="0"/>
              <a:t>Électrons</a:t>
            </a:r>
          </a:p>
          <a:p>
            <a:pPr algn="ctr"/>
            <a:r>
              <a:rPr lang="fr-MA" sz="2400" dirty="0"/>
              <a:t>célibataires</a:t>
            </a:r>
          </a:p>
        </p:txBody>
      </p:sp>
      <p:cxnSp>
        <p:nvCxnSpPr>
          <p:cNvPr id="3145735" name="Connecteur droit avec flèche 60"/>
          <p:cNvCxnSpPr>
            <a:cxnSpLocks/>
          </p:cNvCxnSpPr>
          <p:nvPr/>
        </p:nvCxnSpPr>
        <p:spPr>
          <a:xfrm flipH="1" flipV="1">
            <a:off x="6711749" y="2417660"/>
            <a:ext cx="307566" cy="3322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Connecteur droit avec flèche 63"/>
          <p:cNvCxnSpPr>
            <a:cxnSpLocks/>
            <a:endCxn id="1048733" idx="2"/>
          </p:cNvCxnSpPr>
          <p:nvPr/>
        </p:nvCxnSpPr>
        <p:spPr>
          <a:xfrm flipH="1" flipV="1">
            <a:off x="7197998" y="2412606"/>
            <a:ext cx="101902" cy="31952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Connecteur droit avec flèche 65"/>
          <p:cNvCxnSpPr>
            <a:cxnSpLocks/>
            <a:stCxn id="1048740" idx="0"/>
            <a:endCxn id="1048730" idx="2"/>
          </p:cNvCxnSpPr>
          <p:nvPr/>
        </p:nvCxnSpPr>
        <p:spPr>
          <a:xfrm flipV="1">
            <a:off x="7602120" y="2478715"/>
            <a:ext cx="2346" cy="28194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eur droit avec flèche 67"/>
          <p:cNvCxnSpPr>
            <a:cxnSpLocks/>
            <a:endCxn id="1048734" idx="2"/>
          </p:cNvCxnSpPr>
          <p:nvPr/>
        </p:nvCxnSpPr>
        <p:spPr>
          <a:xfrm flipV="1">
            <a:off x="7891782" y="2476637"/>
            <a:ext cx="197711" cy="2732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Connecteur droit avec flèche 69"/>
          <p:cNvCxnSpPr>
            <a:cxnSpLocks/>
            <a:endCxn id="1048737" idx="2"/>
          </p:cNvCxnSpPr>
          <p:nvPr/>
        </p:nvCxnSpPr>
        <p:spPr>
          <a:xfrm flipV="1">
            <a:off x="8224308" y="2406858"/>
            <a:ext cx="398623" cy="32527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1" name="Forme libre 70"/>
          <p:cNvSpPr/>
          <p:nvPr/>
        </p:nvSpPr>
        <p:spPr>
          <a:xfrm>
            <a:off x="7611414" y="3580326"/>
            <a:ext cx="529016" cy="901521"/>
          </a:xfrm>
          <a:custGeom>
            <a:avLst/>
            <a:gdLst>
              <a:gd name="connsiteX0" fmla="*/ 0 w 529016"/>
              <a:gd name="connsiteY0" fmla="*/ 0 h 901521"/>
              <a:gd name="connsiteX1" fmla="*/ 528034 w 529016"/>
              <a:gd name="connsiteY1" fmla="*/ 412124 h 901521"/>
              <a:gd name="connsiteX2" fmla="*/ 141668 w 529016"/>
              <a:gd name="connsiteY2" fmla="*/ 901521 h 901521"/>
              <a:gd name="connsiteX3" fmla="*/ 141668 w 529016"/>
              <a:gd name="connsiteY3" fmla="*/ 901521 h 901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016" h="901521">
                <a:moveTo>
                  <a:pt x="0" y="0"/>
                </a:moveTo>
                <a:cubicBezTo>
                  <a:pt x="252211" y="130935"/>
                  <a:pt x="504423" y="261871"/>
                  <a:pt x="528034" y="412124"/>
                </a:cubicBezTo>
                <a:cubicBezTo>
                  <a:pt x="551645" y="562377"/>
                  <a:pt x="141668" y="901521"/>
                  <a:pt x="141668" y="901521"/>
                </a:cubicBezTo>
                <a:lnTo>
                  <a:pt x="141668" y="901521"/>
                </a:ln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42" name="Forme libre 72"/>
          <p:cNvSpPr/>
          <p:nvPr/>
        </p:nvSpPr>
        <p:spPr>
          <a:xfrm>
            <a:off x="7778839" y="4250028"/>
            <a:ext cx="1110928" cy="1239053"/>
          </a:xfrm>
          <a:custGeom>
            <a:avLst/>
            <a:gdLst>
              <a:gd name="connsiteX0" fmla="*/ 695460 w 1110928"/>
              <a:gd name="connsiteY0" fmla="*/ 0 h 1239053"/>
              <a:gd name="connsiteX1" fmla="*/ 1094705 w 1110928"/>
              <a:gd name="connsiteY1" fmla="*/ 631064 h 1239053"/>
              <a:gd name="connsiteX2" fmla="*/ 206062 w 1110928"/>
              <a:gd name="connsiteY2" fmla="*/ 1236371 h 1239053"/>
              <a:gd name="connsiteX3" fmla="*/ 0 w 1110928"/>
              <a:gd name="connsiteY3" fmla="*/ 811369 h 1239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928" h="1239053">
                <a:moveTo>
                  <a:pt x="695460" y="0"/>
                </a:moveTo>
                <a:cubicBezTo>
                  <a:pt x="935865" y="212501"/>
                  <a:pt x="1176271" y="425002"/>
                  <a:pt x="1094705" y="631064"/>
                </a:cubicBezTo>
                <a:cubicBezTo>
                  <a:pt x="1013139" y="837126"/>
                  <a:pt x="388513" y="1206320"/>
                  <a:pt x="206062" y="1236371"/>
                </a:cubicBezTo>
                <a:cubicBezTo>
                  <a:pt x="23611" y="1266422"/>
                  <a:pt x="11805" y="1038895"/>
                  <a:pt x="0" y="811369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43" name="Forme libre 73"/>
          <p:cNvSpPr/>
          <p:nvPr/>
        </p:nvSpPr>
        <p:spPr>
          <a:xfrm>
            <a:off x="8047195" y="3914265"/>
            <a:ext cx="465898" cy="884095"/>
          </a:xfrm>
          <a:custGeom>
            <a:avLst/>
            <a:gdLst>
              <a:gd name="connsiteX0" fmla="*/ 77273 w 449334"/>
              <a:gd name="connsiteY0" fmla="*/ 0 h 1071199"/>
              <a:gd name="connsiteX1" fmla="*/ 425002 w 449334"/>
              <a:gd name="connsiteY1" fmla="*/ 373487 h 1071199"/>
              <a:gd name="connsiteX2" fmla="*/ 373487 w 449334"/>
              <a:gd name="connsiteY2" fmla="*/ 1030310 h 1071199"/>
              <a:gd name="connsiteX3" fmla="*/ 0 w 449334"/>
              <a:gd name="connsiteY3" fmla="*/ 1004552 h 1071199"/>
              <a:gd name="connsiteX4" fmla="*/ 0 w 449334"/>
              <a:gd name="connsiteY4" fmla="*/ 1004552 h 107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9334" h="1071199">
                <a:moveTo>
                  <a:pt x="77273" y="0"/>
                </a:moveTo>
                <a:cubicBezTo>
                  <a:pt x="226453" y="100884"/>
                  <a:pt x="375633" y="201769"/>
                  <a:pt x="425002" y="373487"/>
                </a:cubicBezTo>
                <a:cubicBezTo>
                  <a:pt x="474371" y="545205"/>
                  <a:pt x="444321" y="925133"/>
                  <a:pt x="373487" y="1030310"/>
                </a:cubicBezTo>
                <a:cubicBezTo>
                  <a:pt x="302653" y="1135487"/>
                  <a:pt x="0" y="1004552"/>
                  <a:pt x="0" y="1004552"/>
                </a:cubicBezTo>
                <a:lnTo>
                  <a:pt x="0" y="1004552"/>
                </a:ln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44" name="ZoneTexte 74"/>
          <p:cNvSpPr txBox="1"/>
          <p:nvPr/>
        </p:nvSpPr>
        <p:spPr>
          <a:xfrm>
            <a:off x="9273004" y="2857538"/>
            <a:ext cx="1363980" cy="44704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/>
              <a:t>doublets</a:t>
            </a:r>
          </a:p>
        </p:txBody>
      </p:sp>
      <p:cxnSp>
        <p:nvCxnSpPr>
          <p:cNvPr id="3145740" name="Connecteur droit avec flèche 76"/>
          <p:cNvCxnSpPr>
            <a:cxnSpLocks/>
            <a:endCxn id="1048739" idx="2"/>
          </p:cNvCxnSpPr>
          <p:nvPr/>
        </p:nvCxnSpPr>
        <p:spPr>
          <a:xfrm flipV="1">
            <a:off x="9776795" y="2404800"/>
            <a:ext cx="1" cy="4527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5" name="Forme libre 77"/>
          <p:cNvSpPr/>
          <p:nvPr/>
        </p:nvSpPr>
        <p:spPr>
          <a:xfrm>
            <a:off x="6589203" y="3335628"/>
            <a:ext cx="3613541" cy="2735906"/>
          </a:xfrm>
          <a:custGeom>
            <a:avLst/>
            <a:gdLst>
              <a:gd name="connsiteX0" fmla="*/ 3340408 w 3613541"/>
              <a:gd name="connsiteY0" fmla="*/ 0 h 2735906"/>
              <a:gd name="connsiteX1" fmla="*/ 3288893 w 3613541"/>
              <a:gd name="connsiteY1" fmla="*/ 2472743 h 2735906"/>
              <a:gd name="connsiteX2" fmla="*/ 94932 w 3613541"/>
              <a:gd name="connsiteY2" fmla="*/ 2550016 h 2735906"/>
              <a:gd name="connsiteX3" fmla="*/ 777512 w 3613541"/>
              <a:gd name="connsiteY3" fmla="*/ 1455312 h 2735906"/>
              <a:gd name="connsiteX4" fmla="*/ 777512 w 3613541"/>
              <a:gd name="connsiteY4" fmla="*/ 1455312 h 273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3541" h="2735906">
                <a:moveTo>
                  <a:pt x="3340408" y="0"/>
                </a:moveTo>
                <a:cubicBezTo>
                  <a:pt x="3585107" y="1023870"/>
                  <a:pt x="3829806" y="2047740"/>
                  <a:pt x="3288893" y="2472743"/>
                </a:cubicBezTo>
                <a:cubicBezTo>
                  <a:pt x="2747980" y="2897746"/>
                  <a:pt x="513495" y="2719588"/>
                  <a:pt x="94932" y="2550016"/>
                </a:cubicBezTo>
                <a:cubicBezTo>
                  <a:pt x="-323631" y="2380444"/>
                  <a:pt x="777512" y="1455312"/>
                  <a:pt x="777512" y="1455312"/>
                </a:cubicBezTo>
                <a:lnTo>
                  <a:pt x="777512" y="1455312"/>
                </a:lnTo>
              </a:path>
            </a:pathLst>
          </a:custGeom>
          <a:noFill/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46" name="Ellipse 78"/>
          <p:cNvSpPr/>
          <p:nvPr/>
        </p:nvSpPr>
        <p:spPr>
          <a:xfrm>
            <a:off x="6220009" y="1788215"/>
            <a:ext cx="4147483" cy="81115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47" name="Rectangle 79"/>
          <p:cNvSpPr/>
          <p:nvPr/>
        </p:nvSpPr>
        <p:spPr>
          <a:xfrm>
            <a:off x="6473280" y="961636"/>
            <a:ext cx="4940107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 électrons de valence</a:t>
            </a:r>
            <a:endParaRPr lang="fr-MA" sz="2400" b="1" dirty="0"/>
          </a:p>
        </p:txBody>
      </p:sp>
      <p:cxnSp>
        <p:nvCxnSpPr>
          <p:cNvPr id="3145741" name="Connecteur droit avec flèche 80"/>
          <p:cNvCxnSpPr>
            <a:cxnSpLocks/>
            <a:endCxn id="1048746" idx="0"/>
          </p:cNvCxnSpPr>
          <p:nvPr/>
        </p:nvCxnSpPr>
        <p:spPr>
          <a:xfrm flipH="1">
            <a:off x="8293751" y="1423301"/>
            <a:ext cx="462015" cy="3649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8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e 3"/>
          <p:cNvGrpSpPr/>
          <p:nvPr/>
        </p:nvGrpSpPr>
        <p:grpSpPr>
          <a:xfrm>
            <a:off x="6069454" y="3561177"/>
            <a:ext cx="689408" cy="504434"/>
            <a:chOff x="3962400" y="2331531"/>
            <a:chExt cx="689408" cy="504434"/>
          </a:xfrm>
        </p:grpSpPr>
        <p:sp>
          <p:nvSpPr>
            <p:cNvPr id="1048749" name="Rectangle 7"/>
            <p:cNvSpPr>
              <a:spLocks noChangeArrowheads="1"/>
            </p:cNvSpPr>
            <p:nvPr/>
          </p:nvSpPr>
          <p:spPr bwMode="auto">
            <a:xfrm flipV="1">
              <a:off x="3962400" y="2453535"/>
              <a:ext cx="17002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|</a:t>
              </a:r>
              <a:endParaRPr kumimoji="0" 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4194307" name="Objet 5"/>
            <p:cNvGraphicFramePr>
              <a:graphicFrameLocks noChangeAspect="1"/>
            </p:cNvGraphicFramePr>
            <p:nvPr/>
          </p:nvGraphicFramePr>
          <p:xfrm>
            <a:off x="4028662" y="2331531"/>
            <a:ext cx="623146" cy="504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Équation" r:id="rId3" imgW="266469" imgH="241091" progId="Equation.3">
                    <p:embed/>
                  </p:oleObj>
                </mc:Choice>
                <mc:Fallback>
                  <p:oleObj name="Équation" r:id="rId3" imgW="266469" imgH="241091" progId="Equation.3">
                    <p:embed/>
                    <p:pic>
                      <p:nvPicPr>
                        <p:cNvPr id="2097162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8662" y="2331531"/>
                          <a:ext cx="623146" cy="5044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8750" name="Rectangle 7"/>
          <p:cNvSpPr/>
          <p:nvPr/>
        </p:nvSpPr>
        <p:spPr>
          <a:xfrm>
            <a:off x="575256" y="1073144"/>
            <a:ext cx="9045262" cy="497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 :	Z = 17		1s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2s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3p</a:t>
            </a:r>
            <a:r>
              <a:rPr lang="fr-FR" sz="24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7 électrons de valence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96" name="Groupe 8"/>
          <p:cNvGrpSpPr/>
          <p:nvPr/>
        </p:nvGrpSpPr>
        <p:grpSpPr>
          <a:xfrm>
            <a:off x="507493" y="2577763"/>
            <a:ext cx="542136" cy="461665"/>
            <a:chOff x="5170104" y="6055457"/>
            <a:chExt cx="542136" cy="461665"/>
          </a:xfrm>
        </p:grpSpPr>
        <p:sp>
          <p:nvSpPr>
            <p:cNvPr id="1048751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52" name="Rectangle 10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97" name="Groupe 11"/>
          <p:cNvGrpSpPr/>
          <p:nvPr/>
        </p:nvGrpSpPr>
        <p:grpSpPr>
          <a:xfrm>
            <a:off x="1132119" y="2577763"/>
            <a:ext cx="542136" cy="461665"/>
            <a:chOff x="5170104" y="6055457"/>
            <a:chExt cx="542136" cy="461665"/>
          </a:xfrm>
        </p:grpSpPr>
        <p:sp>
          <p:nvSpPr>
            <p:cNvPr id="1048753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54" name="Rectangle 13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98" name="Groupe 14"/>
          <p:cNvGrpSpPr/>
          <p:nvPr/>
        </p:nvGrpSpPr>
        <p:grpSpPr>
          <a:xfrm>
            <a:off x="1898868" y="2577763"/>
            <a:ext cx="1500951" cy="465821"/>
            <a:chOff x="4371613" y="4615381"/>
            <a:chExt cx="1500951" cy="465821"/>
          </a:xfrm>
        </p:grpSpPr>
        <p:grpSp>
          <p:nvGrpSpPr>
            <p:cNvPr id="99" name="Groupe 15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755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56" name="Rectangle 22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100" name="Groupe 16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757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58" name="Rectangle 20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759" name="ZoneTexte 17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7"/>
              <a:stretch>
                <a:fillRect l="-3371" r="-2247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60" name="Rectangle 18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101" name="Groupe 23"/>
          <p:cNvGrpSpPr/>
          <p:nvPr/>
        </p:nvGrpSpPr>
        <p:grpSpPr>
          <a:xfrm>
            <a:off x="5389818" y="2493761"/>
            <a:ext cx="542136" cy="461665"/>
            <a:chOff x="5170104" y="6055457"/>
            <a:chExt cx="542136" cy="461665"/>
          </a:xfrm>
        </p:grpSpPr>
        <p:sp>
          <p:nvSpPr>
            <p:cNvPr id="1048761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62" name="Rectangle 25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102" name="Groupe 26"/>
          <p:cNvGrpSpPr/>
          <p:nvPr/>
        </p:nvGrpSpPr>
        <p:grpSpPr>
          <a:xfrm>
            <a:off x="6172089" y="2505420"/>
            <a:ext cx="1462314" cy="465821"/>
            <a:chOff x="4371613" y="4615381"/>
            <a:chExt cx="1462314" cy="465821"/>
          </a:xfrm>
        </p:grpSpPr>
        <p:grpSp>
          <p:nvGrpSpPr>
            <p:cNvPr id="103" name="Groupe 27"/>
            <p:cNvGrpSpPr/>
            <p:nvPr/>
          </p:nvGrpSpPr>
          <p:grpSpPr>
            <a:xfrm>
              <a:off x="4371613" y="4619537"/>
              <a:ext cx="542136" cy="461665"/>
              <a:chOff x="5170104" y="6055457"/>
              <a:chExt cx="542136" cy="461665"/>
            </a:xfrm>
          </p:grpSpPr>
          <p:sp>
            <p:nvSpPr>
              <p:cNvPr id="1048763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64" name="Rectangle 34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104" name="Groupe 28"/>
            <p:cNvGrpSpPr/>
            <p:nvPr/>
          </p:nvGrpSpPr>
          <p:grpSpPr>
            <a:xfrm>
              <a:off x="5330428" y="4615381"/>
              <a:ext cx="503499" cy="461665"/>
              <a:chOff x="5170104" y="6055457"/>
              <a:chExt cx="503499" cy="461665"/>
            </a:xfrm>
          </p:grpSpPr>
          <p:sp>
            <p:nvSpPr>
              <p:cNvPr id="1048765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66" name="Rectangle 32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767" name="ZoneTexte 2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9"/>
              <a:stretch>
                <a:fillRect l="-3371" r="-2247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68" name="Rectangle 30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769" name="Ellipse 35"/>
          <p:cNvSpPr/>
          <p:nvPr/>
        </p:nvSpPr>
        <p:spPr>
          <a:xfrm>
            <a:off x="3302207" y="1083944"/>
            <a:ext cx="1365161" cy="470389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2" name="Connecteur droit avec flèche 37"/>
          <p:cNvCxnSpPr>
            <a:cxnSpLocks/>
            <a:endCxn id="1048770" idx="0"/>
          </p:cNvCxnSpPr>
          <p:nvPr/>
        </p:nvCxnSpPr>
        <p:spPr>
          <a:xfrm flipH="1">
            <a:off x="1955599" y="1554333"/>
            <a:ext cx="1758733" cy="530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70" name="ZoneTexte 38"/>
          <p:cNvSpPr txBox="1"/>
          <p:nvPr/>
        </p:nvSpPr>
        <p:spPr>
          <a:xfrm>
            <a:off x="703236" y="2084684"/>
            <a:ext cx="2735580" cy="447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/>
              <a:t>Électrons de </a:t>
            </a:r>
            <a:r>
              <a:rPr lang="fr-MA" sz="2400" dirty="0" err="1"/>
              <a:t>coeur</a:t>
            </a:r>
            <a:endParaRPr lang="fr-MA" sz="2400" dirty="0"/>
          </a:p>
        </p:txBody>
      </p:sp>
      <p:sp>
        <p:nvSpPr>
          <p:cNvPr id="1048771" name="Ellipse 40"/>
          <p:cNvSpPr/>
          <p:nvPr/>
        </p:nvSpPr>
        <p:spPr>
          <a:xfrm>
            <a:off x="4659706" y="1004957"/>
            <a:ext cx="1495568" cy="5385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72" name="Rectangle 41"/>
          <p:cNvSpPr/>
          <p:nvPr/>
        </p:nvSpPr>
        <p:spPr>
          <a:xfrm>
            <a:off x="5407490" y="1955186"/>
            <a:ext cx="4940107" cy="46166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7 électrons de valence</a:t>
            </a:r>
            <a:endParaRPr lang="fr-MA" sz="2400" b="1" dirty="0"/>
          </a:p>
        </p:txBody>
      </p:sp>
      <p:cxnSp>
        <p:nvCxnSpPr>
          <p:cNvPr id="3145743" name="Connecteur droit avec flèche 42"/>
          <p:cNvCxnSpPr>
            <a:cxnSpLocks/>
          </p:cNvCxnSpPr>
          <p:nvPr/>
        </p:nvCxnSpPr>
        <p:spPr>
          <a:xfrm>
            <a:off x="6155274" y="1534809"/>
            <a:ext cx="281846" cy="4072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73" name="Forme libre 48"/>
          <p:cNvSpPr/>
          <p:nvPr/>
        </p:nvSpPr>
        <p:spPr>
          <a:xfrm>
            <a:off x="5114043" y="2897740"/>
            <a:ext cx="1301250" cy="2178989"/>
          </a:xfrm>
          <a:custGeom>
            <a:avLst/>
            <a:gdLst>
              <a:gd name="connsiteX0" fmla="*/ 488267 w 1301250"/>
              <a:gd name="connsiteY0" fmla="*/ 0 h 2178989"/>
              <a:gd name="connsiteX1" fmla="*/ 24627 w 1301250"/>
              <a:gd name="connsiteY1" fmla="*/ 1944710 h 2178989"/>
              <a:gd name="connsiteX2" fmla="*/ 1157968 w 1301250"/>
              <a:gd name="connsiteY2" fmla="*/ 2060620 h 2178989"/>
              <a:gd name="connsiteX3" fmla="*/ 1248120 w 1301250"/>
              <a:gd name="connsiteY3" fmla="*/ 1184857 h 217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1250" h="2178989">
                <a:moveTo>
                  <a:pt x="488267" y="0"/>
                </a:moveTo>
                <a:cubicBezTo>
                  <a:pt x="200638" y="800636"/>
                  <a:pt x="-86990" y="1601273"/>
                  <a:pt x="24627" y="1944710"/>
                </a:cubicBezTo>
                <a:cubicBezTo>
                  <a:pt x="136244" y="2288147"/>
                  <a:pt x="954053" y="2187262"/>
                  <a:pt x="1157968" y="2060620"/>
                </a:cubicBezTo>
                <a:cubicBezTo>
                  <a:pt x="1361884" y="1933978"/>
                  <a:pt x="1305002" y="1559417"/>
                  <a:pt x="1248120" y="1184857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74" name="Forme libre 49"/>
          <p:cNvSpPr/>
          <p:nvPr/>
        </p:nvSpPr>
        <p:spPr>
          <a:xfrm>
            <a:off x="5578302" y="2897740"/>
            <a:ext cx="796740" cy="1019541"/>
          </a:xfrm>
          <a:custGeom>
            <a:avLst/>
            <a:gdLst>
              <a:gd name="connsiteX0" fmla="*/ 796740 w 796740"/>
              <a:gd name="connsiteY0" fmla="*/ 0 h 1019541"/>
              <a:gd name="connsiteX1" fmla="*/ 75523 w 796740"/>
              <a:gd name="connsiteY1" fmla="*/ 566671 h 1019541"/>
              <a:gd name="connsiteX2" fmla="*/ 62644 w 796740"/>
              <a:gd name="connsiteY2" fmla="*/ 965916 h 1019541"/>
              <a:gd name="connsiteX3" fmla="*/ 436132 w 796740"/>
              <a:gd name="connsiteY3" fmla="*/ 1004553 h 101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740" h="1019541">
                <a:moveTo>
                  <a:pt x="796740" y="0"/>
                </a:moveTo>
                <a:cubicBezTo>
                  <a:pt x="497306" y="202842"/>
                  <a:pt x="197872" y="405685"/>
                  <a:pt x="75523" y="566671"/>
                </a:cubicBezTo>
                <a:cubicBezTo>
                  <a:pt x="-46826" y="727657"/>
                  <a:pt x="2543" y="892936"/>
                  <a:pt x="62644" y="965916"/>
                </a:cubicBezTo>
                <a:cubicBezTo>
                  <a:pt x="122745" y="1038896"/>
                  <a:pt x="279438" y="1021724"/>
                  <a:pt x="436132" y="1004553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75" name="Forme libre 50"/>
          <p:cNvSpPr/>
          <p:nvPr/>
        </p:nvSpPr>
        <p:spPr>
          <a:xfrm>
            <a:off x="6323527" y="2884862"/>
            <a:ext cx="553791" cy="721216"/>
          </a:xfrm>
          <a:custGeom>
            <a:avLst/>
            <a:gdLst>
              <a:gd name="connsiteX0" fmla="*/ 553791 w 553791"/>
              <a:gd name="connsiteY0" fmla="*/ 0 h 721216"/>
              <a:gd name="connsiteX1" fmla="*/ 0 w 553791"/>
              <a:gd name="connsiteY1" fmla="*/ 721216 h 72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3791" h="721216">
                <a:moveTo>
                  <a:pt x="553791" y="0"/>
                </a:moveTo>
                <a:lnTo>
                  <a:pt x="0" y="721216"/>
                </a:ln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76" name="Forme libre 51"/>
          <p:cNvSpPr/>
          <p:nvPr/>
        </p:nvSpPr>
        <p:spPr>
          <a:xfrm>
            <a:off x="6675588" y="2897740"/>
            <a:ext cx="1152718" cy="992839"/>
          </a:xfrm>
          <a:custGeom>
            <a:avLst/>
            <a:gdLst>
              <a:gd name="connsiteX0" fmla="*/ 618186 w 1041140"/>
              <a:gd name="connsiteY0" fmla="*/ 0 h 992839"/>
              <a:gd name="connsiteX1" fmla="*/ 1017431 w 1041140"/>
              <a:gd name="connsiteY1" fmla="*/ 850006 h 992839"/>
              <a:gd name="connsiteX2" fmla="*/ 0 w 1041140"/>
              <a:gd name="connsiteY2" fmla="*/ 991674 h 992839"/>
              <a:gd name="connsiteX3" fmla="*/ 0 w 1041140"/>
              <a:gd name="connsiteY3" fmla="*/ 991674 h 99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1140" h="992839">
                <a:moveTo>
                  <a:pt x="618186" y="0"/>
                </a:moveTo>
                <a:cubicBezTo>
                  <a:pt x="869324" y="342363"/>
                  <a:pt x="1120462" y="684727"/>
                  <a:pt x="1017431" y="850006"/>
                </a:cubicBezTo>
                <a:cubicBezTo>
                  <a:pt x="914400" y="1015285"/>
                  <a:pt x="0" y="991674"/>
                  <a:pt x="0" y="991674"/>
                </a:cubicBezTo>
                <a:lnTo>
                  <a:pt x="0" y="991674"/>
                </a:ln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77" name="ZoneTexte 52"/>
          <p:cNvSpPr txBox="1"/>
          <p:nvPr/>
        </p:nvSpPr>
        <p:spPr>
          <a:xfrm>
            <a:off x="5180818" y="5194787"/>
            <a:ext cx="1605279" cy="447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/>
              <a:t>3 doublets</a:t>
            </a:r>
          </a:p>
        </p:txBody>
      </p:sp>
      <p:sp>
        <p:nvSpPr>
          <p:cNvPr id="1048778" name="ZoneTexte 53"/>
          <p:cNvSpPr txBox="1"/>
          <p:nvPr/>
        </p:nvSpPr>
        <p:spPr>
          <a:xfrm>
            <a:off x="7877543" y="3428914"/>
            <a:ext cx="3040380" cy="44704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dirty="0"/>
              <a:t>1 électron célibataire</a:t>
            </a:r>
          </a:p>
        </p:txBody>
      </p:sp>
      <p:sp>
        <p:nvSpPr>
          <p:cNvPr id="1048779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Objet 6"/>
          <p:cNvGraphicFramePr>
            <a:graphicFrameLocks noChangeAspect="1"/>
          </p:cNvGraphicFramePr>
          <p:nvPr/>
        </p:nvGraphicFramePr>
        <p:xfrm>
          <a:off x="6294551" y="3245477"/>
          <a:ext cx="904739" cy="91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Équation" r:id="rId3" imgW="304536" imgH="304536" progId="Equation.3">
                  <p:embed/>
                </p:oleObj>
              </mc:Choice>
              <mc:Fallback>
                <p:oleObj name="Équation" r:id="rId3" imgW="304536" imgH="304536" progId="Equation.3">
                  <p:embed/>
                  <p:pic>
                    <p:nvPicPr>
                      <p:cNvPr id="2097164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4551" y="3245477"/>
                        <a:ext cx="904739" cy="91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80" name="ZoneTexte 7"/>
          <p:cNvSpPr txBox="1"/>
          <p:nvPr/>
        </p:nvSpPr>
        <p:spPr>
          <a:xfrm>
            <a:off x="798490" y="682580"/>
            <a:ext cx="5237481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: Z = 7                           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fr-FR" sz="20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2p</a:t>
            </a:r>
            <a:r>
              <a:rPr lang="fr-FR" sz="20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fr-MA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6" name="Groupe 8"/>
          <p:cNvGrpSpPr/>
          <p:nvPr/>
        </p:nvGrpSpPr>
        <p:grpSpPr>
          <a:xfrm>
            <a:off x="1550681" y="2293359"/>
            <a:ext cx="542136" cy="461665"/>
            <a:chOff x="5170104" y="6055457"/>
            <a:chExt cx="542136" cy="461665"/>
          </a:xfrm>
        </p:grpSpPr>
        <p:sp>
          <p:nvSpPr>
            <p:cNvPr id="1048781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82" name="Rectangle 10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783" name="Ellipse 11"/>
          <p:cNvSpPr/>
          <p:nvPr/>
        </p:nvSpPr>
        <p:spPr>
          <a:xfrm>
            <a:off x="3263570" y="682580"/>
            <a:ext cx="1365161" cy="470389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4" name="Connecteur droit avec flèche 12"/>
          <p:cNvCxnSpPr>
            <a:cxnSpLocks/>
            <a:endCxn id="1048784" idx="0"/>
          </p:cNvCxnSpPr>
          <p:nvPr/>
        </p:nvCxnSpPr>
        <p:spPr>
          <a:xfrm flipH="1">
            <a:off x="1916962" y="1152969"/>
            <a:ext cx="1758733" cy="530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4" name="ZoneTexte 13"/>
          <p:cNvSpPr txBox="1"/>
          <p:nvPr/>
        </p:nvSpPr>
        <p:spPr>
          <a:xfrm>
            <a:off x="664599" y="1683320"/>
            <a:ext cx="2735580" cy="447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/>
              <a:t>Électrons de </a:t>
            </a:r>
            <a:r>
              <a:rPr lang="fr-MA" sz="2400" dirty="0" err="1"/>
              <a:t>coeur</a:t>
            </a:r>
            <a:endParaRPr lang="fr-MA" sz="2400" dirty="0"/>
          </a:p>
        </p:txBody>
      </p:sp>
      <p:grpSp>
        <p:nvGrpSpPr>
          <p:cNvPr id="107" name="Groupe 14"/>
          <p:cNvGrpSpPr/>
          <p:nvPr/>
        </p:nvGrpSpPr>
        <p:grpSpPr>
          <a:xfrm>
            <a:off x="5752415" y="2171384"/>
            <a:ext cx="542136" cy="461665"/>
            <a:chOff x="5170104" y="6055457"/>
            <a:chExt cx="542136" cy="461665"/>
          </a:xfrm>
        </p:grpSpPr>
        <p:sp>
          <p:nvSpPr>
            <p:cNvPr id="1048785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5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86" name="Rectangle 16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108" name="Groupe 17"/>
          <p:cNvGrpSpPr/>
          <p:nvPr/>
        </p:nvGrpSpPr>
        <p:grpSpPr>
          <a:xfrm>
            <a:off x="6972568" y="2159830"/>
            <a:ext cx="1462314" cy="465821"/>
            <a:chOff x="4371613" y="4615381"/>
            <a:chExt cx="1462314" cy="465821"/>
          </a:xfrm>
        </p:grpSpPr>
        <p:grpSp>
          <p:nvGrpSpPr>
            <p:cNvPr id="109" name="Groupe 18"/>
            <p:cNvGrpSpPr/>
            <p:nvPr/>
          </p:nvGrpSpPr>
          <p:grpSpPr>
            <a:xfrm>
              <a:off x="4371613" y="4619537"/>
              <a:ext cx="503499" cy="461665"/>
              <a:chOff x="5170104" y="6055457"/>
              <a:chExt cx="503499" cy="461665"/>
            </a:xfrm>
          </p:grpSpPr>
          <p:sp>
            <p:nvSpPr>
              <p:cNvPr id="1048787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88" name="Rectangle 25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110" name="Groupe 19"/>
            <p:cNvGrpSpPr/>
            <p:nvPr/>
          </p:nvGrpSpPr>
          <p:grpSpPr>
            <a:xfrm>
              <a:off x="5330428" y="4615381"/>
              <a:ext cx="503499" cy="461665"/>
              <a:chOff x="5170104" y="6055457"/>
              <a:chExt cx="503499" cy="461665"/>
            </a:xfrm>
          </p:grpSpPr>
          <p:sp>
            <p:nvSpPr>
              <p:cNvPr id="1048789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397866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790" name="Rectangle 23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791" name="ZoneTexte 2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397866" cy="461665"/>
            </a:xfrm>
            <a:prstGeom prst="rect">
              <a:avLst/>
            </a:prstGeom>
            <a:blipFill rotWithShape="0">
              <a:blip r:embed="rId8"/>
              <a:stretch>
                <a:fillRect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792" name="Rectangle 21"/>
            <p:cNvSpPr/>
            <p:nvPr/>
          </p:nvSpPr>
          <p:spPr>
            <a:xfrm>
              <a:off x="4884424" y="4628260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793" name="Ellipse 26"/>
          <p:cNvSpPr/>
          <p:nvPr/>
        </p:nvSpPr>
        <p:spPr>
          <a:xfrm>
            <a:off x="5022303" y="682580"/>
            <a:ext cx="1495568" cy="5385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94" name="Rectangle 27"/>
          <p:cNvSpPr/>
          <p:nvPr/>
        </p:nvSpPr>
        <p:spPr>
          <a:xfrm>
            <a:off x="5770088" y="1632809"/>
            <a:ext cx="3000426" cy="80263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 électrons de valence</a:t>
            </a:r>
            <a:endParaRPr lang="fr-MA" sz="2400" b="1" dirty="0"/>
          </a:p>
        </p:txBody>
      </p:sp>
      <p:cxnSp>
        <p:nvCxnSpPr>
          <p:cNvPr id="3145745" name="Connecteur droit avec flèche 28"/>
          <p:cNvCxnSpPr>
            <a:cxnSpLocks/>
          </p:cNvCxnSpPr>
          <p:nvPr/>
        </p:nvCxnSpPr>
        <p:spPr>
          <a:xfrm>
            <a:off x="6517871" y="1212432"/>
            <a:ext cx="281846" cy="4072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95" name="Forme libre 29"/>
          <p:cNvSpPr/>
          <p:nvPr/>
        </p:nvSpPr>
        <p:spPr>
          <a:xfrm>
            <a:off x="6143223" y="2588654"/>
            <a:ext cx="691787" cy="746974"/>
          </a:xfrm>
          <a:custGeom>
            <a:avLst/>
            <a:gdLst>
              <a:gd name="connsiteX0" fmla="*/ 0 w 691787"/>
              <a:gd name="connsiteY0" fmla="*/ 0 h 746974"/>
              <a:gd name="connsiteX1" fmla="*/ 631064 w 691787"/>
              <a:gd name="connsiteY1" fmla="*/ 321971 h 746974"/>
              <a:gd name="connsiteX2" fmla="*/ 631064 w 691787"/>
              <a:gd name="connsiteY2" fmla="*/ 746974 h 74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1787" h="746974">
                <a:moveTo>
                  <a:pt x="0" y="0"/>
                </a:moveTo>
                <a:cubicBezTo>
                  <a:pt x="262943" y="98737"/>
                  <a:pt x="525887" y="197475"/>
                  <a:pt x="631064" y="321971"/>
                </a:cubicBezTo>
                <a:cubicBezTo>
                  <a:pt x="736241" y="446467"/>
                  <a:pt x="683652" y="596720"/>
                  <a:pt x="631064" y="746974"/>
                </a:cubicBezTo>
              </a:path>
            </a:pathLst>
          </a:custGeom>
          <a:noFill/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96" name="Forme libre 30"/>
          <p:cNvSpPr/>
          <p:nvPr/>
        </p:nvSpPr>
        <p:spPr>
          <a:xfrm>
            <a:off x="7160654" y="2588654"/>
            <a:ext cx="310849" cy="1043188"/>
          </a:xfrm>
          <a:custGeom>
            <a:avLst/>
            <a:gdLst>
              <a:gd name="connsiteX0" fmla="*/ 103031 w 310849"/>
              <a:gd name="connsiteY0" fmla="*/ 0 h 1043188"/>
              <a:gd name="connsiteX1" fmla="*/ 309092 w 310849"/>
              <a:gd name="connsiteY1" fmla="*/ 502276 h 1043188"/>
              <a:gd name="connsiteX2" fmla="*/ 0 w 310849"/>
              <a:gd name="connsiteY2" fmla="*/ 1043188 h 1043188"/>
              <a:gd name="connsiteX3" fmla="*/ 0 w 310849"/>
              <a:gd name="connsiteY3" fmla="*/ 1043188 h 1043188"/>
              <a:gd name="connsiteX4" fmla="*/ 0 w 310849"/>
              <a:gd name="connsiteY4" fmla="*/ 1043188 h 1043188"/>
              <a:gd name="connsiteX5" fmla="*/ 0 w 310849"/>
              <a:gd name="connsiteY5" fmla="*/ 1043188 h 104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849" h="1043188">
                <a:moveTo>
                  <a:pt x="103031" y="0"/>
                </a:moveTo>
                <a:cubicBezTo>
                  <a:pt x="214647" y="164205"/>
                  <a:pt x="326264" y="328411"/>
                  <a:pt x="309092" y="502276"/>
                </a:cubicBezTo>
                <a:cubicBezTo>
                  <a:pt x="291920" y="676141"/>
                  <a:pt x="0" y="1043188"/>
                  <a:pt x="0" y="1043188"/>
                </a:cubicBezTo>
                <a:lnTo>
                  <a:pt x="0" y="1043188"/>
                </a:lnTo>
                <a:lnTo>
                  <a:pt x="0" y="1043188"/>
                </a:lnTo>
                <a:lnTo>
                  <a:pt x="0" y="1043188"/>
                </a:ln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97" name="Forme libre 31"/>
          <p:cNvSpPr/>
          <p:nvPr/>
        </p:nvSpPr>
        <p:spPr>
          <a:xfrm>
            <a:off x="6748530" y="2562896"/>
            <a:ext cx="1216608" cy="1798218"/>
          </a:xfrm>
          <a:custGeom>
            <a:avLst/>
            <a:gdLst>
              <a:gd name="connsiteX0" fmla="*/ 965915 w 1216608"/>
              <a:gd name="connsiteY0" fmla="*/ 0 h 1798218"/>
              <a:gd name="connsiteX1" fmla="*/ 1171977 w 1216608"/>
              <a:gd name="connsiteY1" fmla="*/ 708338 h 1798218"/>
              <a:gd name="connsiteX2" fmla="*/ 206062 w 1216608"/>
              <a:gd name="connsiteY2" fmla="*/ 1751527 h 1798218"/>
              <a:gd name="connsiteX3" fmla="*/ 0 w 1216608"/>
              <a:gd name="connsiteY3" fmla="*/ 1519707 h 1798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608" h="1798218">
                <a:moveTo>
                  <a:pt x="965915" y="0"/>
                </a:moveTo>
                <a:cubicBezTo>
                  <a:pt x="1132267" y="208208"/>
                  <a:pt x="1298619" y="416417"/>
                  <a:pt x="1171977" y="708338"/>
                </a:cubicBezTo>
                <a:cubicBezTo>
                  <a:pt x="1045335" y="1000259"/>
                  <a:pt x="401392" y="1616299"/>
                  <a:pt x="206062" y="1751527"/>
                </a:cubicBezTo>
                <a:cubicBezTo>
                  <a:pt x="10732" y="1886755"/>
                  <a:pt x="5366" y="1703231"/>
                  <a:pt x="0" y="1519707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98" name="Forme libre 32"/>
          <p:cNvSpPr/>
          <p:nvPr/>
        </p:nvSpPr>
        <p:spPr>
          <a:xfrm>
            <a:off x="6423860" y="2550017"/>
            <a:ext cx="2144309" cy="2311281"/>
          </a:xfrm>
          <a:custGeom>
            <a:avLst/>
            <a:gdLst>
              <a:gd name="connsiteX0" fmla="*/ 1818619 w 2144309"/>
              <a:gd name="connsiteY0" fmla="*/ 0 h 2311281"/>
              <a:gd name="connsiteX1" fmla="*/ 2037560 w 2144309"/>
              <a:gd name="connsiteY1" fmla="*/ 489397 h 2311281"/>
              <a:gd name="connsiteX2" fmla="*/ 324670 w 2144309"/>
              <a:gd name="connsiteY2" fmla="*/ 2292439 h 2311281"/>
              <a:gd name="connsiteX3" fmla="*/ 2698 w 2144309"/>
              <a:gd name="connsiteY3" fmla="*/ 1275008 h 2311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4309" h="2311281">
                <a:moveTo>
                  <a:pt x="1818619" y="0"/>
                </a:moveTo>
                <a:cubicBezTo>
                  <a:pt x="2052585" y="53662"/>
                  <a:pt x="2286551" y="107324"/>
                  <a:pt x="2037560" y="489397"/>
                </a:cubicBezTo>
                <a:cubicBezTo>
                  <a:pt x="1788569" y="871470"/>
                  <a:pt x="663814" y="2161504"/>
                  <a:pt x="324670" y="2292439"/>
                </a:cubicBezTo>
                <a:cubicBezTo>
                  <a:pt x="-14474" y="2423374"/>
                  <a:pt x="-5888" y="1849191"/>
                  <a:pt x="2698" y="1275008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799" name="ZoneTexte 33"/>
          <p:cNvSpPr txBox="1"/>
          <p:nvPr/>
        </p:nvSpPr>
        <p:spPr>
          <a:xfrm>
            <a:off x="4784031" y="2813501"/>
            <a:ext cx="1452879" cy="4470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fr-MA" sz="2400" dirty="0">
                <a:solidFill>
                  <a:srgbClr val="00B0F0"/>
                </a:solidFill>
              </a:rPr>
              <a:t>1 doublet</a:t>
            </a:r>
          </a:p>
        </p:txBody>
      </p:sp>
      <p:sp>
        <p:nvSpPr>
          <p:cNvPr id="1048800" name="ZoneTexte 34"/>
          <p:cNvSpPr txBox="1"/>
          <p:nvPr/>
        </p:nvSpPr>
        <p:spPr>
          <a:xfrm>
            <a:off x="8329249" y="3231172"/>
            <a:ext cx="3345180" cy="44704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MA" sz="2400" dirty="0"/>
              <a:t>3 électrons célibataires</a:t>
            </a:r>
          </a:p>
        </p:txBody>
      </p:sp>
      <p:sp>
        <p:nvSpPr>
          <p:cNvPr id="1048801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ZoneText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8" y="1931830"/>
            <a:ext cx="1713546" cy="523220"/>
          </a:xfrm>
          <a:prstGeom prst="rect">
            <a:avLst/>
          </a:prstGeom>
          <a:blipFill rotWithShape="0">
            <a:blip r:embed="rId3"/>
            <a:stretch>
              <a:fillRect l="-6050" t="-11628" b="-325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grpSp>
        <p:nvGrpSpPr>
          <p:cNvPr id="112" name="Groupe 5"/>
          <p:cNvGrpSpPr/>
          <p:nvPr/>
        </p:nvGrpSpPr>
        <p:grpSpPr>
          <a:xfrm>
            <a:off x="3217015" y="1978428"/>
            <a:ext cx="542136" cy="461665"/>
            <a:chOff x="5170104" y="6055457"/>
            <a:chExt cx="542136" cy="461665"/>
          </a:xfrm>
        </p:grpSpPr>
        <p:sp>
          <p:nvSpPr>
            <p:cNvPr id="1048803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4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804" name="Rectangle 19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113" name="Groupe 6"/>
          <p:cNvGrpSpPr/>
          <p:nvPr/>
        </p:nvGrpSpPr>
        <p:grpSpPr>
          <a:xfrm>
            <a:off x="4857186" y="1989229"/>
            <a:ext cx="542136" cy="461665"/>
            <a:chOff x="5170104" y="6055457"/>
            <a:chExt cx="542136" cy="461665"/>
          </a:xfrm>
        </p:grpSpPr>
        <p:sp>
          <p:nvSpPr>
            <p:cNvPr id="1048805" name="ZoneTexte 1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170104" y="6055457"/>
              <a:ext cx="542136" cy="461665"/>
            </a:xfrm>
            <a:prstGeom prst="rect">
              <a:avLst/>
            </a:prstGeom>
            <a:blipFill rotWithShape="0">
              <a:blip r:embed="rId4"/>
              <a:stretch>
                <a:fillRect l="-4494" r="-1124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806" name="Rectangle 17"/>
            <p:cNvSpPr/>
            <p:nvPr/>
          </p:nvSpPr>
          <p:spPr>
            <a:xfrm>
              <a:off x="5196666" y="6066258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grpSp>
        <p:nvGrpSpPr>
          <p:cNvPr id="114" name="Groupe 7"/>
          <p:cNvGrpSpPr/>
          <p:nvPr/>
        </p:nvGrpSpPr>
        <p:grpSpPr>
          <a:xfrm>
            <a:off x="5701210" y="1989229"/>
            <a:ext cx="1500950" cy="465821"/>
            <a:chOff x="4371614" y="4615381"/>
            <a:chExt cx="1500950" cy="465821"/>
          </a:xfrm>
        </p:grpSpPr>
        <p:grpSp>
          <p:nvGrpSpPr>
            <p:cNvPr id="115" name="Groupe 8"/>
            <p:cNvGrpSpPr/>
            <p:nvPr/>
          </p:nvGrpSpPr>
          <p:grpSpPr>
            <a:xfrm>
              <a:off x="4371614" y="4619537"/>
              <a:ext cx="542135" cy="461665"/>
              <a:chOff x="5170105" y="6055457"/>
              <a:chExt cx="542135" cy="461665"/>
            </a:xfrm>
          </p:grpSpPr>
          <p:sp>
            <p:nvSpPr>
              <p:cNvPr id="1048807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4494" r="-112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808" name="Rectangle 15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grpSp>
          <p:nvGrpSpPr>
            <p:cNvPr id="116" name="Groupe 9"/>
            <p:cNvGrpSpPr/>
            <p:nvPr/>
          </p:nvGrpSpPr>
          <p:grpSpPr>
            <a:xfrm>
              <a:off x="5330428" y="4615381"/>
              <a:ext cx="542136" cy="461665"/>
              <a:chOff x="5170104" y="6055457"/>
              <a:chExt cx="542136" cy="461665"/>
            </a:xfrm>
          </p:grpSpPr>
          <p:sp>
            <p:nvSpPr>
              <p:cNvPr id="1048809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4" y="6055457"/>
                <a:ext cx="54213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545" r="-2273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  <p:sp>
            <p:nvSpPr>
              <p:cNvPr id="1048810" name="Rectangle 13"/>
              <p:cNvSpPr/>
              <p:nvPr/>
            </p:nvSpPr>
            <p:spPr>
              <a:xfrm>
                <a:off x="5196666" y="6066258"/>
                <a:ext cx="476937" cy="3826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sz="2400"/>
              </a:p>
            </p:txBody>
          </p:sp>
        </p:grpSp>
        <p:sp>
          <p:nvSpPr>
            <p:cNvPr id="1048811" name="ZoneTexte 1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857862" y="4617459"/>
              <a:ext cx="542136" cy="461665"/>
            </a:xfrm>
            <a:prstGeom prst="rect">
              <a:avLst/>
            </a:prstGeom>
            <a:blipFill rotWithShape="0">
              <a:blip r:embed="rId6"/>
              <a:stretch>
                <a:fillRect l="-3371" r="-2247"/>
              </a:stretch>
            </a:blipFill>
          </p:spPr>
          <p:txBody>
            <a:bodyPr/>
            <a:lstStyle/>
            <a:p>
              <a:r>
                <a:rPr lang="fr-MA">
                  <a:noFill/>
                </a:rPr>
                <a:t> </a:t>
              </a:r>
            </a:p>
          </p:txBody>
        </p:sp>
        <p:sp>
          <p:nvSpPr>
            <p:cNvPr id="1048812" name="Rectangle 11"/>
            <p:cNvSpPr/>
            <p:nvPr/>
          </p:nvSpPr>
          <p:spPr>
            <a:xfrm>
              <a:off x="4869508" y="4628627"/>
              <a:ext cx="476937" cy="3826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 sz="2400"/>
            </a:p>
          </p:txBody>
        </p:sp>
      </p:grpSp>
      <p:sp>
        <p:nvSpPr>
          <p:cNvPr id="1048813" name="Rectangle 2"/>
          <p:cNvSpPr>
            <a:spLocks noChangeArrowheads="1"/>
          </p:cNvSpPr>
          <p:nvPr/>
        </p:nvSpPr>
        <p:spPr bwMode="auto">
          <a:xfrm>
            <a:off x="4813993" y="3785957"/>
            <a:ext cx="160658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|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194309" name="Objet 22"/>
          <p:cNvGraphicFramePr>
            <a:graphicFrameLocks noChangeAspect="1"/>
          </p:cNvGraphicFramePr>
          <p:nvPr/>
        </p:nvGraphicFramePr>
        <p:xfrm>
          <a:off x="4939974" y="3737660"/>
          <a:ext cx="396073" cy="56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Équation" r:id="rId7" imgW="152334" imgH="241195" progId="Equation.3">
                  <p:embed/>
                </p:oleObj>
              </mc:Choice>
              <mc:Fallback>
                <p:oleObj name="Équation" r:id="rId7" imgW="152334" imgH="241195" progId="Equation.3">
                  <p:embed/>
                  <p:pic>
                    <p:nvPicPr>
                      <p:cNvPr id="209716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974" y="3737660"/>
                        <a:ext cx="396073" cy="5666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14" name="Rectangle 3"/>
          <p:cNvSpPr>
            <a:spLocks noChangeArrowheads="1"/>
          </p:cNvSpPr>
          <p:nvPr/>
        </p:nvSpPr>
        <p:spPr bwMode="auto">
          <a:xfrm>
            <a:off x="5200271" y="3759183"/>
            <a:ext cx="500939" cy="434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|</a:t>
            </a:r>
            <a:r>
              <a:rPr kumimoji="0" lang="fr-FR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2–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815" name="Ellipse 25"/>
          <p:cNvSpPr/>
          <p:nvPr/>
        </p:nvSpPr>
        <p:spPr>
          <a:xfrm>
            <a:off x="4510926" y="1831740"/>
            <a:ext cx="2910625" cy="719256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16" name="ZoneTexte 26"/>
          <p:cNvSpPr txBox="1"/>
          <p:nvPr/>
        </p:nvSpPr>
        <p:spPr>
          <a:xfrm>
            <a:off x="5173770" y="2894177"/>
            <a:ext cx="1846580" cy="51054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fr-MA" sz="2800" dirty="0"/>
              <a:t>4 doublets</a:t>
            </a:r>
          </a:p>
        </p:txBody>
      </p:sp>
      <p:cxnSp>
        <p:nvCxnSpPr>
          <p:cNvPr id="3145746" name="Connecteur droit avec flèche 28"/>
          <p:cNvCxnSpPr>
            <a:cxnSpLocks/>
          </p:cNvCxnSpPr>
          <p:nvPr/>
        </p:nvCxnSpPr>
        <p:spPr>
          <a:xfrm flipV="1">
            <a:off x="5727771" y="2550996"/>
            <a:ext cx="0" cy="34318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17" name="Forme libre 32"/>
          <p:cNvSpPr/>
          <p:nvPr/>
        </p:nvSpPr>
        <p:spPr>
          <a:xfrm>
            <a:off x="4346702" y="3034158"/>
            <a:ext cx="827068" cy="945414"/>
          </a:xfrm>
          <a:custGeom>
            <a:avLst/>
            <a:gdLst>
              <a:gd name="connsiteX0" fmla="*/ 804847 w 804847"/>
              <a:gd name="connsiteY0" fmla="*/ 0 h 746975"/>
              <a:gd name="connsiteX1" fmla="*/ 6357 w 804847"/>
              <a:gd name="connsiteY1" fmla="*/ 566670 h 746975"/>
              <a:gd name="connsiteX2" fmla="*/ 495754 w 804847"/>
              <a:gd name="connsiteY2" fmla="*/ 746975 h 74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4847" h="746975">
                <a:moveTo>
                  <a:pt x="804847" y="0"/>
                </a:moveTo>
                <a:cubicBezTo>
                  <a:pt x="431359" y="221087"/>
                  <a:pt x="57872" y="442174"/>
                  <a:pt x="6357" y="566670"/>
                </a:cubicBezTo>
                <a:cubicBezTo>
                  <a:pt x="-45158" y="691166"/>
                  <a:pt x="225298" y="719070"/>
                  <a:pt x="495754" y="746975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18" name="Forme libre 33"/>
          <p:cNvSpPr/>
          <p:nvPr/>
        </p:nvSpPr>
        <p:spPr>
          <a:xfrm>
            <a:off x="5032014" y="3377338"/>
            <a:ext cx="1374912" cy="1469862"/>
          </a:xfrm>
          <a:custGeom>
            <a:avLst/>
            <a:gdLst>
              <a:gd name="connsiteX0" fmla="*/ 1265755 w 1374912"/>
              <a:gd name="connsiteY0" fmla="*/ 48441 h 1469862"/>
              <a:gd name="connsiteX1" fmla="*/ 1330149 w 1374912"/>
              <a:gd name="connsiteY1" fmla="*/ 138593 h 1469862"/>
              <a:gd name="connsiteX2" fmla="*/ 1265755 w 1374912"/>
              <a:gd name="connsiteY2" fmla="*/ 1220419 h 1469862"/>
              <a:gd name="connsiteX3" fmla="*/ 132414 w 1374912"/>
              <a:gd name="connsiteY3" fmla="*/ 1452238 h 1469862"/>
              <a:gd name="connsiteX4" fmla="*/ 68020 w 1374912"/>
              <a:gd name="connsiteY4" fmla="*/ 898447 h 146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4912" h="1469862">
                <a:moveTo>
                  <a:pt x="1265755" y="48441"/>
                </a:moveTo>
                <a:cubicBezTo>
                  <a:pt x="1297952" y="-4148"/>
                  <a:pt x="1330149" y="-56737"/>
                  <a:pt x="1330149" y="138593"/>
                </a:cubicBezTo>
                <a:cubicBezTo>
                  <a:pt x="1330149" y="333923"/>
                  <a:pt x="1465377" y="1001478"/>
                  <a:pt x="1265755" y="1220419"/>
                </a:cubicBezTo>
                <a:cubicBezTo>
                  <a:pt x="1066133" y="1439360"/>
                  <a:pt x="332037" y="1505900"/>
                  <a:pt x="132414" y="1452238"/>
                </a:cubicBezTo>
                <a:cubicBezTo>
                  <a:pt x="-67209" y="1398576"/>
                  <a:pt x="405" y="1148511"/>
                  <a:pt x="68020" y="898447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19" name="Forme libre 34"/>
          <p:cNvSpPr/>
          <p:nvPr/>
        </p:nvSpPr>
        <p:spPr>
          <a:xfrm>
            <a:off x="5072758" y="3438658"/>
            <a:ext cx="297732" cy="391612"/>
          </a:xfrm>
          <a:custGeom>
            <a:avLst/>
            <a:gdLst>
              <a:gd name="connsiteX0" fmla="*/ 297732 w 297732"/>
              <a:gd name="connsiteY0" fmla="*/ 0 h 391612"/>
              <a:gd name="connsiteX1" fmla="*/ 14397 w 297732"/>
              <a:gd name="connsiteY1" fmla="*/ 128789 h 391612"/>
              <a:gd name="connsiteX2" fmla="*/ 40155 w 297732"/>
              <a:gd name="connsiteY2" fmla="*/ 373487 h 391612"/>
              <a:gd name="connsiteX3" fmla="*/ 27276 w 297732"/>
              <a:gd name="connsiteY3" fmla="*/ 373487 h 391612"/>
              <a:gd name="connsiteX4" fmla="*/ 27276 w 297732"/>
              <a:gd name="connsiteY4" fmla="*/ 373487 h 39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732" h="391612">
                <a:moveTo>
                  <a:pt x="297732" y="0"/>
                </a:moveTo>
                <a:cubicBezTo>
                  <a:pt x="177529" y="33270"/>
                  <a:pt x="57326" y="66541"/>
                  <a:pt x="14397" y="128789"/>
                </a:cubicBezTo>
                <a:cubicBezTo>
                  <a:pt x="-28532" y="191037"/>
                  <a:pt x="38009" y="332704"/>
                  <a:pt x="40155" y="373487"/>
                </a:cubicBezTo>
                <a:cubicBezTo>
                  <a:pt x="42301" y="414270"/>
                  <a:pt x="27276" y="373487"/>
                  <a:pt x="27276" y="373487"/>
                </a:cubicBezTo>
                <a:lnTo>
                  <a:pt x="27276" y="373487"/>
                </a:ln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20" name="Forme libre 35"/>
          <p:cNvSpPr/>
          <p:nvPr/>
        </p:nvSpPr>
        <p:spPr>
          <a:xfrm>
            <a:off x="5370490" y="3425779"/>
            <a:ext cx="749878" cy="717425"/>
          </a:xfrm>
          <a:custGeom>
            <a:avLst/>
            <a:gdLst>
              <a:gd name="connsiteX0" fmla="*/ 605307 w 749878"/>
              <a:gd name="connsiteY0" fmla="*/ 0 h 717425"/>
              <a:gd name="connsiteX1" fmla="*/ 708338 w 749878"/>
              <a:gd name="connsiteY1" fmla="*/ 631065 h 717425"/>
              <a:gd name="connsiteX2" fmla="*/ 0 w 749878"/>
              <a:gd name="connsiteY2" fmla="*/ 695459 h 71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9878" h="717425">
                <a:moveTo>
                  <a:pt x="605307" y="0"/>
                </a:moveTo>
                <a:cubicBezTo>
                  <a:pt x="707265" y="257577"/>
                  <a:pt x="809223" y="515155"/>
                  <a:pt x="708338" y="631065"/>
                </a:cubicBezTo>
                <a:cubicBezTo>
                  <a:pt x="607454" y="746975"/>
                  <a:pt x="303727" y="721217"/>
                  <a:pt x="0" y="695459"/>
                </a:cubicBezTo>
              </a:path>
            </a:pathLst>
          </a:custGeom>
          <a:noFill/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21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Rectangle 4"/>
          <p:cNvSpPr/>
          <p:nvPr/>
        </p:nvSpPr>
        <p:spPr>
          <a:xfrm>
            <a:off x="489590" y="184841"/>
            <a:ext cx="6046271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dirty="0">
                <a:latin typeface="AR BLANCA" panose="02000000000000000000" pitchFamily="2" charset="0"/>
                <a:ea typeface="Times New Roman" panose="02020603050405020304" pitchFamily="18" charset="0"/>
              </a:rPr>
              <a:t>3.3. Retour sur la classification périodique</a:t>
            </a:r>
            <a:endParaRPr lang="fr-MA" sz="3200" dirty="0">
              <a:latin typeface="AR BLANCA" panose="02000000000000000000" pitchFamily="2" charset="0"/>
            </a:endParaRPr>
          </a:p>
        </p:txBody>
      </p:sp>
      <p:sp>
        <p:nvSpPr>
          <p:cNvPr id="1048823" name="Rectangle 5"/>
          <p:cNvSpPr/>
          <p:nvPr/>
        </p:nvSpPr>
        <p:spPr>
          <a:xfrm>
            <a:off x="437882" y="916426"/>
            <a:ext cx="111788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connaissance de la structure électronique des atomes permet de justifier l'existence de familles d'éléments chimiques</a:t>
            </a:r>
            <a:endParaRPr lang="fr-MA" sz="2000" dirty="0"/>
          </a:p>
        </p:txBody>
      </p:sp>
      <p:sp>
        <p:nvSpPr>
          <p:cNvPr id="1048824" name="Rectangle 6"/>
          <p:cNvSpPr/>
          <p:nvPr/>
        </p:nvSpPr>
        <p:spPr>
          <a:xfrm>
            <a:off x="489590" y="1771122"/>
            <a:ext cx="11127153" cy="1412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Les éléments d'une même famille d'éléments chimiques ont une structure électronique semblable pour leur couche périphérique (et éventuellement pour la sous-couche partiellement occupée de leur couche sous-jacente. </a:t>
            </a: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C'est pourquoi leurs propriétés chimiques sont voisines</a:t>
            </a: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fr-MA" sz="2000" dirty="0"/>
          </a:p>
        </p:txBody>
      </p:sp>
      <p:sp>
        <p:nvSpPr>
          <p:cNvPr id="1048825" name="Rectangle 7"/>
          <p:cNvSpPr/>
          <p:nvPr/>
        </p:nvSpPr>
        <p:spPr>
          <a:xfrm>
            <a:off x="3742880" y="3883684"/>
            <a:ext cx="6096000" cy="2834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Gaz nobles :	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Halogènes :  	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Chalcogènes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	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  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de l'azote :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du carbone :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du bore :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np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Alcalino-terreux :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         	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Alcalins :		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826" name="Rectangle 8"/>
          <p:cNvSpPr/>
          <p:nvPr/>
        </p:nvSpPr>
        <p:spPr>
          <a:xfrm>
            <a:off x="437881" y="2907886"/>
            <a:ext cx="95432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 notant n le nombre quantique principal de la couche périphérique : </a:t>
            </a:r>
            <a:endParaRPr lang="fr-MA" sz="2000" dirty="0"/>
          </a:p>
        </p:txBody>
      </p:sp>
      <p:sp>
        <p:nvSpPr>
          <p:cNvPr id="1048827" name="Rectangle 9"/>
          <p:cNvSpPr/>
          <p:nvPr/>
        </p:nvSpPr>
        <p:spPr>
          <a:xfrm>
            <a:off x="437881" y="3362473"/>
            <a:ext cx="11178862" cy="739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Familles des colonnes principales (1, 2, 13, 14, 15, 16, 17, 18) avec (n–1)d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si cette sous couche existe (c'est-à-dire si n &gt; 4) 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828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08" y="231821"/>
            <a:ext cx="10772774" cy="612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1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  <p:extLst>
      <p:ext uri="{BB962C8B-B14F-4D97-AF65-F5344CB8AC3E}">
        <p14:creationId xmlns:p14="http://schemas.microsoft.com/office/powerpoint/2010/main" val="3449323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ZoneTexte 3"/>
          <p:cNvSpPr txBox="1"/>
          <p:nvPr/>
        </p:nvSpPr>
        <p:spPr>
          <a:xfrm>
            <a:off x="656823" y="450760"/>
            <a:ext cx="58216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Autres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familles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(colonnes 3, 11, 12) avec n &gt; 4 :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M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3" name="Rectangle 4"/>
          <p:cNvSpPr/>
          <p:nvPr/>
        </p:nvSpPr>
        <p:spPr>
          <a:xfrm>
            <a:off x="1605566" y="1022625"/>
            <a:ext cx="6096000" cy="11201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du zinc :		... (n–1)d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du cuivre :		... (n–1)d</a:t>
            </a:r>
            <a:r>
              <a:rPr lang="fr-FR" sz="2000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hangingPunct="0"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Famille du scandium :	...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(n–1)d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ns</a:t>
            </a:r>
            <a:r>
              <a:rPr lang="fr-FR" sz="2000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834" name="Rectangle 5"/>
          <p:cNvSpPr/>
          <p:nvPr/>
        </p:nvSpPr>
        <p:spPr>
          <a:xfrm>
            <a:off x="623943" y="2577595"/>
            <a:ext cx="110629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 particularité des éléments de la famille des gaz nobles est d'avoir toutes leurs sous-couches non vides saturées et une couche périphérique saturée  (provisoirement) de 8 électrons. Cette configuration électronique donne donc une grande stabilité à l'atome c'est-à-dire une quasi absence de réactivité chimique.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835" name="Rectangle 6"/>
          <p:cNvSpPr/>
          <p:nvPr/>
        </p:nvSpPr>
        <p:spPr>
          <a:xfrm>
            <a:off x="640383" y="4656287"/>
            <a:ext cx="110465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hangingPunct="0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On peut remarquer que toutes les sous-couches non vides des éléments des familles du zinc et  des alcalino-terreux sont aussi saturées mais qu'ils sont bien plus réactifs que les gaz nobles; ils n'ont pas 8 électrons sur leur couche périphérique.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836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28034" y="115910"/>
            <a:ext cx="155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u="sng" dirty="0"/>
              <a:t>Application 1</a:t>
            </a:r>
            <a:endParaRPr lang="es-ES" u="sng" dirty="0"/>
          </a:p>
        </p:txBody>
      </p:sp>
      <p:sp>
        <p:nvSpPr>
          <p:cNvPr id="6" name="Rectangle 5"/>
          <p:cNvSpPr/>
          <p:nvPr/>
        </p:nvSpPr>
        <p:spPr>
          <a:xfrm>
            <a:off x="652529" y="516020"/>
            <a:ext cx="10886941" cy="1064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MA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Etablir les configurations électroniques des atomes suivants. Vérifier le résultat obtenus sur une classification périodique. Justifier les éventuelles anomalies.</a:t>
            </a: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fr-MA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Ca (Z=20) - Fe(Z=26) - Br(Z=35) - Cs(Z=55) - Cr (Z=24) - Mo (Z=42) - Au (Z=79)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974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02276" y="216375"/>
            <a:ext cx="155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u="sng" dirty="0"/>
              <a:t>Application 2</a:t>
            </a:r>
            <a:endParaRPr lang="es-ES" u="sng" dirty="0"/>
          </a:p>
        </p:txBody>
      </p:sp>
      <p:sp>
        <p:nvSpPr>
          <p:cNvPr id="6" name="Rectangle 5"/>
          <p:cNvSpPr/>
          <p:nvPr/>
        </p:nvSpPr>
        <p:spPr>
          <a:xfrm>
            <a:off x="626770" y="726777"/>
            <a:ext cx="108869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MA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 élément a moins de 18 électrons et possède 2 électrons célibataires. Quelles sont les configurations électroniques possibles pour cet élément ? Quel est cet élément sachant qu'il appartient a la période du lithium(3) et au groupe de l’étain(50).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5929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  <p:extLst>
      <p:ext uri="{BB962C8B-B14F-4D97-AF65-F5344CB8AC3E}">
        <p14:creationId xmlns:p14="http://schemas.microsoft.com/office/powerpoint/2010/main" val="1210973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1391" y="606715"/>
            <a:ext cx="11389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Le spectre de l’atome d’hydrogène peut se décomposer en plusieurs séries de raies nommées pour les quatre premières : séries de Lyman ; de Balmer ; de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Paschen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et de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Pfund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a) Expliquer a quoi correspondent ces diverses séries.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b) Les longueurs d’onde des raies de chaque série sont comprises entre deux valeurs limites. A quoi correspondent ces deux limites ?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c) Donner une formule générale permettant le calcul de ces deux limites.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d) Calculer les longueurs d’ondes limites des séries de Lyman, Balmer , de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Paschen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et de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Pfund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fr-F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e) Attribuer a chaque </a:t>
            </a:r>
            <a:r>
              <a:rPr lang="fr-FR" dirty="0" err="1">
                <a:solidFill>
                  <a:srgbClr val="000000"/>
                </a:solidFill>
                <a:latin typeface="Arial" panose="020B0604020202020204" pitchFamily="34" charset="0"/>
              </a:rPr>
              <a:t>serie</a:t>
            </a:r>
            <a:r>
              <a:rPr lang="fr-FR" dirty="0">
                <a:solidFill>
                  <a:srgbClr val="000000"/>
                </a:solidFill>
                <a:latin typeface="Arial" panose="020B0604020202020204" pitchFamily="34" charset="0"/>
              </a:rPr>
              <a:t> son domaine spectral (U.V ; Visible ; I.R).</a:t>
            </a:r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28034" y="231529"/>
            <a:ext cx="155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u="sng" dirty="0"/>
              <a:t>Application 3</a:t>
            </a:r>
            <a:endParaRPr lang="es-ES" u="sng" dirty="0"/>
          </a:p>
        </p:txBody>
      </p:sp>
    </p:spTree>
    <p:extLst>
      <p:ext uri="{BB962C8B-B14F-4D97-AF65-F5344CB8AC3E}">
        <p14:creationId xmlns:p14="http://schemas.microsoft.com/office/powerpoint/2010/main" val="3019208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  <p:extLst>
      <p:ext uri="{BB962C8B-B14F-4D97-AF65-F5344CB8AC3E}">
        <p14:creationId xmlns:p14="http://schemas.microsoft.com/office/powerpoint/2010/main" val="3823411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61448" y="498229"/>
            <a:ext cx="11469103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Soit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X, Y, Z et W.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sait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que ces 4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sont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situés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dans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les 3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premières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lignes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 la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classification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périodique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donne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les 5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premières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nergies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d’ionisation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(en eV) de ces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quatre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MA" altLang="es-ES" sz="1600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MA" altLang="es-E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MA" altLang="es-E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MA" altLang="es-E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MA" altLang="es-E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MA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MA" altLang="es-E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1)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Identifiez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chacun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 ces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colonne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dans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classification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2)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un de ces 4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peut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sans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hésitation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attribuer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aussi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ligne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dans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classification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 De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quel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s’agit-il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?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Donner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son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symbole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chimique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et son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nom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3) Les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deux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Y et Z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appartiennent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a un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même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groupe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 la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classification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le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rayon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atomique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 Y et plus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petit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que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celui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 Z?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Attribuer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à ces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deux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atomes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leur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symbole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et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leur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nom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4)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Enfin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l’attribution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certaine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d’une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ligne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est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difficile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un de ces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Lequel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?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Proposer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cet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lément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les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deux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possibilités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son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symbole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et son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nom.Pour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lever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l’indétermination</a:t>
            </a:r>
            <a:r>
              <a:rPr lang="es-ES" altLang="es-ES" sz="16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on</a:t>
            </a:r>
            <a:r>
              <a:rPr lang="es-ES" altLang="es-ES" sz="16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altLang="es-ES" sz="1600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donne</a:t>
            </a:r>
            <a:r>
              <a:rPr lang="es-ES" altLang="es-ES" sz="16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EI</a:t>
            </a:r>
            <a:r>
              <a:rPr lang="es-ES" altLang="es-ES" sz="1600" baseline="-250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altLang="es-ES" sz="16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(AL)=10,7eV.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094" y="1604447"/>
            <a:ext cx="5889246" cy="224330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515155" y="283335"/>
            <a:ext cx="1414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Application 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899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MA"/>
              <a:t>O.Azagrouze</a:t>
            </a:r>
          </a:p>
        </p:txBody>
      </p:sp>
    </p:spTree>
    <p:extLst>
      <p:ext uri="{BB962C8B-B14F-4D97-AF65-F5344CB8AC3E}">
        <p14:creationId xmlns:p14="http://schemas.microsoft.com/office/powerpoint/2010/main" val="14189228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2340</Words>
  <Application>Microsoft Office PowerPoint</Application>
  <PresentationFormat>Widescreen</PresentationFormat>
  <Paragraphs>265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 BLANCA</vt:lpstr>
      <vt:lpstr>Arial</vt:lpstr>
      <vt:lpstr>Calibri</vt:lpstr>
      <vt:lpstr>Calibri Light</vt:lpstr>
      <vt:lpstr>Cambria Math</vt:lpstr>
      <vt:lpstr>Times New Roman</vt:lpstr>
      <vt:lpstr>Wingdings</vt:lpstr>
      <vt:lpstr>Thème Office</vt:lpstr>
      <vt:lpstr>Équation</vt:lpstr>
      <vt:lpstr>L’atome poly-électronique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L’atome polyélectronique</dc:title>
  <dc:creator>Azagrouze</dc:creator>
  <cp:lastModifiedBy>Ossama Azagrouze</cp:lastModifiedBy>
  <cp:revision>12</cp:revision>
  <dcterms:created xsi:type="dcterms:W3CDTF">2015-10-22T06:02:46Z</dcterms:created>
  <dcterms:modified xsi:type="dcterms:W3CDTF">2026-01-15T09:06:50Z</dcterms:modified>
</cp:coreProperties>
</file>