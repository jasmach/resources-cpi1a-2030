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94" r:id="rId30"/>
    <p:sldId id="299" r:id="rId31"/>
    <p:sldId id="297" r:id="rId32"/>
    <p:sldId id="300" r:id="rId33"/>
    <p:sldId id="301" r:id="rId34"/>
    <p:sldId id="298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5" r:id="rId46"/>
    <p:sldId id="296" r:id="rId4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6-01-14T17:43:46.4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23165 7046 874,'90'35'-3,"46"-17"3,-22-26-1,-22-12-109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1743-425D-42A1-97B0-DE08994F7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54752-D8F7-4BEC-BDE5-402C2A87B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973A8-D6E8-447E-8313-960F3E424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9A2-F6B3-4369-AA71-65D28C6FE98C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4FE86-2204-40C5-A914-3B055002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5F31A-975D-46A6-BDC1-F8CFBDE6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D55B-D5B3-40D9-8F9C-6C0CD3BC0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2168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5B837-15B7-4F71-9438-11CB0A9C5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CBDDB-912C-4CFC-9E2F-79418658E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42EB-F447-49DB-A1BE-74D7DCE9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9A2-F6B3-4369-AA71-65D28C6FE98C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7BC00-BC84-40FB-89DC-4A2B42B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6D1AE-0C46-447D-AD94-0BDE03BC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D55B-D5B3-40D9-8F9C-6C0CD3BC0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0071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1C63D-C7A3-4A97-BFC2-AC87C9AF3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0B9D8-4377-4D37-9B7F-B1EB3857D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638C5-9097-4125-8345-25DDC2ADF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9A2-F6B3-4369-AA71-65D28C6FE98C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B78D-942B-4EA1-8A8C-84F95AEF3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113DE-FE60-461C-B427-3F9D61D2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D55B-D5B3-40D9-8F9C-6C0CD3BC0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0425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AA293-7883-4DE5-BC32-BA09B9A98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39F42-36AD-4F3A-A663-A4CDAAD16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DA355-C0A9-4A91-9656-CA5CF779B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0A86C-A697-4215-B5BA-7F723B9D0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9A2-F6B3-4369-AA71-65D28C6FE98C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F9833-9E25-4511-8518-D8834B416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83ABD-8A9B-4B72-BF0A-E695E2854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D55B-D5B3-40D9-8F9C-6C0CD3BC0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0821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DA44D-70E5-4883-A1A3-C8B60A47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0ED54-C143-4172-ABA0-D0EFD6C95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65E11-7D5E-4C4E-904A-DBF6B088F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6CCC58-BB97-4C74-8387-A3205A5B5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E4F9E4-9C92-4BB7-89FE-83C47FB4B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9230C-690F-46FC-8578-7D09BA59F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9A2-F6B3-4369-AA71-65D28C6FE98C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88D469-E550-4E26-8F4D-325ECF0FE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554C1-2A62-46A6-8108-C3EDBE76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D55B-D5B3-40D9-8F9C-6C0CD3BC0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1098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F4F53-E1C8-434F-B5BC-D21C0043E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66F6C9-048D-468A-B459-4027F9C3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9A2-F6B3-4369-AA71-65D28C6FE98C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A0E1AB-CC43-4792-9E72-7063AEBB9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15314-7D3F-43C6-B217-CBA2BC8D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D55B-D5B3-40D9-8F9C-6C0CD3BC0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6670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31DEFF-74C3-4088-9E74-29EA62D6F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9A2-F6B3-4369-AA71-65D28C6FE98C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97C147-9CD7-4ADA-BFD3-B9DC5A0D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44914-9384-4890-BC34-BABA941BC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D55B-D5B3-40D9-8F9C-6C0CD3BC0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85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B59F-54B6-4AA3-89D8-4D69FB92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697ED-4E71-4FA8-AD9D-7FC602B63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A63EA-34CD-41E8-93AF-53587D770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53F4E-F4A7-44D3-BC44-E15C7383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9A2-F6B3-4369-AA71-65D28C6FE98C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92903-4906-4E3F-BBAA-12950C251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4AD31-378E-46FC-AA93-9AF70A85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D55B-D5B3-40D9-8F9C-6C0CD3BC0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1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2C2FD-FB6F-4458-BA08-45C21964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4F3848-5DCB-40C2-943F-F9662D675C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98D3F-C24D-4E91-A6DA-023B33B35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754AE-CBAC-4E66-9AD5-B830AA83B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9A2-F6B3-4369-AA71-65D28C6FE98C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46F8A-D36E-4ED5-BD32-D9B3EFCB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FB054-C6DA-48C7-9A2C-ED053553A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D55B-D5B3-40D9-8F9C-6C0CD3BC0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06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98B8-208D-4B78-8442-1F97F1A6C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50E53-B949-4B18-8FC0-DF775A13A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F1658-75DF-41FA-90FC-87372D04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9A2-F6B3-4369-AA71-65D28C6FE98C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55F71-E7FF-4B86-A154-4A41CA45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CFD60-31B5-4EB1-B5A9-21C06FE5F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D55B-D5B3-40D9-8F9C-6C0CD3BC0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320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FD0A90-1057-43C2-B2D8-637B58A015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A819AF-0854-439D-8202-BE718B494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062A1-801C-4E14-AFB3-299B91E6A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B9A2-F6B3-4369-AA71-65D28C6FE98C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3A565-5F63-478C-94A0-AB7834CA8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2813B-8994-4BCF-A718-FCAF91A1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D55B-D5B3-40D9-8F9C-6C0CD3BC0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3494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4C4A40-A37B-468E-9D2E-FDF4AE08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027BB-F0D2-4E24-9EBB-598983B01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46C00-3A98-490A-9D0E-54C32639C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AB9A2-F6B3-4369-AA71-65D28C6FE98C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880BD-53E7-43F8-8A3E-5AE5FD288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F08BB-B09F-4071-85F5-908784094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BD55B-D5B3-40D9-8F9C-6C0CD3BC0B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8013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3" Type="http://schemas.openxmlformats.org/officeDocument/2006/relationships/image" Target="../media/image276.png"/><Relationship Id="rId7" Type="http://schemas.openxmlformats.org/officeDocument/2006/relationships/image" Target="../media/image280.png"/><Relationship Id="rId2" Type="http://schemas.openxmlformats.org/officeDocument/2006/relationships/image" Target="../media/image2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9.png"/><Relationship Id="rId5" Type="http://schemas.openxmlformats.org/officeDocument/2006/relationships/image" Target="../media/image278.png"/><Relationship Id="rId10" Type="http://schemas.openxmlformats.org/officeDocument/2006/relationships/image" Target="../media/image283.png"/><Relationship Id="rId4" Type="http://schemas.openxmlformats.org/officeDocument/2006/relationships/image" Target="../media/image277.png"/><Relationship Id="rId9" Type="http://schemas.openxmlformats.org/officeDocument/2006/relationships/image" Target="../media/image28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8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8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png"/><Relationship Id="rId3" Type="http://schemas.openxmlformats.org/officeDocument/2006/relationships/image" Target="../media/image291.png"/><Relationship Id="rId7" Type="http://schemas.openxmlformats.org/officeDocument/2006/relationships/image" Target="../media/image295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4.png"/><Relationship Id="rId5" Type="http://schemas.openxmlformats.org/officeDocument/2006/relationships/image" Target="../media/image293.png"/><Relationship Id="rId4" Type="http://schemas.openxmlformats.org/officeDocument/2006/relationships/image" Target="../media/image29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png"/><Relationship Id="rId2" Type="http://schemas.openxmlformats.org/officeDocument/2006/relationships/image" Target="../media/image2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1.png"/><Relationship Id="rId5" Type="http://schemas.openxmlformats.org/officeDocument/2006/relationships/image" Target="../media/image300.png"/><Relationship Id="rId4" Type="http://schemas.openxmlformats.org/officeDocument/2006/relationships/image" Target="../media/image29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306.png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5.png"/><Relationship Id="rId5" Type="http://schemas.openxmlformats.org/officeDocument/2006/relationships/image" Target="../media/image304.png"/><Relationship Id="rId4" Type="http://schemas.openxmlformats.org/officeDocument/2006/relationships/image" Target="../media/image30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9.png"/><Relationship Id="rId2" Type="http://schemas.openxmlformats.org/officeDocument/2006/relationships/image" Target="../media/image30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7" Type="http://schemas.openxmlformats.org/officeDocument/2006/relationships/image" Target="../media/image28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5.png"/><Relationship Id="rId7" Type="http://schemas.openxmlformats.org/officeDocument/2006/relationships/image" Target="../media/image51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9.png"/><Relationship Id="rId4" Type="http://schemas.openxmlformats.org/officeDocument/2006/relationships/image" Target="../media/image46.png"/><Relationship Id="rId9" Type="http://schemas.openxmlformats.org/officeDocument/2006/relationships/image" Target="../media/image5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49.emf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05C6CFD-E78D-4C6D-80F9-BC3A5745645A}"/>
              </a:ext>
            </a:extLst>
          </p:cNvPr>
          <p:cNvSpPr txBox="1"/>
          <p:nvPr/>
        </p:nvSpPr>
        <p:spPr>
          <a:xfrm>
            <a:off x="819581" y="2828835"/>
            <a:ext cx="10552837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Introduction à la thermodynamique</a:t>
            </a:r>
          </a:p>
        </p:txBody>
      </p:sp>
    </p:spTree>
    <p:extLst>
      <p:ext uri="{BB962C8B-B14F-4D97-AF65-F5344CB8AC3E}">
        <p14:creationId xmlns:p14="http://schemas.microsoft.com/office/powerpoint/2010/main" val="731478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8F7019-39F9-4E64-AC80-4F32D0220851}"/>
              </a:ext>
            </a:extLst>
          </p:cNvPr>
          <p:cNvSpPr txBox="1"/>
          <p:nvPr/>
        </p:nvSpPr>
        <p:spPr>
          <a:xfrm>
            <a:off x="291549" y="251865"/>
            <a:ext cx="1146313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Objet de la thermodynamique</a:t>
            </a:r>
          </a:p>
          <a:p>
            <a:endParaRPr lang="fr-FR" sz="2400" b="1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400" dirty="0"/>
              <a:t>La </a:t>
            </a:r>
            <a:r>
              <a:rPr lang="fr-FR" sz="2400" b="1" dirty="0"/>
              <a:t>thermodynamique</a:t>
            </a:r>
            <a:r>
              <a:rPr lang="fr-FR" sz="2400" dirty="0"/>
              <a:t> étudie les </a:t>
            </a:r>
            <a:r>
              <a:rPr lang="fr-FR" sz="2400" b="1" u="sng" dirty="0"/>
              <a:t>transformations macroscopiques</a:t>
            </a:r>
            <a:r>
              <a:rPr lang="fr-FR" sz="2400" u="sng" dirty="0"/>
              <a:t> </a:t>
            </a:r>
            <a:r>
              <a:rPr lang="fr-FR" sz="2400" dirty="0"/>
              <a:t>des systèmes physiques, en particulier les échanges :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fr-FR" sz="2400" dirty="0"/>
              <a:t>d’</a:t>
            </a:r>
            <a:r>
              <a:rPr lang="fr-FR" sz="2400" b="1" dirty="0"/>
              <a:t>énergie</a:t>
            </a:r>
            <a:r>
              <a:rPr lang="fr-FR" sz="2400" dirty="0"/>
              <a:t> (forme mécanique :travail et forme thermique : chaleur),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fr-FR" sz="2400" dirty="0"/>
              <a:t>de </a:t>
            </a:r>
            <a:r>
              <a:rPr lang="fr-FR" sz="2400" b="1" dirty="0"/>
              <a:t>matière</a:t>
            </a:r>
            <a:r>
              <a:rPr lang="fr-FR" sz="2400" dirty="0"/>
              <a:t> (systèmes ouverts),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fr-FR" sz="2400" dirty="0"/>
          </a:p>
          <a:p>
            <a:pPr lvl="1" algn="just"/>
            <a:r>
              <a:rPr lang="fr-FR" sz="2400" dirty="0"/>
              <a:t>en s’appuyant sur des</a:t>
            </a:r>
            <a:r>
              <a:rPr lang="fr-FR" sz="2400" b="1" u="sng" dirty="0"/>
              <a:t> fonctions </a:t>
            </a:r>
            <a:r>
              <a:rPr lang="fr-FR" sz="2400" dirty="0"/>
              <a:t>ou </a:t>
            </a:r>
            <a:r>
              <a:rPr lang="fr-FR" sz="2400" b="1" u="sng" dirty="0"/>
              <a:t>grandeurs </a:t>
            </a:r>
            <a:r>
              <a:rPr lang="fr-FR" sz="2400" b="1" dirty="0"/>
              <a:t>d’état</a:t>
            </a:r>
            <a:r>
              <a:rPr lang="fr-FR" sz="2400" dirty="0"/>
              <a:t> indépendantes du chemin suivi.</a:t>
            </a:r>
          </a:p>
          <a:p>
            <a:pPr lvl="1" algn="just"/>
            <a:endParaRPr lang="fr-FR" sz="24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400" dirty="0"/>
              <a:t>Elle ne décrit pas le mouvement microscopique des particules (contrairement à la mécanique statistique).</a:t>
            </a:r>
          </a:p>
        </p:txBody>
      </p:sp>
    </p:spTree>
    <p:extLst>
      <p:ext uri="{BB962C8B-B14F-4D97-AF65-F5344CB8AC3E}">
        <p14:creationId xmlns:p14="http://schemas.microsoft.com/office/powerpoint/2010/main" val="266236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3420E0-8374-4BB7-BB53-E6F4A11E1452}"/>
              </a:ext>
            </a:extLst>
          </p:cNvPr>
          <p:cNvSpPr txBox="1"/>
          <p:nvPr/>
        </p:nvSpPr>
        <p:spPr>
          <a:xfrm>
            <a:off x="463827" y="527567"/>
            <a:ext cx="1107881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La thermodynamique est une </a:t>
            </a:r>
            <a:r>
              <a:rPr lang="fr-FR" sz="2400" b="1" dirty="0"/>
              <a:t>théorie phénoménologique</a:t>
            </a:r>
            <a:r>
              <a:rPr lang="fr-FR" sz="2400" dirty="0"/>
              <a:t> (basée sur l’observation):</a:t>
            </a:r>
          </a:p>
          <a:p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/>
              <a:t>elle repose sur des </a:t>
            </a:r>
            <a:r>
              <a:rPr lang="fr-FR" sz="2400" b="1" dirty="0"/>
              <a:t>principes généraux expérimentaux</a:t>
            </a:r>
            <a:r>
              <a:rPr lang="fr-FR" sz="2400" dirty="0"/>
              <a:t>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/>
              <a:t>elle ne suppose </a:t>
            </a:r>
            <a:r>
              <a:rPr lang="fr-FR" sz="2400" b="1" dirty="0"/>
              <a:t>aucun modèle microscopique</a:t>
            </a:r>
            <a:r>
              <a:rPr lang="fr-FR" sz="2400" dirty="0"/>
              <a:t>,</a:t>
            </a:r>
          </a:p>
          <a:p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/>
              <a:t>elle décrit les systèmes à l’aide de </a:t>
            </a:r>
            <a:r>
              <a:rPr lang="fr-FR" sz="2400" b="1" dirty="0"/>
              <a:t>grandeurs macroscopiques</a:t>
            </a:r>
            <a:r>
              <a:rPr lang="fr-FR" sz="24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dirty="0"/>
          </a:p>
          <a:p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/>
              <a:t>Elle est </a:t>
            </a:r>
            <a:r>
              <a:rPr lang="fr-FR" sz="2400" b="1" u="sng" dirty="0"/>
              <a:t>indépendante</a:t>
            </a:r>
            <a:r>
              <a:rPr lang="fr-FR" sz="2400" u="sng" dirty="0"/>
              <a:t> de la mécanique statistique (</a:t>
            </a:r>
            <a:r>
              <a:rPr lang="fr-FR" sz="2400" dirty="0"/>
              <a:t>qui elle s’</a:t>
            </a:r>
            <a:r>
              <a:rPr lang="fr-FR" sz="2400" dirty="0" err="1"/>
              <a:t>interesse</a:t>
            </a:r>
            <a:r>
              <a:rPr lang="fr-FR" sz="2400" dirty="0"/>
              <a:t> à ce qui se passe au niveau microscopique), mais </a:t>
            </a:r>
            <a:r>
              <a:rPr lang="fr-FR" sz="2400" u="sng" dirty="0"/>
              <a:t>compatible avec elle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2231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9428EA-C6B8-4F23-8CEB-A0A5E16CF478}"/>
              </a:ext>
            </a:extLst>
          </p:cNvPr>
          <p:cNvSpPr txBox="1"/>
          <p:nvPr/>
        </p:nvSpPr>
        <p:spPr>
          <a:xfrm>
            <a:off x="198782" y="838345"/>
            <a:ext cx="1179443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Objectifs</a:t>
            </a:r>
          </a:p>
          <a:p>
            <a:endParaRPr lang="fr-FR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/>
              <a:t>Décrire les </a:t>
            </a:r>
            <a:r>
              <a:rPr lang="fr-FR" sz="2400" b="1" dirty="0"/>
              <a:t>états d’équilibre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/>
              <a:t>Étudier les </a:t>
            </a:r>
            <a:r>
              <a:rPr lang="fr-FR" sz="2400" b="1" dirty="0"/>
              <a:t>transformations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/>
              <a:t>Établir les </a:t>
            </a:r>
            <a:r>
              <a:rPr lang="fr-FR" sz="2400" b="1" dirty="0"/>
              <a:t>bilans énergétiques (Premier principe)</a:t>
            </a:r>
          </a:p>
          <a:p>
            <a:endParaRPr lang="fr-FR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/>
              <a:t>Déterminer les </a:t>
            </a:r>
            <a:r>
              <a:rPr lang="fr-FR" sz="2400" b="1" dirty="0"/>
              <a:t>conditions de possibilité</a:t>
            </a:r>
            <a:r>
              <a:rPr lang="fr-FR" sz="2400" dirty="0"/>
              <a:t> (évolution) des transformations (Second principe)</a:t>
            </a:r>
          </a:p>
        </p:txBody>
      </p:sp>
    </p:spTree>
    <p:extLst>
      <p:ext uri="{BB962C8B-B14F-4D97-AF65-F5344CB8AC3E}">
        <p14:creationId xmlns:p14="http://schemas.microsoft.com/office/powerpoint/2010/main" val="89353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7689D6-2CB9-4A55-A4B0-10EC50019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870" y="995061"/>
            <a:ext cx="3670590" cy="38684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16476F-47C6-4913-8D1E-2AF30C2D4447}"/>
              </a:ext>
            </a:extLst>
          </p:cNvPr>
          <p:cNvSpPr txBox="1"/>
          <p:nvPr/>
        </p:nvSpPr>
        <p:spPr>
          <a:xfrm>
            <a:off x="490330" y="18639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i="0" u="sng" strike="noStrike" baseline="0" dirty="0"/>
              <a:t>Système thermodynamique et milieu extérieur</a:t>
            </a:r>
            <a:endParaRPr lang="fr-FR" sz="2400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D803E6-2F14-4D0C-9900-1530FA47A9AA}"/>
              </a:ext>
            </a:extLst>
          </p:cNvPr>
          <p:cNvSpPr txBox="1"/>
          <p:nvPr/>
        </p:nvSpPr>
        <p:spPr>
          <a:xfrm>
            <a:off x="331565" y="995061"/>
            <a:ext cx="765949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On dénomme </a:t>
            </a:r>
            <a:r>
              <a:rPr lang="fr-FR" sz="2000" b="1" i="1" u="none" strike="noStrike" baseline="0" dirty="0">
                <a:latin typeface="Times New Roman" panose="02020603050405020304" pitchFamily="18" charset="0"/>
              </a:rPr>
              <a:t>système thermodynamique </a:t>
            </a: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un corps ou un ensemble de corps que soit solide ou fluide formant un ensemble réel ou virtuel bien délimité dans l’espace.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c’est dans ce système qu’on étudie les échanges énergétique par le biais de la thermodynamique.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Le reste au sein duquel se trouve le système thermodynamique est dit </a:t>
            </a:r>
            <a:r>
              <a:rPr lang="fr-FR" sz="2000" b="1" i="1" u="none" strike="noStrike" baseline="0" dirty="0">
                <a:latin typeface="Times New Roman" panose="02020603050405020304" pitchFamily="18" charset="0"/>
              </a:rPr>
              <a:t>milieu extérieur</a:t>
            </a: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000" dirty="0">
                <a:latin typeface="Times New Roman" panose="02020603050405020304" pitchFamily="18" charset="0"/>
              </a:rPr>
              <a:t>L’ensemble {Système + milieu extérieur} est dit </a:t>
            </a:r>
            <a:r>
              <a:rPr lang="fr-FR" sz="2000" b="1" dirty="0">
                <a:latin typeface="Times New Roman" panose="02020603050405020304" pitchFamily="18" charset="0"/>
              </a:rPr>
              <a:t>Univers</a:t>
            </a:r>
            <a:r>
              <a:rPr lang="fr-FR" sz="2000" dirty="0">
                <a:latin typeface="Times New Roman" panose="02020603050405020304" pitchFamily="18" charset="0"/>
              </a:rPr>
              <a:t>.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217018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E5D172-6D27-4D04-B64D-97F4E03A9C7A}"/>
              </a:ext>
            </a:extLst>
          </p:cNvPr>
          <p:cNvSpPr txBox="1"/>
          <p:nvPr/>
        </p:nvSpPr>
        <p:spPr>
          <a:xfrm>
            <a:off x="536713" y="452735"/>
            <a:ext cx="111185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Suivant les frontières du système considéré, on distingue trois types de systèmes.</a:t>
            </a:r>
          </a:p>
          <a:p>
            <a:pPr algn="l"/>
            <a:endParaRPr lang="fr-FR" sz="2000" b="0" i="0" u="none" strike="noStrike" baseline="0" dirty="0">
              <a:latin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Système </a:t>
            </a:r>
            <a:r>
              <a:rPr lang="fr-FR" sz="2000" b="1" i="1" u="none" strike="noStrike" baseline="0" dirty="0">
                <a:latin typeface="Times New Roman" panose="02020603050405020304" pitchFamily="18" charset="0"/>
              </a:rPr>
              <a:t>ouvert : </a:t>
            </a:r>
            <a:r>
              <a:rPr lang="fr-FR" sz="2000" u="none" strike="noStrike" baseline="0" dirty="0">
                <a:latin typeface="Times New Roman" panose="02020603050405020304" pitchFamily="18" charset="0"/>
              </a:rPr>
              <a:t>Système qui peut échanger de la matière et de l’énergie avec le milieu extérieur.</a:t>
            </a:r>
            <a:r>
              <a:rPr lang="fr-FR" sz="2000" b="1" i="1" u="none" strike="noStrike" baseline="0" dirty="0">
                <a:latin typeface="Times New Roman" panose="02020603050405020304" pitchFamily="18" charset="0"/>
              </a:rPr>
              <a:t>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fr-FR" sz="2000" b="1" i="1" dirty="0">
              <a:latin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fr-FR" sz="2000" b="1" i="1" u="none" strike="noStrike" baseline="0" dirty="0">
                <a:latin typeface="Times New Roman" panose="02020603050405020304" pitchFamily="18" charset="0"/>
              </a:rPr>
              <a:t>S</a:t>
            </a: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ystème </a:t>
            </a:r>
            <a:r>
              <a:rPr lang="fr-FR" sz="2000" b="1" i="1" u="none" strike="noStrike" baseline="0" dirty="0">
                <a:latin typeface="Times New Roman" panose="02020603050405020304" pitchFamily="18" charset="0"/>
              </a:rPr>
              <a:t>fermé : </a:t>
            </a:r>
            <a:r>
              <a:rPr lang="fr-FR" sz="2000" u="none" strike="noStrike" baseline="0" dirty="0">
                <a:latin typeface="Times New Roman" panose="02020603050405020304" pitchFamily="18" charset="0"/>
              </a:rPr>
              <a:t>Système qui peut échanger de l’énergie mais pas de la matière avec le milieu extérieur.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fr-FR" sz="2000" dirty="0">
              <a:latin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Système </a:t>
            </a:r>
            <a:r>
              <a:rPr lang="fr-FR" sz="2000" b="1" i="1" u="none" strike="noStrike" baseline="0" dirty="0">
                <a:latin typeface="Times New Roman" panose="02020603050405020304" pitchFamily="18" charset="0"/>
              </a:rPr>
              <a:t>isolé :</a:t>
            </a:r>
            <a:r>
              <a:rPr lang="fr-FR" sz="2000" u="none" strike="noStrike" baseline="0" dirty="0">
                <a:latin typeface="Times New Roman" panose="02020603050405020304" pitchFamily="18" charset="0"/>
              </a:rPr>
              <a:t> Système qui n’échange ni matière ni énergie avec l’extérieur</a:t>
            </a: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.</a:t>
            </a:r>
            <a:endParaRPr lang="fr-FR" sz="2000" dirty="0"/>
          </a:p>
        </p:txBody>
      </p:sp>
      <p:pic>
        <p:nvPicPr>
          <p:cNvPr id="1026" name="Picture 2" descr="Différents Types De Systèmes Thermodynamiques, Système Ouvert, Système  Fermé, Système Isolé Illustration de Vecteur - Illustration du ouvert,  cinétique: 197835996">
            <a:extLst>
              <a:ext uri="{FF2B5EF4-FFF2-40B4-BE49-F238E27FC236}">
                <a16:creationId xmlns:a16="http://schemas.microsoft.com/office/drawing/2014/main" id="{2D1E5545-07EE-413F-ADA3-4EB9F5787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591" y="2779016"/>
            <a:ext cx="7268817" cy="3737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528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AA1A7A-7098-46C0-B11E-57BBFE181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927" y="362935"/>
            <a:ext cx="1062863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Postulat d’existence de l’état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À l’équilibre thermodynamique, l’état d’un système est entièrement décrit par un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nombre fini de variables macroscopiques indépendantes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fr-FR" alt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Ces variables sont appelées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variables d’état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(Pression, volume, température……)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fr-FR" alt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MA" sz="2000" dirty="0">
                <a:latin typeface="Arial" panose="020B0604020202020204" pitchFamily="34" charset="0"/>
                <a:cs typeface="Arial" panose="020B0604020202020204" pitchFamily="34" charset="0"/>
              </a:rPr>
              <a:t>Un système est en équilibre thermodynamique </a:t>
            </a:r>
            <a:r>
              <a:rPr lang="fr-MA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si toutes ses variables d’état n’évoluent pas</a:t>
            </a:r>
            <a:r>
              <a:rPr lang="fr-MA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MA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MA" sz="2000" dirty="0">
                <a:latin typeface="Arial" panose="020B0604020202020204" pitchFamily="34" charset="0"/>
                <a:cs typeface="Arial" panose="020B0604020202020204" pitchFamily="34" charset="0"/>
              </a:rPr>
              <a:t>Un état d’équilibre donné est caractérisé par les valeurs des variables d’état.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MA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MA" sz="2000" dirty="0">
                <a:latin typeface="Arial" panose="020B0604020202020204" pitchFamily="34" charset="0"/>
                <a:cs typeface="Arial" panose="020B0604020202020204" pitchFamily="34" charset="0"/>
              </a:rPr>
              <a:t>Si un système est soumis à des conditions extérieures uniformes et constantes, il évolue vers un état d’équilibre thermodynamique qu’il ne quittera pas spontanément.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MA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MA" sz="2000" dirty="0">
                <a:latin typeface="Arial" panose="020B0604020202020204" pitchFamily="34" charset="0"/>
                <a:cs typeface="Arial" panose="020B0604020202020204" pitchFamily="34" charset="0"/>
              </a:rPr>
              <a:t>Pour un système à l’équilibre on a une équation d’état de la forme f(</a:t>
            </a:r>
            <a:r>
              <a:rPr lang="fr-MA" sz="2000" dirty="0" err="1">
                <a:latin typeface="Arial" panose="020B0604020202020204" pitchFamily="34" charset="0"/>
                <a:cs typeface="Arial" panose="020B0604020202020204" pitchFamily="34" charset="0"/>
              </a:rPr>
              <a:t>P,V,T,n</a:t>
            </a:r>
            <a:r>
              <a:rPr lang="fr-MA" sz="2000" dirty="0">
                <a:latin typeface="Arial" panose="020B0604020202020204" pitchFamily="34" charset="0"/>
                <a:cs typeface="Arial" panose="020B0604020202020204" pitchFamily="34" charset="0"/>
              </a:rPr>
              <a:t>,…)=0qui lie les variables d’état.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916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11ED3E-F69A-4A50-AE52-93E384CB6258}"/>
              </a:ext>
            </a:extLst>
          </p:cNvPr>
          <p:cNvSpPr txBox="1"/>
          <p:nvPr/>
        </p:nvSpPr>
        <p:spPr>
          <a:xfrm>
            <a:off x="543339" y="322808"/>
            <a:ext cx="1107881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Équilibre thermodynamique</a:t>
            </a:r>
          </a:p>
          <a:p>
            <a:endParaRPr lang="fr-F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Un système est à l’équilibre thermodynamique s’il est simultanément dans un état de :</a:t>
            </a:r>
          </a:p>
          <a:p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Équilibre dynamique ou mécanique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: La pression est uniforme au sein du système, pas de gradient de pression à l’intérieur du système,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Équilibre thermique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: La température est uniforme au sein du système, pas de gradient de température à l’intérieur du système,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Equilibre de matière : 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pas de réaction chimique (modification interne de la composition du système) ni diffusion (mouvement interne de matière dû à un gradient de concentration) ni transfert de matière à travers la frontière du système.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Toute évolution spontanée d’un système tend vers l’équilibre.</a:t>
            </a:r>
          </a:p>
        </p:txBody>
      </p:sp>
    </p:spTree>
    <p:extLst>
      <p:ext uri="{BB962C8B-B14F-4D97-AF65-F5344CB8AC3E}">
        <p14:creationId xmlns:p14="http://schemas.microsoft.com/office/powerpoint/2010/main" val="2068597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C2C8CC-666A-4F4F-B224-AAF8929AE62E}"/>
                  </a:ext>
                </a:extLst>
              </p:cNvPr>
              <p:cNvSpPr txBox="1"/>
              <p:nvPr/>
            </p:nvSpPr>
            <p:spPr>
              <a:xfrm>
                <a:off x="317656" y="266413"/>
                <a:ext cx="11516535" cy="6397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Fonctions d’état</a:t>
                </a:r>
              </a:p>
              <a:p>
                <a:endParaRPr lang="fr-F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Une grandeur </a:t>
                </a:r>
                <a14:m>
                  <m:oMath xmlns:m="http://schemas.openxmlformats.org/officeDocument/2006/math"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𝒗𝒂𝒓𝒊𝒂𝒃𝒍𝒆𝒔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𝒅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’é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𝒕𝒂𝒕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est une </a:t>
                </a:r>
                <a:r>
                  <a:rPr lang="fr-F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fonction d’état</a:t>
                </a: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si sa variation ne dépend que des états initial et final d’une évolution du système.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Mathématiquement : </a:t>
                </a:r>
                <a14:m>
                  <m:oMath xmlns:m="http://schemas.openxmlformats.org/officeDocument/2006/math">
                    <m:r>
                      <a:rPr lang="fr-FR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∆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fr-FR" sz="24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fr-FR" sz="24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𝑿</m:t>
                        </m:r>
                      </m:e>
                      <m:sub>
                        <m:r>
                          <a:rPr lang="fr-FR" sz="24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sub>
                    </m:sSub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fr-FR" sz="24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fr-FR" sz="24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𝑿</m:t>
                        </m:r>
                      </m:e>
                      <m:sub>
                        <m:r>
                          <a:rPr lang="fr-FR" sz="24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fr-FR" sz="24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𝑿</m:t>
                        </m:r>
                      </m:e>
                      <m:sub>
                        <m:r>
                          <a:rPr lang="fr-FR" sz="24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(é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𝒕𝒂𝒕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𝒊𝒏𝒊𝒕𝒊𝒂𝒍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fr-FR" dirty="0">
                    <a:latin typeface="Arial" panose="020B0604020202020204" pitchFamily="34" charset="0"/>
                    <a:cs typeface="Arial" panose="020B0604020202020204" pitchFamily="34" charset="0"/>
                  </a:rPr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fr-FR" sz="24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𝑿</m:t>
                        </m:r>
                      </m:e>
                      <m:sub>
                        <m:r>
                          <a:rPr lang="fr-FR" sz="24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fr-FR" sz="24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fr-FR" sz="24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fr-FR" sz="24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(é</m:t>
                    </m:r>
                    <m:r>
                      <a:rPr lang="fr-FR" sz="24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𝒕𝒂𝒕</m:t>
                    </m:r>
                    <m:r>
                      <a:rPr lang="fr-FR" sz="24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𝒇𝒊𝒏𝒂𝒍</m:t>
                    </m:r>
                    <m:r>
                      <a:rPr lang="fr-FR" sz="24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fr-FR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Exemples :</a:t>
                </a:r>
              </a:p>
              <a:p>
                <a:endParaRPr lang="fr-F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énergie interne </a:t>
                </a:r>
                <a14:m>
                  <m:oMath xmlns:m="http://schemas.openxmlformats.org/officeDocument/2006/math"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</m:oMath>
                </a14:m>
                <a:endParaRPr lang="fr-F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endParaRPr lang="fr-F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entropie </a:t>
                </a:r>
                <a14:m>
                  <m:oMath xmlns:m="http://schemas.openxmlformats.org/officeDocument/2006/math"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𝑺</m:t>
                    </m:r>
                  </m:oMath>
                </a14:m>
                <a:endParaRPr lang="fr-F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endParaRPr lang="fr-F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enthalpie </a:t>
                </a:r>
                <a14:m>
                  <m:oMath xmlns:m="http://schemas.openxmlformats.org/officeDocument/2006/math"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endParaRPr lang="fr-F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fr-F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20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Attention 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La chaleur </a:t>
                </a:r>
                <a14:m>
                  <m:oMath xmlns:m="http://schemas.openxmlformats.org/officeDocument/2006/math"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𝑸</m:t>
                    </m:r>
                  </m:oMath>
                </a14:m>
                <a:endParaRPr lang="fr-F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 travail </a:t>
                </a:r>
                <a14:m>
                  <m:oMath xmlns:m="http://schemas.openxmlformats.org/officeDocument/2006/math">
                    <m:r>
                      <a:rPr lang="fr-FR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𝑾</m:t>
                    </m:r>
                  </m:oMath>
                </a14:m>
                <a:endParaRPr lang="fr-F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fr-FR" sz="20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Ne sont pas des fonctions d’état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C2C8CC-666A-4F4F-B224-AAF8929AE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56" y="266413"/>
                <a:ext cx="11516535" cy="6397457"/>
              </a:xfrm>
              <a:prstGeom prst="rect">
                <a:avLst/>
              </a:prstGeom>
              <a:blipFill>
                <a:blip r:embed="rId2"/>
                <a:stretch>
                  <a:fillRect l="-529" t="-477" b="-8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698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6585839-97BF-4E6C-86F8-C55B208B1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833" y="259659"/>
                <a:ext cx="10746983" cy="36137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altLang="fr-FR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Principe zéro – Température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altLang="fr-FR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</a:pPr>
                <a:r>
                  <a:rPr kumimoji="0" lang="fr-FR" altLang="fr-FR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Énoncé formel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</a:pPr>
                <a:endParaRPr kumimoji="0" lang="fr-FR" altLang="fr-FR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</a:pPr>
                <a:r>
                  <a:rPr kumimoji="0" lang="fr-FR" altLang="fr-F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La relation d’équilibre thermique est </a:t>
                </a:r>
                <a:r>
                  <a:rPr kumimoji="0" lang="fr-FR" altLang="fr-FR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transitive</a:t>
                </a:r>
                <a:r>
                  <a:rPr kumimoji="0" lang="fr-FR" altLang="fr-F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</a:pPr>
                <a:endParaRPr lang="fr-FR" altLang="fr-FR" sz="2000" dirty="0">
                  <a:latin typeface="Arial" panose="020B0604020202020204" pitchFamily="34" charset="0"/>
                </a:endParaRPr>
              </a:p>
              <a:p>
                <a:pPr marR="0" lvl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</a:pPr>
                <a:r>
                  <a:rPr kumimoji="0" lang="fr-FR" altLang="fr-F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Cela permet d’introduire une grandeur scalaire :  </a:t>
                </a:r>
                <a14:m>
                  <m:oMath xmlns:m="http://schemas.openxmlformats.org/officeDocument/2006/math">
                    <m:r>
                      <a:rPr kumimoji="0" lang="fr-FR" altLang="fr-FR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0" lang="fr-FR" altLang="fr-FR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kumimoji="0" lang="fr-FR" altLang="fr-FR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fr-FR" altLang="fr-FR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0" lang="fr-FR" altLang="fr-FR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altLang="fr-FR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</a:pPr>
                <a:r>
                  <a:rPr kumimoji="0" lang="fr-FR" altLang="fr-F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La température est une </a:t>
                </a:r>
                <a:r>
                  <a:rPr kumimoji="0" lang="fr-FR" altLang="fr-FR" sz="2000" b="1" i="0" u="sng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variable intensive d’équilibre</a:t>
                </a:r>
                <a:r>
                  <a:rPr kumimoji="0" lang="fr-FR" altLang="fr-FR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altLang="fr-FR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6585839-97BF-4E6C-86F8-C55B208B13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833" y="259659"/>
                <a:ext cx="10746983" cy="3613746"/>
              </a:xfrm>
              <a:prstGeom prst="rect">
                <a:avLst/>
              </a:prstGeom>
              <a:blipFill>
                <a:blip r:embed="rId2"/>
                <a:stretch>
                  <a:fillRect l="-8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B4535C9-C59D-449F-B3A1-38019CF6D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027" y="4207566"/>
            <a:ext cx="713422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33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40E95B-30FA-4C20-8C90-60C32566E215}"/>
                  </a:ext>
                </a:extLst>
              </p:cNvPr>
              <p:cNvSpPr txBox="1"/>
              <p:nvPr/>
            </p:nvSpPr>
            <p:spPr>
              <a:xfrm>
                <a:off x="470452" y="308258"/>
                <a:ext cx="11251096" cy="20005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2400" b="1" dirty="0"/>
                  <a:t>Équations d’état</a:t>
                </a:r>
              </a:p>
              <a:p>
                <a:endParaRPr lang="fr-FR" sz="2400" b="1" dirty="0"/>
              </a:p>
              <a:p>
                <a:r>
                  <a:rPr lang="fr-FR" sz="2400" b="1" dirty="0"/>
                  <a:t>Définition :</a:t>
                </a:r>
              </a:p>
              <a:p>
                <a:r>
                  <a:rPr lang="fr-FR" sz="2400" dirty="0"/>
                  <a:t>Une </a:t>
                </a:r>
                <a:r>
                  <a:rPr lang="fr-FR" sz="2400" b="1" dirty="0"/>
                  <a:t>équation d’état</a:t>
                </a:r>
                <a:r>
                  <a:rPr lang="fr-FR" sz="2400" dirty="0"/>
                  <a:t> relie les variables macroscopiques d’état d’un système à l’équilibre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fr-FR" sz="28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800" b="1" i="1" dirty="0" err="1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28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800" b="1" i="1" dirty="0" err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fr-FR" sz="28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800" b="1" i="1" dirty="0" err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28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800" b="1" i="1" dirty="0" err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fr-FR" sz="2800" b="1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fr-FR" sz="2800" b="1" i="1" dirty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40E95B-30FA-4C20-8C90-60C32566E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52" y="308258"/>
                <a:ext cx="11251096" cy="2000548"/>
              </a:xfrm>
              <a:prstGeom prst="rect">
                <a:avLst/>
              </a:prstGeom>
              <a:blipFill>
                <a:blip r:embed="rId2"/>
                <a:stretch>
                  <a:fillRect l="-813" t="-24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9F45528-2923-46B2-865A-CD4C5B48DA64}"/>
              </a:ext>
            </a:extLst>
          </p:cNvPr>
          <p:cNvSpPr txBox="1"/>
          <p:nvPr/>
        </p:nvSpPr>
        <p:spPr>
          <a:xfrm>
            <a:off x="470452" y="2967335"/>
            <a:ext cx="164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Gaz parfait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1322EE-B7AD-4ED1-9991-9AFBD9BB18F0}"/>
                  </a:ext>
                </a:extLst>
              </p:cNvPr>
              <p:cNvSpPr txBox="1"/>
              <p:nvPr/>
            </p:nvSpPr>
            <p:spPr>
              <a:xfrm>
                <a:off x="2895600" y="3059668"/>
                <a:ext cx="14870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𝑷𝑽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𝒏𝑹𝑻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1322EE-B7AD-4ED1-9991-9AFBD9BB1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3059668"/>
                <a:ext cx="1487010" cy="369332"/>
              </a:xfrm>
              <a:prstGeom prst="rect">
                <a:avLst/>
              </a:prstGeom>
              <a:blipFill>
                <a:blip r:embed="rId3"/>
                <a:stretch>
                  <a:fillRect l="-4098" r="-4098" b="-49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5D228EF-64A8-4271-8CEE-308EE417D44B}"/>
              </a:ext>
            </a:extLst>
          </p:cNvPr>
          <p:cNvSpPr txBox="1"/>
          <p:nvPr/>
        </p:nvSpPr>
        <p:spPr>
          <a:xfrm>
            <a:off x="591105" y="3579697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Hypothèses implicites du modèle gaz parfait: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interactions négligeables,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volume propre des molécules négligé,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collisions élastiques.</a:t>
            </a:r>
          </a:p>
        </p:txBody>
      </p:sp>
    </p:spTree>
    <p:extLst>
      <p:ext uri="{BB962C8B-B14F-4D97-AF65-F5344CB8AC3E}">
        <p14:creationId xmlns:p14="http://schemas.microsoft.com/office/powerpoint/2010/main" val="1875438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2ABC2F-62A7-40F5-A6E8-4CE95296C49A}"/>
              </a:ext>
            </a:extLst>
          </p:cNvPr>
          <p:cNvSpPr txBox="1"/>
          <p:nvPr/>
        </p:nvSpPr>
        <p:spPr>
          <a:xfrm>
            <a:off x="424070" y="265908"/>
            <a:ext cx="4996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Transformations thermodynamiques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AD8ED6-99D1-47AA-A160-C09DA2B947A2}"/>
              </a:ext>
            </a:extLst>
          </p:cNvPr>
          <p:cNvSpPr txBox="1"/>
          <p:nvPr/>
        </p:nvSpPr>
        <p:spPr>
          <a:xfrm>
            <a:off x="424069" y="963592"/>
            <a:ext cx="742121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FR" sz="2400" b="1" i="0" u="none" strike="noStrike" baseline="0" dirty="0">
                <a:latin typeface="Times New Roman" panose="02020603050405020304" pitchFamily="18" charset="0"/>
              </a:rPr>
              <a:t>Transformation thermodynamique : </a:t>
            </a: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Le processus de variation de l’état du système à cause des échanges avec le milieu extérieur s’appelle une </a:t>
            </a:r>
            <a:r>
              <a:rPr lang="fr-FR" sz="2000" b="1" i="1" u="none" strike="noStrike" baseline="0" dirty="0">
                <a:latin typeface="Times New Roman" panose="02020603050405020304" pitchFamily="18" charset="0"/>
              </a:rPr>
              <a:t>transformation </a:t>
            </a: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ou </a:t>
            </a:r>
            <a:r>
              <a:rPr lang="fr-FR" sz="2000" b="1" i="1" u="none" strike="noStrike" baseline="0" dirty="0">
                <a:latin typeface="Times New Roman" panose="02020603050405020304" pitchFamily="18" charset="0"/>
              </a:rPr>
              <a:t>évolution </a:t>
            </a: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thermodynamique.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fr-FR" sz="20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MA" sz="2000" dirty="0"/>
              <a:t>Une transformation correspond donc au passage d’un état d’équilibre thermodynamique à un autre.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fr-MA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MA" sz="2000" dirty="0"/>
              <a:t>Les variables d’état sont modifiées lors d’une transformation. Elles sont définies à l’état initial et à l’état final.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fr-MA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MA" sz="2000" dirty="0"/>
              <a:t>En général, les variables d’état ne sont pas définies (Si pas uniformes) pendant la durée de la transformation.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fr-MA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fr-MA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fr-FR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4DD158-03EE-4930-BEB3-B20459309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905" y="963592"/>
            <a:ext cx="3947311" cy="449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968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7954AE-030C-4C81-A81C-05A993214C2D}"/>
              </a:ext>
            </a:extLst>
          </p:cNvPr>
          <p:cNvSpPr txBox="1"/>
          <p:nvPr/>
        </p:nvSpPr>
        <p:spPr>
          <a:xfrm>
            <a:off x="463827" y="278296"/>
            <a:ext cx="39295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Transformation </a:t>
            </a:r>
            <a:r>
              <a:rPr lang="fr-FR"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quasistatique</a:t>
            </a:r>
            <a:r>
              <a:rPr lang="fr-F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C2145-57A3-4828-AAC4-2E63EED9F88B}"/>
              </a:ext>
            </a:extLst>
          </p:cNvPr>
          <p:cNvSpPr txBox="1"/>
          <p:nvPr/>
        </p:nvSpPr>
        <p:spPr>
          <a:xfrm>
            <a:off x="689112" y="904606"/>
            <a:ext cx="732845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Une transformation qui s’effectue très lentement, permet au système de rétablir son état d’équilibre à chaque instant de son évolution, cette transformation est appelée </a:t>
            </a:r>
            <a:r>
              <a:rPr lang="fr-FR" sz="2000" b="1" i="1" u="none" strike="noStrike" baseline="0" dirty="0">
                <a:latin typeface="Times New Roman" panose="02020603050405020304" pitchFamily="18" charset="0"/>
              </a:rPr>
              <a:t>transformation réversible </a:t>
            </a: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ou </a:t>
            </a:r>
            <a:r>
              <a:rPr lang="fr-FR" sz="2000" b="1" i="1" u="none" strike="noStrike" baseline="0" dirty="0">
                <a:latin typeface="Times New Roman" panose="02020603050405020304" pitchFamily="18" charset="0"/>
              </a:rPr>
              <a:t>équilibrée</a:t>
            </a: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fr-FR" sz="20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Le chemin de l’évolution est alors constitué d’une succession d’états d’équilibre internes infiniment voisins permettant de passer de l’état initial vers l’état final.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fr-FR" sz="20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Les variables d’état sont définies dans tous les états d’équilibre intermédiaires.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fr-FR" sz="20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FR" sz="2000" b="1" i="0" u="sng" strike="noStrike" baseline="0" dirty="0">
                <a:latin typeface="Times New Roman" panose="02020603050405020304" pitchFamily="18" charset="0"/>
              </a:rPr>
              <a:t>Transformation non quasi-statique </a:t>
            </a:r>
            <a:r>
              <a:rPr lang="fr-FR" sz="2000" b="0" i="0" u="none" strike="noStrike" baseline="0" dirty="0">
                <a:latin typeface="Times New Roman" panose="02020603050405020304" pitchFamily="18" charset="0"/>
              </a:rPr>
              <a:t>: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</a:rPr>
              <a:t>Une transformation non quasi-statique ou rapide correspond à une évolution non homogène et rapide des variables d’état. Celles-ci ne sont pas définies pendant la transformation mais uniquement dans les états d’équilibres initial et final.</a:t>
            </a:r>
            <a:endParaRPr lang="fr-FR" sz="20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endParaRPr lang="fr-FR" sz="2000" dirty="0"/>
          </a:p>
        </p:txBody>
      </p:sp>
      <p:pic>
        <p:nvPicPr>
          <p:cNvPr id="5122" name="Picture 2" descr="Réversibilité [Thermodynamique.]">
            <a:extLst>
              <a:ext uri="{FF2B5EF4-FFF2-40B4-BE49-F238E27FC236}">
                <a16:creationId xmlns:a16="http://schemas.microsoft.com/office/drawing/2014/main" id="{9928619A-36C5-47D3-A8FA-40DE5BEE5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460" y="1192696"/>
            <a:ext cx="3556966" cy="450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734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DC183D-E49E-4106-A0D9-DDA1CC023BE6}"/>
              </a:ext>
            </a:extLst>
          </p:cNvPr>
          <p:cNvSpPr txBox="1"/>
          <p:nvPr/>
        </p:nvSpPr>
        <p:spPr>
          <a:xfrm>
            <a:off x="477078" y="133386"/>
            <a:ext cx="402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Transformation réversible</a:t>
            </a:r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D29B2-A7D4-41D5-B2EA-8F6C5651ED85}"/>
              </a:ext>
            </a:extLst>
          </p:cNvPr>
          <p:cNvSpPr txBox="1"/>
          <p:nvPr/>
        </p:nvSpPr>
        <p:spPr>
          <a:xfrm>
            <a:off x="636104" y="861391"/>
            <a:ext cx="113968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C’est une transformation quasi-statique infiniment pouvant être inversée.  C’est-à-dire qu’on puisse repasser exactement par tous les états d’équilibre successifs antérieurs qu’on modifie les contraintes extérieures en sens inverse.</a:t>
            </a:r>
          </a:p>
          <a:p>
            <a:endParaRPr lang="fr-FR" dirty="0"/>
          </a:p>
          <a:p>
            <a:r>
              <a:rPr lang="fr-FR" dirty="0"/>
              <a:t>C’est une transformation hypothétique non réelle.</a:t>
            </a:r>
          </a:p>
          <a:p>
            <a:endParaRPr lang="fr-FR" dirty="0"/>
          </a:p>
          <a:p>
            <a:r>
              <a:rPr lang="fr-FR" dirty="0"/>
              <a:t>Mais peut servir pour calculer ou exprimer les variations des fonctions d’état.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BBBC5-0618-4584-817B-53C6CF8B19CE}"/>
              </a:ext>
            </a:extLst>
          </p:cNvPr>
          <p:cNvSpPr txBox="1"/>
          <p:nvPr/>
        </p:nvSpPr>
        <p:spPr>
          <a:xfrm>
            <a:off x="477078" y="3015156"/>
            <a:ext cx="4399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Transformation irréversible</a:t>
            </a:r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DFDF47-6084-4933-B3C9-E56495D00A27}"/>
              </a:ext>
            </a:extLst>
          </p:cNvPr>
          <p:cNvSpPr txBox="1"/>
          <p:nvPr/>
        </p:nvSpPr>
        <p:spPr>
          <a:xfrm>
            <a:off x="636104" y="3642119"/>
            <a:ext cx="102969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C’est une transformation non quasi-statique ou transformation quasi-statique non renversable.</a:t>
            </a:r>
          </a:p>
          <a:p>
            <a:endParaRPr lang="fr-FR" dirty="0"/>
          </a:p>
          <a:p>
            <a:r>
              <a:rPr lang="fr-FR" dirty="0"/>
              <a:t>Toutes les transformations réelles sont irréversibles. Donc elles leur correspond un sens d’évolution unique. (Deuxième principe)</a:t>
            </a:r>
          </a:p>
        </p:txBody>
      </p:sp>
    </p:spTree>
    <p:extLst>
      <p:ext uri="{BB962C8B-B14F-4D97-AF65-F5344CB8AC3E}">
        <p14:creationId xmlns:p14="http://schemas.microsoft.com/office/powerpoint/2010/main" val="818982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D03C27-362B-43A7-8BDF-5C5D21D0CD2C}"/>
              </a:ext>
            </a:extLst>
          </p:cNvPr>
          <p:cNvSpPr txBox="1"/>
          <p:nvPr/>
        </p:nvSpPr>
        <p:spPr>
          <a:xfrm>
            <a:off x="477078" y="251791"/>
            <a:ext cx="3035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Transformations particulières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2284A-ABB8-44F5-84D2-A2522F6660C9}"/>
              </a:ext>
            </a:extLst>
          </p:cNvPr>
          <p:cNvSpPr txBox="1"/>
          <p:nvPr/>
        </p:nvSpPr>
        <p:spPr>
          <a:xfrm>
            <a:off x="464780" y="621123"/>
            <a:ext cx="109983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800" b="1" i="1" u="none" strike="noStrike" baseline="0" dirty="0">
                <a:latin typeface="Times New Roman" panose="02020603050405020304" pitchFamily="18" charset="0"/>
              </a:rPr>
              <a:t>1. Transformation isotherme : </a:t>
            </a:r>
            <a:r>
              <a:rPr lang="fr-FR" sz="1800" b="0" i="0" u="none" strike="noStrike" baseline="0" dirty="0">
                <a:latin typeface="Times New Roman" panose="02020603050405020304" pitchFamily="18" charset="0"/>
              </a:rPr>
              <a:t>transformation s'effectuant à température constante (</a:t>
            </a:r>
            <a:r>
              <a:rPr lang="fr-FR" sz="1800" b="1" i="1" u="none" strike="noStrike" baseline="0" dirty="0">
                <a:latin typeface="Times New Roman" panose="02020603050405020304" pitchFamily="18" charset="0"/>
              </a:rPr>
              <a:t>T=</a:t>
            </a:r>
            <a:r>
              <a:rPr lang="fr-FR" sz="1800" b="1" i="1" u="none" strike="noStrike" baseline="0" dirty="0" err="1">
                <a:latin typeface="Times New Roman" panose="02020603050405020304" pitchFamily="18" charset="0"/>
              </a:rPr>
              <a:t>c</a:t>
            </a:r>
            <a:r>
              <a:rPr lang="fr-FR" sz="1050" b="1" i="1" u="none" strike="noStrike" baseline="0" dirty="0" err="1">
                <a:latin typeface="Times New Roman" panose="02020603050405020304" pitchFamily="18" charset="0"/>
              </a:rPr>
              <a:t>te</a:t>
            </a:r>
            <a:r>
              <a:rPr lang="fr-FR" sz="1800" b="0" i="0" u="none" strike="noStrike" baseline="0" dirty="0">
                <a:latin typeface="Times New Roman" panose="02020603050405020304" pitchFamily="18" charset="0"/>
              </a:rPr>
              <a:t>).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87453872-94D8-4141-BD79-CED124476CF7}"/>
              </a:ext>
            </a:extLst>
          </p:cNvPr>
          <p:cNvSpPr txBox="1"/>
          <p:nvPr/>
        </p:nvSpPr>
        <p:spPr>
          <a:xfrm>
            <a:off x="464780" y="1199338"/>
            <a:ext cx="3898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Transformation </a:t>
            </a:r>
            <a:r>
              <a:rPr lang="fr-FR" sz="2400" b="1" dirty="0">
                <a:solidFill>
                  <a:srgbClr val="FF0000"/>
                </a:solidFill>
              </a:rPr>
              <a:t>mono</a:t>
            </a:r>
            <a:r>
              <a:rPr lang="fr-FR" sz="2400" b="1" dirty="0"/>
              <a:t>therme</a:t>
            </a:r>
          </a:p>
        </p:txBody>
      </p:sp>
      <p:sp>
        <p:nvSpPr>
          <p:cNvPr id="6" name="ZoneTexte 3">
            <a:extLst>
              <a:ext uri="{FF2B5EF4-FFF2-40B4-BE49-F238E27FC236}">
                <a16:creationId xmlns:a16="http://schemas.microsoft.com/office/drawing/2014/main" id="{F14020EC-5602-4A17-BF79-B411E41703F8}"/>
              </a:ext>
            </a:extLst>
          </p:cNvPr>
          <p:cNvSpPr txBox="1"/>
          <p:nvPr/>
        </p:nvSpPr>
        <p:spPr>
          <a:xfrm>
            <a:off x="6688727" y="1226727"/>
            <a:ext cx="3516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Transformation </a:t>
            </a:r>
            <a:r>
              <a:rPr lang="fr-FR" sz="2400" b="1" dirty="0">
                <a:solidFill>
                  <a:srgbClr val="FF0000"/>
                </a:solidFill>
              </a:rPr>
              <a:t>iso</a:t>
            </a:r>
            <a:r>
              <a:rPr lang="fr-FR" sz="2400" b="1" dirty="0"/>
              <a:t>therme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1032FF26-5C86-42ED-808B-CA615C4D3BAD}"/>
              </a:ext>
            </a:extLst>
          </p:cNvPr>
          <p:cNvSpPr/>
          <p:nvPr/>
        </p:nvSpPr>
        <p:spPr>
          <a:xfrm rot="2180964">
            <a:off x="1856033" y="2743038"/>
            <a:ext cx="1251732" cy="3008194"/>
          </a:xfrm>
          <a:prstGeom prst="ellipse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1CD5F9C9-7180-4E46-916E-63A10141E54C}"/>
                  </a:ext>
                </a:extLst>
              </p:cNvPr>
              <p:cNvSpPr txBox="1"/>
              <p:nvPr/>
            </p:nvSpPr>
            <p:spPr>
              <a:xfrm>
                <a:off x="18501" y="1621588"/>
                <a:ext cx="59014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b="1" dirty="0"/>
                  <a:t>Evolution non quasi-statique 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𝒆𝒙𝒕</m:t>
                        </m:r>
                      </m:sub>
                    </m:sSub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𝑪𝒐𝒏𝒔𝒕𝒂𝒏𝒕𝒆</m:t>
                    </m:r>
                  </m:oMath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1CD5F9C9-7180-4E46-916E-63A10141E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1" y="1621588"/>
                <a:ext cx="5901424" cy="400110"/>
              </a:xfrm>
              <a:prstGeom prst="rect">
                <a:avLst/>
              </a:prstGeom>
              <a:blipFill>
                <a:blip r:embed="rId2"/>
                <a:stretch>
                  <a:fillRect l="-1033" t="-7576" b="-257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TextBox 159">
            <a:extLst>
              <a:ext uri="{FF2B5EF4-FFF2-40B4-BE49-F238E27FC236}">
                <a16:creationId xmlns:a16="http://schemas.microsoft.com/office/drawing/2014/main" id="{04E0509D-A54F-4AFA-9EE9-0F894959C629}"/>
              </a:ext>
            </a:extLst>
          </p:cNvPr>
          <p:cNvSpPr txBox="1"/>
          <p:nvPr/>
        </p:nvSpPr>
        <p:spPr>
          <a:xfrm>
            <a:off x="1086325" y="5681142"/>
            <a:ext cx="5378395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dirty="0"/>
              <a:t>Contact thermique = paroi perméable à la chaleur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AE464B7A-2B74-4861-ABE9-79E6BC55264C}"/>
              </a:ext>
            </a:extLst>
          </p:cNvPr>
          <p:cNvCxnSpPr>
            <a:cxnSpLocks/>
          </p:cNvCxnSpPr>
          <p:nvPr/>
        </p:nvCxnSpPr>
        <p:spPr>
          <a:xfrm flipH="1" flipV="1">
            <a:off x="3043312" y="4556149"/>
            <a:ext cx="469469" cy="110504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A66E13EB-F421-432E-BC9D-0480077E9DFD}"/>
              </a:ext>
            </a:extLst>
          </p:cNvPr>
          <p:cNvSpPr txBox="1"/>
          <p:nvPr/>
        </p:nvSpPr>
        <p:spPr>
          <a:xfrm>
            <a:off x="1854581" y="4039803"/>
            <a:ext cx="1254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Système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6B467EF8-F4BA-45F6-A437-11AA266D1FAA}"/>
                  </a:ext>
                </a:extLst>
              </p:cNvPr>
              <p:cNvSpPr txBox="1"/>
              <p:nvPr/>
            </p:nvSpPr>
            <p:spPr>
              <a:xfrm>
                <a:off x="660917" y="2156362"/>
                <a:ext cx="3040704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fr-FR" b="1" dirty="0"/>
                  <a:t>Milieu extérieur = Thermostat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fr-FR" sz="1800" b="1" i="1" smtClean="0"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r>
                        <a:rPr lang="fr-FR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fr-FR" sz="1800" b="1" i="1" smtClean="0">
                              <a:latin typeface="Cambria Math" panose="02040503050406030204" pitchFamily="18" charset="0"/>
                            </a:rPr>
                            <m:t>𝑻𝒉</m:t>
                          </m:r>
                        </m:sub>
                      </m:sSub>
                      <m:r>
                        <a:rPr lang="fr-FR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800" b="1" i="1" smtClean="0">
                          <a:latin typeface="Cambria Math" panose="02040503050406030204" pitchFamily="18" charset="0"/>
                        </a:rPr>
                        <m:t>𝑪𝒕𝒆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6B467EF8-F4BA-45F6-A437-11AA266D1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17" y="2156362"/>
                <a:ext cx="3040704" cy="646331"/>
              </a:xfrm>
              <a:prstGeom prst="rect">
                <a:avLst/>
              </a:prstGeom>
              <a:blipFill>
                <a:blip r:embed="rId3"/>
                <a:stretch>
                  <a:fillRect l="-1397" t="-4630" r="-119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5420F332-1540-473F-8A61-32F39401E5A4}"/>
                  </a:ext>
                </a:extLst>
              </p:cNvPr>
              <p:cNvSpPr txBox="1"/>
              <p:nvPr/>
            </p:nvSpPr>
            <p:spPr>
              <a:xfrm>
                <a:off x="1991652" y="6168383"/>
                <a:ext cx="2235392" cy="394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0" lang="fr-FR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fr-FR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𝑻</m:t>
                        </m:r>
                      </m:e>
                      <m:sub>
                        <m:r>
                          <a:rPr kumimoji="0" lang="fr-FR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𝒔𝒚𝒔𝒕</m:t>
                        </m:r>
                      </m:sub>
                    </m:sSub>
                  </m:oMath>
                </a14:m>
                <a:r>
                  <a:rPr lang="fr-FR" dirty="0"/>
                  <a:t> n’est pas définie</a:t>
                </a:r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5420F332-1540-473F-8A61-32F39401E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652" y="6168383"/>
                <a:ext cx="2235392" cy="394788"/>
              </a:xfrm>
              <a:prstGeom prst="rect">
                <a:avLst/>
              </a:prstGeom>
              <a:blipFill>
                <a:blip r:embed="rId4"/>
                <a:stretch>
                  <a:fillRect t="-7692" r="-2186" b="-184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48949272-7E8F-421F-AB5F-CCBD5E41D3EB}"/>
                  </a:ext>
                </a:extLst>
              </p:cNvPr>
              <p:cNvSpPr txBox="1"/>
              <p:nvPr/>
            </p:nvSpPr>
            <p:spPr>
              <a:xfrm>
                <a:off x="6464720" y="1721507"/>
                <a:ext cx="5236950" cy="1351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sz="2000" b="1" dirty="0"/>
                  <a:t>Evolution quasi-statique 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𝒆𝒙𝒕</m:t>
                        </m:r>
                      </m:sub>
                    </m:sSub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𝒔𝒚𝒔𝒕</m:t>
                        </m:r>
                      </m:sub>
                    </m:sSub>
                  </m:oMath>
                </a14:m>
                <a:r>
                  <a:rPr lang="fr-FR" sz="2000" b="1" dirty="0"/>
                  <a:t> </a:t>
                </a:r>
              </a:p>
              <a:p>
                <a:pPr algn="just"/>
                <a:r>
                  <a:rPr lang="fr-FR" sz="2000" b="1" dirty="0"/>
                  <a:t>en tout point de la transformation le système est en équilibre thermique avec le thermostat : milieu extérieur.</a:t>
                </a:r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48949272-7E8F-421F-AB5F-CCBD5E41D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720" y="1721507"/>
                <a:ext cx="5236950" cy="1351588"/>
              </a:xfrm>
              <a:prstGeom prst="rect">
                <a:avLst/>
              </a:prstGeom>
              <a:blipFill>
                <a:blip r:embed="rId5"/>
                <a:stretch>
                  <a:fillRect l="-1163" t="-1802" r="-1163" b="-720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164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254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2B29A1-C9D4-4EC9-BFFA-8CC3EB5E3DC3}"/>
              </a:ext>
            </a:extLst>
          </p:cNvPr>
          <p:cNvSpPr txBox="1"/>
          <p:nvPr/>
        </p:nvSpPr>
        <p:spPr>
          <a:xfrm>
            <a:off x="530087" y="259264"/>
            <a:ext cx="8706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b="1" i="1" dirty="0">
                <a:latin typeface="Times New Roman" panose="02020603050405020304" pitchFamily="18" charset="0"/>
              </a:rPr>
              <a:t>2. </a:t>
            </a:r>
            <a:r>
              <a:rPr lang="fr-FR" sz="1800" b="1" i="1" u="none" strike="noStrike" baseline="0" dirty="0">
                <a:latin typeface="Times New Roman" panose="02020603050405020304" pitchFamily="18" charset="0"/>
              </a:rPr>
              <a:t>Transformation isobare : </a:t>
            </a:r>
            <a:r>
              <a:rPr lang="fr-FR" sz="1800" b="0" i="0" u="none" strike="noStrike" baseline="0" dirty="0">
                <a:latin typeface="Times New Roman" panose="02020603050405020304" pitchFamily="18" charset="0"/>
              </a:rPr>
              <a:t>transformation s'effectuant à pression constante (</a:t>
            </a:r>
            <a:r>
              <a:rPr lang="fr-FR" sz="1800" b="1" i="1" u="none" strike="noStrike" baseline="0" dirty="0">
                <a:latin typeface="Times New Roman" panose="02020603050405020304" pitchFamily="18" charset="0"/>
              </a:rPr>
              <a:t>P=</a:t>
            </a:r>
            <a:r>
              <a:rPr lang="fr-FR" sz="1800" b="1" i="1" u="none" strike="noStrike" baseline="0" dirty="0" err="1">
                <a:latin typeface="Times New Roman" panose="02020603050405020304" pitchFamily="18" charset="0"/>
              </a:rPr>
              <a:t>c</a:t>
            </a:r>
            <a:r>
              <a:rPr lang="fr-FR" sz="1050" b="1" i="1" u="none" strike="noStrike" baseline="0" dirty="0" err="1">
                <a:latin typeface="Times New Roman" panose="02020603050405020304" pitchFamily="18" charset="0"/>
              </a:rPr>
              <a:t>te</a:t>
            </a:r>
            <a:r>
              <a:rPr lang="fr-FR" sz="1800" b="0" i="0" u="none" strike="noStrike" baseline="0" dirty="0">
                <a:latin typeface="Times New Roman" panose="02020603050405020304" pitchFamily="18" charset="0"/>
              </a:rPr>
              <a:t>).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4F2B1DF7-7521-49CB-BBBC-D3B208E5CF4C}"/>
              </a:ext>
            </a:extLst>
          </p:cNvPr>
          <p:cNvSpPr txBox="1"/>
          <p:nvPr/>
        </p:nvSpPr>
        <p:spPr>
          <a:xfrm>
            <a:off x="464780" y="1199338"/>
            <a:ext cx="3534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Transformation </a:t>
            </a:r>
            <a:r>
              <a:rPr lang="fr-FR" sz="2400" b="1" dirty="0">
                <a:solidFill>
                  <a:srgbClr val="FF0000"/>
                </a:solidFill>
              </a:rPr>
              <a:t>mono</a:t>
            </a:r>
            <a:r>
              <a:rPr lang="fr-FR" sz="2400" b="1" dirty="0"/>
              <a:t>bare</a:t>
            </a:r>
          </a:p>
        </p:txBody>
      </p:sp>
      <p:sp>
        <p:nvSpPr>
          <p:cNvPr id="5" name="ZoneTexte 3">
            <a:extLst>
              <a:ext uri="{FF2B5EF4-FFF2-40B4-BE49-F238E27FC236}">
                <a16:creationId xmlns:a16="http://schemas.microsoft.com/office/drawing/2014/main" id="{5324723A-6FCB-40A1-AED9-D6F52B26B795}"/>
              </a:ext>
            </a:extLst>
          </p:cNvPr>
          <p:cNvSpPr txBox="1"/>
          <p:nvPr/>
        </p:nvSpPr>
        <p:spPr>
          <a:xfrm>
            <a:off x="6688727" y="1226727"/>
            <a:ext cx="3152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Transformation </a:t>
            </a:r>
            <a:r>
              <a:rPr lang="fr-FR" sz="2400" b="1" dirty="0">
                <a:solidFill>
                  <a:srgbClr val="FF0000"/>
                </a:solidFill>
              </a:rPr>
              <a:t>iso</a:t>
            </a:r>
            <a:r>
              <a:rPr lang="fr-FR" sz="2400" b="1" dirty="0"/>
              <a:t>bare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9D2E50-B162-49FB-B261-8015954174BE}"/>
              </a:ext>
            </a:extLst>
          </p:cNvPr>
          <p:cNvSpPr/>
          <p:nvPr/>
        </p:nvSpPr>
        <p:spPr>
          <a:xfrm rot="2180964">
            <a:off x="1856033" y="2743038"/>
            <a:ext cx="1251732" cy="3008194"/>
          </a:xfrm>
          <a:prstGeom prst="ellipse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6E4432-C2AB-449B-B75D-C1EF3E73E28D}"/>
                  </a:ext>
                </a:extLst>
              </p:cNvPr>
              <p:cNvSpPr txBox="1"/>
              <p:nvPr/>
            </p:nvSpPr>
            <p:spPr>
              <a:xfrm>
                <a:off x="18501" y="1621588"/>
                <a:ext cx="59014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b="1" dirty="0"/>
                  <a:t>Evolution non quasi-statique 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𝒆𝒙𝒕</m:t>
                        </m:r>
                      </m:sub>
                    </m:sSub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𝑪𝒐𝒏𝒔𝒕𝒂𝒏𝒕𝒆</m:t>
                    </m:r>
                  </m:oMath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6E4432-C2AB-449B-B75D-C1EF3E73E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1" y="1621588"/>
                <a:ext cx="5901424" cy="400110"/>
              </a:xfrm>
              <a:prstGeom prst="rect">
                <a:avLst/>
              </a:prstGeom>
              <a:blipFill>
                <a:blip r:embed="rId2"/>
                <a:stretch>
                  <a:fillRect l="-1033" t="-7576" b="-257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80D6226-5ECF-48E5-8F40-E2FA78CB70AF}"/>
              </a:ext>
            </a:extLst>
          </p:cNvPr>
          <p:cNvSpPr txBox="1"/>
          <p:nvPr/>
        </p:nvSpPr>
        <p:spPr>
          <a:xfrm>
            <a:off x="1854581" y="4039803"/>
            <a:ext cx="1254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Système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C5DD01-6F05-4E20-A26F-67FFAABCEB11}"/>
                  </a:ext>
                </a:extLst>
              </p:cNvPr>
              <p:cNvSpPr txBox="1"/>
              <p:nvPr/>
            </p:nvSpPr>
            <p:spPr>
              <a:xfrm>
                <a:off x="660917" y="2156362"/>
                <a:ext cx="3985771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fr-FR" b="1" dirty="0"/>
                  <a:t>Milieu extérieur = Réservoir de pression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1800" b="1" i="1" smtClean="0"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r>
                        <a:rPr lang="fr-FR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800" b="1" i="1" smtClean="0">
                          <a:latin typeface="Cambria Math" panose="02040503050406030204" pitchFamily="18" charset="0"/>
                        </a:rPr>
                        <m:t>𝑪𝒕𝒆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C5DD01-6F05-4E20-A26F-67FFAABCE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17" y="2156362"/>
                <a:ext cx="3985771" cy="646331"/>
              </a:xfrm>
              <a:prstGeom prst="rect">
                <a:avLst/>
              </a:prstGeom>
              <a:blipFill>
                <a:blip r:embed="rId3"/>
                <a:stretch>
                  <a:fillRect l="-1067" t="-4630" r="-45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E3309D-03FE-4C75-917E-F8211BD208A6}"/>
                  </a:ext>
                </a:extLst>
              </p:cNvPr>
              <p:cNvSpPr txBox="1"/>
              <p:nvPr/>
            </p:nvSpPr>
            <p:spPr>
              <a:xfrm>
                <a:off x="498169" y="6072877"/>
                <a:ext cx="4473068" cy="394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fr-FR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La pression du système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r-FR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fr-FR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𝑷</m:t>
                        </m:r>
                      </m:e>
                      <m:sub>
                        <m:r>
                          <a:rPr kumimoji="0" lang="fr-FR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𝒔𝒚𝒔𝒕</m:t>
                        </m:r>
                      </m:sub>
                    </m:sSub>
                    <m:r>
                      <a:rPr kumimoji="0" lang="fr-FR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lang="fr-FR" dirty="0"/>
                  <a:t>n’est pas définie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E3309D-03FE-4C75-917E-F8211BD20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69" y="6072877"/>
                <a:ext cx="4473068" cy="394788"/>
              </a:xfrm>
              <a:prstGeom prst="rect">
                <a:avLst/>
              </a:prstGeom>
              <a:blipFill>
                <a:blip r:embed="rId4"/>
                <a:stretch>
                  <a:fillRect l="-1228" t="-6154" r="-819" b="-184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29E3FA-DA4D-4EE5-9E09-552CBD122BBF}"/>
                  </a:ext>
                </a:extLst>
              </p:cNvPr>
              <p:cNvSpPr txBox="1"/>
              <p:nvPr/>
            </p:nvSpPr>
            <p:spPr>
              <a:xfrm>
                <a:off x="6464720" y="1721507"/>
                <a:ext cx="5236950" cy="1043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sz="2000" b="1" dirty="0"/>
                  <a:t>Evolution quasi-statique 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𝒆𝒙𝒕</m:t>
                        </m:r>
                      </m:sub>
                    </m:sSub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𝒔𝒚𝒔𝒕</m:t>
                        </m:r>
                      </m:sub>
                    </m:sSub>
                  </m:oMath>
                </a14:m>
                <a:r>
                  <a:rPr lang="fr-FR" sz="2000" b="1" dirty="0"/>
                  <a:t> </a:t>
                </a:r>
              </a:p>
              <a:p>
                <a:pPr algn="just"/>
                <a:r>
                  <a:rPr lang="fr-FR" sz="2000" b="1" dirty="0"/>
                  <a:t>en tout point de la transformation le système est en équilibre dynamique avec l’extérieur.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29E3FA-DA4D-4EE5-9E09-552CBD122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720" y="1721507"/>
                <a:ext cx="5236950" cy="1043812"/>
              </a:xfrm>
              <a:prstGeom prst="rect">
                <a:avLst/>
              </a:prstGeom>
              <a:blipFill>
                <a:blip r:embed="rId5"/>
                <a:stretch>
                  <a:fillRect l="-1163" t="-2326" r="-1163" b="-930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8E60B3-748F-464B-8402-420A6AEF11CA}"/>
              </a:ext>
            </a:extLst>
          </p:cNvPr>
          <p:cNvCxnSpPr/>
          <p:nvPr/>
        </p:nvCxnSpPr>
        <p:spPr>
          <a:xfrm>
            <a:off x="1991652" y="3073095"/>
            <a:ext cx="327478" cy="3559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1E2EFB-3074-4D88-90B5-CBB5CE479198}"/>
              </a:ext>
            </a:extLst>
          </p:cNvPr>
          <p:cNvCxnSpPr>
            <a:cxnSpLocks/>
          </p:cNvCxnSpPr>
          <p:nvPr/>
        </p:nvCxnSpPr>
        <p:spPr>
          <a:xfrm>
            <a:off x="1524000" y="3673467"/>
            <a:ext cx="330581" cy="24882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EB538F3-BFD3-421D-B7C3-D98143AA1A9D}"/>
              </a:ext>
            </a:extLst>
          </p:cNvPr>
          <p:cNvCxnSpPr>
            <a:cxnSpLocks/>
          </p:cNvCxnSpPr>
          <p:nvPr/>
        </p:nvCxnSpPr>
        <p:spPr>
          <a:xfrm>
            <a:off x="1086325" y="4804625"/>
            <a:ext cx="36961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06BD70-A656-4BAA-805B-A12800622EAB}"/>
                  </a:ext>
                </a:extLst>
              </p:cNvPr>
              <p:cNvSpPr txBox="1"/>
              <p:nvPr/>
            </p:nvSpPr>
            <p:spPr>
              <a:xfrm>
                <a:off x="660917" y="3221193"/>
                <a:ext cx="70236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𝑷</m:t>
                          </m:r>
                        </m:e>
                        <m:sub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𝒆𝒙𝒕</m:t>
                          </m:r>
                        </m:sub>
                      </m:sSub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06BD70-A656-4BAA-805B-A12800622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17" y="3221193"/>
                <a:ext cx="70236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C736BB5-623A-4FD0-B2AA-1240E6B07018}"/>
              </a:ext>
            </a:extLst>
          </p:cNvPr>
          <p:cNvCxnSpPr>
            <a:cxnSpLocks/>
          </p:cNvCxnSpPr>
          <p:nvPr/>
        </p:nvCxnSpPr>
        <p:spPr>
          <a:xfrm flipH="1">
            <a:off x="3512781" y="3105017"/>
            <a:ext cx="626361" cy="1460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3B0B2B2-1E19-4216-9335-D4924ADEE633}"/>
              </a:ext>
            </a:extLst>
          </p:cNvPr>
          <p:cNvCxnSpPr>
            <a:cxnSpLocks/>
          </p:cNvCxnSpPr>
          <p:nvPr/>
        </p:nvCxnSpPr>
        <p:spPr>
          <a:xfrm flipH="1" flipV="1">
            <a:off x="3422270" y="3984770"/>
            <a:ext cx="576619" cy="23149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0DA3E1-DF14-4BF1-8E9F-890DA1E49630}"/>
              </a:ext>
            </a:extLst>
          </p:cNvPr>
          <p:cNvCxnSpPr>
            <a:cxnSpLocks/>
          </p:cNvCxnSpPr>
          <p:nvPr/>
        </p:nvCxnSpPr>
        <p:spPr>
          <a:xfrm flipH="1" flipV="1">
            <a:off x="3073254" y="4573127"/>
            <a:ext cx="439527" cy="334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A02E4BB-CD1B-4B3F-BD4D-C1976FAE4714}"/>
              </a:ext>
            </a:extLst>
          </p:cNvPr>
          <p:cNvCxnSpPr>
            <a:cxnSpLocks/>
          </p:cNvCxnSpPr>
          <p:nvPr/>
        </p:nvCxnSpPr>
        <p:spPr>
          <a:xfrm flipH="1" flipV="1">
            <a:off x="2669821" y="5053372"/>
            <a:ext cx="439527" cy="334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8EDC56-CE8F-4907-A20D-153775EF7ABF}"/>
              </a:ext>
            </a:extLst>
          </p:cNvPr>
          <p:cNvCxnSpPr>
            <a:cxnSpLocks/>
          </p:cNvCxnSpPr>
          <p:nvPr/>
        </p:nvCxnSpPr>
        <p:spPr>
          <a:xfrm flipH="1" flipV="1">
            <a:off x="2199947" y="5404562"/>
            <a:ext cx="281952" cy="4249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889D1AF-D453-4460-B414-AE6FDBA4D105}"/>
                  </a:ext>
                </a:extLst>
              </p:cNvPr>
              <p:cNvSpPr txBox="1"/>
              <p:nvPr/>
            </p:nvSpPr>
            <p:spPr>
              <a:xfrm>
                <a:off x="3639446" y="4404515"/>
                <a:ext cx="70236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𝑷</m:t>
                          </m:r>
                        </m:e>
                        <m:sub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𝒆𝒙𝒕</m:t>
                          </m:r>
                        </m:sub>
                      </m:sSub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889D1AF-D453-4460-B414-AE6FDBA4D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446" y="4404515"/>
                <a:ext cx="70236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>
            <a:extLst>
              <a:ext uri="{FF2B5EF4-FFF2-40B4-BE49-F238E27FC236}">
                <a16:creationId xmlns:a16="http://schemas.microsoft.com/office/drawing/2014/main" id="{498AEB4F-02E6-4C07-8BF8-924DB025F4EE}"/>
              </a:ext>
            </a:extLst>
          </p:cNvPr>
          <p:cNvSpPr/>
          <p:nvPr/>
        </p:nvSpPr>
        <p:spPr>
          <a:xfrm rot="2180964">
            <a:off x="8315981" y="2688005"/>
            <a:ext cx="1251732" cy="3008194"/>
          </a:xfrm>
          <a:prstGeom prst="ellipse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6BF099-C286-4AFB-A11B-437DA9CA9C2A}"/>
              </a:ext>
            </a:extLst>
          </p:cNvPr>
          <p:cNvSpPr txBox="1"/>
          <p:nvPr/>
        </p:nvSpPr>
        <p:spPr>
          <a:xfrm>
            <a:off x="8314529" y="3984770"/>
            <a:ext cx="1254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Système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1EE0EFE-F3EC-43A7-A84D-F92E65E0A5E3}"/>
              </a:ext>
            </a:extLst>
          </p:cNvPr>
          <p:cNvCxnSpPr/>
          <p:nvPr/>
        </p:nvCxnSpPr>
        <p:spPr>
          <a:xfrm>
            <a:off x="8451600" y="3018062"/>
            <a:ext cx="327478" cy="3559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1322042-825B-4D29-AFB5-E63950C8CEC5}"/>
              </a:ext>
            </a:extLst>
          </p:cNvPr>
          <p:cNvCxnSpPr>
            <a:cxnSpLocks/>
          </p:cNvCxnSpPr>
          <p:nvPr/>
        </p:nvCxnSpPr>
        <p:spPr>
          <a:xfrm>
            <a:off x="7983948" y="3618434"/>
            <a:ext cx="330581" cy="24882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F595B74-0F7D-4A40-9B0A-2D37002BBD3C}"/>
              </a:ext>
            </a:extLst>
          </p:cNvPr>
          <p:cNvCxnSpPr>
            <a:cxnSpLocks/>
          </p:cNvCxnSpPr>
          <p:nvPr/>
        </p:nvCxnSpPr>
        <p:spPr>
          <a:xfrm>
            <a:off x="7546273" y="4749592"/>
            <a:ext cx="36961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4408153-48A4-46E8-A4AC-D207FEBA93E9}"/>
                  </a:ext>
                </a:extLst>
              </p:cNvPr>
              <p:cNvSpPr txBox="1"/>
              <p:nvPr/>
            </p:nvSpPr>
            <p:spPr>
              <a:xfrm>
                <a:off x="7120865" y="3166160"/>
                <a:ext cx="70236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𝑷</m:t>
                          </m:r>
                        </m:e>
                        <m:sub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𝒆𝒙𝒕</m:t>
                          </m:r>
                        </m:sub>
                      </m:sSub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4408153-48A4-46E8-A4AC-D207FEBA9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865" y="3166160"/>
                <a:ext cx="702364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A87CBEA-2FE5-4D67-90C5-F5E454A1950D}"/>
              </a:ext>
            </a:extLst>
          </p:cNvPr>
          <p:cNvCxnSpPr>
            <a:cxnSpLocks/>
          </p:cNvCxnSpPr>
          <p:nvPr/>
        </p:nvCxnSpPr>
        <p:spPr>
          <a:xfrm flipH="1">
            <a:off x="9972729" y="3049984"/>
            <a:ext cx="626361" cy="1460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AA3B016-E62D-4B40-B488-BC54E02973E7}"/>
              </a:ext>
            </a:extLst>
          </p:cNvPr>
          <p:cNvCxnSpPr>
            <a:cxnSpLocks/>
          </p:cNvCxnSpPr>
          <p:nvPr/>
        </p:nvCxnSpPr>
        <p:spPr>
          <a:xfrm flipH="1" flipV="1">
            <a:off x="9882218" y="3929737"/>
            <a:ext cx="576619" cy="23149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C1187CB-F856-48FB-8F31-89A7A340A736}"/>
              </a:ext>
            </a:extLst>
          </p:cNvPr>
          <p:cNvCxnSpPr>
            <a:cxnSpLocks/>
          </p:cNvCxnSpPr>
          <p:nvPr/>
        </p:nvCxnSpPr>
        <p:spPr>
          <a:xfrm flipH="1" flipV="1">
            <a:off x="9533202" y="4518094"/>
            <a:ext cx="439527" cy="334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EBF56EB-5653-4412-81B5-3548B4B2F424}"/>
              </a:ext>
            </a:extLst>
          </p:cNvPr>
          <p:cNvCxnSpPr>
            <a:cxnSpLocks/>
          </p:cNvCxnSpPr>
          <p:nvPr/>
        </p:nvCxnSpPr>
        <p:spPr>
          <a:xfrm flipH="1" flipV="1">
            <a:off x="9129769" y="4998339"/>
            <a:ext cx="439527" cy="334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8A106F7-E87A-4549-8E61-2CBE256AD955}"/>
              </a:ext>
            </a:extLst>
          </p:cNvPr>
          <p:cNvCxnSpPr>
            <a:cxnSpLocks/>
          </p:cNvCxnSpPr>
          <p:nvPr/>
        </p:nvCxnSpPr>
        <p:spPr>
          <a:xfrm flipH="1" flipV="1">
            <a:off x="8659895" y="5349529"/>
            <a:ext cx="281952" cy="4249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E0489E0-64AF-4265-94C8-305DEBC21C38}"/>
                  </a:ext>
                </a:extLst>
              </p:cNvPr>
              <p:cNvSpPr txBox="1"/>
              <p:nvPr/>
            </p:nvSpPr>
            <p:spPr>
              <a:xfrm>
                <a:off x="10099394" y="4349482"/>
                <a:ext cx="70236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𝑷</m:t>
                          </m:r>
                        </m:e>
                        <m:sub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𝒆𝒙𝒕</m:t>
                          </m:r>
                        </m:sub>
                      </m:sSub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E0489E0-64AF-4265-94C8-305DEBC21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9394" y="4349482"/>
                <a:ext cx="70236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3A3AFD9-61E7-48BF-AB9D-8263F11A19FC}"/>
              </a:ext>
            </a:extLst>
          </p:cNvPr>
          <p:cNvCxnSpPr>
            <a:cxnSpLocks/>
          </p:cNvCxnSpPr>
          <p:nvPr/>
        </p:nvCxnSpPr>
        <p:spPr>
          <a:xfrm>
            <a:off x="9569296" y="3693527"/>
            <a:ext cx="237801" cy="12309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B431953-E17E-42CB-BAC3-679B15A5C750}"/>
              </a:ext>
            </a:extLst>
          </p:cNvPr>
          <p:cNvCxnSpPr>
            <a:cxnSpLocks/>
          </p:cNvCxnSpPr>
          <p:nvPr/>
        </p:nvCxnSpPr>
        <p:spPr>
          <a:xfrm>
            <a:off x="9035606" y="4444325"/>
            <a:ext cx="307876" cy="17795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722C7D5-288B-4361-8759-470C3D5F9495}"/>
              </a:ext>
            </a:extLst>
          </p:cNvPr>
          <p:cNvCxnSpPr>
            <a:cxnSpLocks/>
          </p:cNvCxnSpPr>
          <p:nvPr/>
        </p:nvCxnSpPr>
        <p:spPr>
          <a:xfrm>
            <a:off x="8451600" y="4907143"/>
            <a:ext cx="194697" cy="30706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7CEC581-CC65-4FD0-9EDE-CFDE3FEFC65E}"/>
              </a:ext>
            </a:extLst>
          </p:cNvPr>
          <p:cNvCxnSpPr>
            <a:cxnSpLocks/>
          </p:cNvCxnSpPr>
          <p:nvPr/>
        </p:nvCxnSpPr>
        <p:spPr>
          <a:xfrm flipH="1" flipV="1">
            <a:off x="8841986" y="3391351"/>
            <a:ext cx="287783" cy="22708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91BD881-937D-4E27-9F13-44746C8494B0}"/>
              </a:ext>
            </a:extLst>
          </p:cNvPr>
          <p:cNvCxnSpPr>
            <a:cxnSpLocks/>
          </p:cNvCxnSpPr>
          <p:nvPr/>
        </p:nvCxnSpPr>
        <p:spPr>
          <a:xfrm flipH="1" flipV="1">
            <a:off x="8105608" y="4417844"/>
            <a:ext cx="272640" cy="18672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65E6E79-6322-4868-8EB6-0537BEBA26A4}"/>
                  </a:ext>
                </a:extLst>
              </p:cNvPr>
              <p:cNvSpPr txBox="1"/>
              <p:nvPr/>
            </p:nvSpPr>
            <p:spPr>
              <a:xfrm>
                <a:off x="8283740" y="3726625"/>
                <a:ext cx="1557581" cy="394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𝒔𝒚𝒔𝒕</m:t>
                          </m:r>
                        </m:sub>
                      </m:sSub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fr-F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𝑷</m:t>
                          </m:r>
                        </m:e>
                        <m:sub>
                          <m:r>
                            <a:rPr kumimoji="0" lang="fr-FR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𝒆𝒙𝒕</m:t>
                          </m:r>
                        </m:sub>
                      </m:sSub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65E6E79-6322-4868-8EB6-0537BEBA2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3740" y="3726625"/>
                <a:ext cx="1557581" cy="394788"/>
              </a:xfrm>
              <a:prstGeom prst="rect">
                <a:avLst/>
              </a:prstGeom>
              <a:blipFill>
                <a:blip r:embed="rId10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5257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10EF7F-70D5-489E-BB25-F093D73A695F}"/>
                  </a:ext>
                </a:extLst>
              </p:cNvPr>
              <p:cNvSpPr txBox="1"/>
              <p:nvPr/>
            </p:nvSpPr>
            <p:spPr>
              <a:xfrm>
                <a:off x="543338" y="330207"/>
                <a:ext cx="11105323" cy="20549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1800" b="1" i="1" u="none" strike="noStrike" baseline="0" dirty="0">
                    <a:latin typeface="Times New Roman" panose="02020603050405020304" pitchFamily="18" charset="0"/>
                  </a:rPr>
                  <a:t>3. Transformation isochore : </a:t>
                </a:r>
                <a:r>
                  <a:rPr lang="fr-FR" sz="1800" b="0" i="0" u="none" strike="noStrike" baseline="0" dirty="0">
                    <a:latin typeface="Times New Roman" panose="02020603050405020304" pitchFamily="18" charset="0"/>
                  </a:rPr>
                  <a:t>transformation s'effectuant à volume constant (</a:t>
                </a:r>
                <a:r>
                  <a:rPr lang="fr-FR" sz="1800" b="1" i="1" u="none" strike="noStrike" baseline="0" dirty="0">
                    <a:latin typeface="Times New Roman" panose="02020603050405020304" pitchFamily="18" charset="0"/>
                  </a:rPr>
                  <a:t>V=</a:t>
                </a:r>
                <a:r>
                  <a:rPr lang="fr-FR" sz="1800" b="1" i="1" u="none" strike="noStrike" baseline="0" dirty="0" err="1">
                    <a:latin typeface="Times New Roman" panose="02020603050405020304" pitchFamily="18" charset="0"/>
                  </a:rPr>
                  <a:t>c</a:t>
                </a:r>
                <a:r>
                  <a:rPr lang="fr-FR" sz="1050" b="1" i="1" u="none" strike="noStrike" baseline="0" dirty="0" err="1">
                    <a:latin typeface="Times New Roman" panose="02020603050405020304" pitchFamily="18" charset="0"/>
                  </a:rPr>
                  <a:t>te</a:t>
                </a:r>
                <a:r>
                  <a:rPr lang="fr-FR" sz="1800" b="0" i="0" u="none" strike="noStrike" baseline="0" dirty="0">
                    <a:latin typeface="Times New Roman" panose="02020603050405020304" pitchFamily="18" charset="0"/>
                  </a:rPr>
                  <a:t>).</a:t>
                </a:r>
              </a:p>
              <a:p>
                <a:pPr algn="just"/>
                <a:r>
                  <a:rPr lang="fr-FR" sz="1800" b="0" i="0" u="none" strike="noStrike" baseline="0" dirty="0">
                    <a:latin typeface="Times New Roman" panose="02020603050405020304" pitchFamily="18" charset="0"/>
                  </a:rPr>
                  <a:t>Le système évolue dans un volume constant. La surface de contact avec l’extérieur est indéformable.</a:t>
                </a:r>
              </a:p>
              <a:p>
                <a:pPr algn="just"/>
                <a:endParaRPr lang="fr-FR" sz="1800" b="0" i="0" u="none" strike="noStrike" baseline="0" dirty="0">
                  <a:latin typeface="Times New Roman" panose="02020603050405020304" pitchFamily="18" charset="0"/>
                </a:endParaRPr>
              </a:p>
              <a:p>
                <a:pPr algn="just"/>
                <a:endParaRPr lang="fr-FR" sz="1800" b="0" i="0" u="none" strike="noStrike" baseline="0" dirty="0">
                  <a:latin typeface="Times New Roman" panose="02020603050405020304" pitchFamily="18" charset="0"/>
                </a:endParaRPr>
              </a:p>
              <a:p>
                <a:pPr algn="just"/>
                <a:r>
                  <a:rPr lang="fr-FR" sz="1800" b="1" i="1" u="none" strike="noStrike" baseline="0" dirty="0">
                    <a:latin typeface="Times New Roman" panose="02020603050405020304" pitchFamily="18" charset="0"/>
                  </a:rPr>
                  <a:t>4. Transformation adiabatique : </a:t>
                </a:r>
                <a:r>
                  <a:rPr lang="fr-FR" sz="1800" b="0" i="0" u="none" strike="noStrike" baseline="0" dirty="0">
                    <a:latin typeface="Times New Roman" panose="02020603050405020304" pitchFamily="18" charset="0"/>
                  </a:rPr>
                  <a:t>transformation au cours de laquelle le système n'échange pas de chaleur avec le milieu extérieur (</a:t>
                </a:r>
                <a14:m>
                  <m:oMath xmlns:m="http://schemas.openxmlformats.org/officeDocument/2006/math">
                    <m:r>
                      <a:rPr lang="fr-FR" sz="2000" b="1" i="1" u="none" strike="noStrike" baseline="0" dirty="0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sz="2000" b="1" i="1" u="none" strike="noStrike" baseline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u="none" strike="noStrike" baseline="0" dirty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sz="1800" b="0" i="0" u="none" strike="noStrike" baseline="0" dirty="0">
                    <a:latin typeface="Times New Roman" panose="02020603050405020304" pitchFamily="18" charset="0"/>
                  </a:rPr>
                  <a:t>).</a:t>
                </a:r>
              </a:p>
              <a:p>
                <a:pPr algn="just"/>
                <a:r>
                  <a:rPr lang="fr-FR" dirty="0">
                    <a:latin typeface="Times New Roman" panose="02020603050405020304" pitchFamily="18" charset="0"/>
                  </a:rPr>
                  <a:t>La surface de contact avec l’extérieur est un isolant thermique = paroi adiabatique, elle est imperméable à la chaleur.</a:t>
                </a:r>
                <a:endParaRPr lang="fr-F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10EF7F-70D5-489E-BB25-F093D73A6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38" y="330207"/>
                <a:ext cx="11105323" cy="2054986"/>
              </a:xfrm>
              <a:prstGeom prst="rect">
                <a:avLst/>
              </a:prstGeom>
              <a:blipFill>
                <a:blip r:embed="rId2"/>
                <a:stretch>
                  <a:fillRect l="-439" t="-1484" r="-494" b="-356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2" name="Picture 4" descr="Calorimétrie | Lelivrescolaire.fr">
            <a:extLst>
              <a:ext uri="{FF2B5EF4-FFF2-40B4-BE49-F238E27FC236}">
                <a16:creationId xmlns:a16="http://schemas.microsoft.com/office/drawing/2014/main" id="{969C39BD-05BF-40D4-866F-3DCBDA4C8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3" y="2547515"/>
            <a:ext cx="6559826" cy="385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8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18F624-D850-4509-83DC-65F6244046C6}"/>
              </a:ext>
            </a:extLst>
          </p:cNvPr>
          <p:cNvSpPr txBox="1"/>
          <p:nvPr/>
        </p:nvSpPr>
        <p:spPr>
          <a:xfrm>
            <a:off x="622852" y="291548"/>
            <a:ext cx="9626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5. Transformation cyclique : c’est une transformation dans laquelle l’état final s’identifie à l’état initial</a:t>
            </a:r>
          </a:p>
        </p:txBody>
      </p:sp>
      <p:pic>
        <p:nvPicPr>
          <p:cNvPr id="8194" name="Picture 2" descr="6 : Représentation d'une transformation cyclique | Download Scientific  Diagram">
            <a:extLst>
              <a:ext uri="{FF2B5EF4-FFF2-40B4-BE49-F238E27FC236}">
                <a16:creationId xmlns:a16="http://schemas.microsoft.com/office/drawing/2014/main" id="{A1E1D625-66AB-4976-A892-B3782EB0A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158" y="926068"/>
            <a:ext cx="5141842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577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3">
            <a:extLst>
              <a:ext uri="{FF2B5EF4-FFF2-40B4-BE49-F238E27FC236}">
                <a16:creationId xmlns:a16="http://schemas.microsoft.com/office/drawing/2014/main" id="{8FCC4579-E961-45FF-AF04-E5835064C4F9}"/>
              </a:ext>
            </a:extLst>
          </p:cNvPr>
          <p:cNvSpPr txBox="1"/>
          <p:nvPr/>
        </p:nvSpPr>
        <p:spPr>
          <a:xfrm>
            <a:off x="278295" y="0"/>
            <a:ext cx="388587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MA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Divers états de la matière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A277FA-82D6-49A1-8446-A6A4AB552A8A}"/>
              </a:ext>
            </a:extLst>
          </p:cNvPr>
          <p:cNvSpPr txBox="1"/>
          <p:nvPr/>
        </p:nvSpPr>
        <p:spPr>
          <a:xfrm>
            <a:off x="278294" y="523220"/>
            <a:ext cx="11767931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fr-FR" sz="2000" b="1" dirty="0"/>
              <a:t>Etat solide: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dirty="0"/>
              <a:t>Les particules constitutives se trouvent à une place déterminée et effectuent uniquement des oscillations par rapport à cette position moyenne. Ces oscillations constituent le phénomène d’agitation thermique.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dirty="0"/>
              <a:t>Il existe deux arrangements des particules: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fr-FR" dirty="0"/>
              <a:t>Slide cristallin : les particules constitutives sont rangées régulièrement dans l’espace, l’arrangement étant périodique. Exemples : cristaux métalliques (Cu, Fe…), cristaux ioniques (</a:t>
            </a:r>
            <a:r>
              <a:rPr lang="fr-FR" dirty="0" err="1"/>
              <a:t>NaCl</a:t>
            </a:r>
            <a:r>
              <a:rPr lang="fr-FR" dirty="0"/>
              <a:t>,….)…….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fr-FR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fr-FR" dirty="0"/>
              <a:t>Solide amorphe : solide qui ne possède pas d’arrangement périodique. Les particules constitutives sont rangées de façon aléatoires. Exemples : certains verres.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fr-FR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dirty="0"/>
              <a:t>Propriétés macroscopiques des solides : incompressibles, masses volumiques ou densités importantes. Les solides seront considérés comme indéformables!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AB889C-A60D-4E71-8946-CF432F9E6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579" y="4058305"/>
            <a:ext cx="4591050" cy="259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34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FA05AE-3FDE-4455-AFB3-ABD7B5FEBF63}"/>
                  </a:ext>
                </a:extLst>
              </p:cNvPr>
              <p:cNvSpPr txBox="1"/>
              <p:nvPr/>
            </p:nvSpPr>
            <p:spPr>
              <a:xfrm>
                <a:off x="212034" y="231672"/>
                <a:ext cx="6042991" cy="5721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sz="2000" b="1" dirty="0"/>
                  <a:t>2. Etat fluide: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fr-FR" dirty="0"/>
                  <a:t>Les particules constitutives sont libres à se déplacer les une par rapport aux autres. 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endParaRPr lang="fr-FR" dirty="0"/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fr-FR" dirty="0"/>
                  <a:t>On distingue :</a:t>
                </a:r>
              </a:p>
              <a:p>
                <a:pPr marL="800100" lvl="1" indent="-342900" algn="just">
                  <a:buFont typeface="Wingdings" panose="05000000000000000000" pitchFamily="2" charset="2"/>
                  <a:buChar char="Ø"/>
                </a:pPr>
                <a:r>
                  <a:rPr lang="fr-FR" b="1" dirty="0"/>
                  <a:t>Liquides :</a:t>
                </a:r>
                <a:r>
                  <a:rPr lang="fr-FR" dirty="0"/>
                  <a:t> fluide pratiquement incompressibles, mais possède une dilatation avec la température (qui est faible). Le liquide prend la forme du récipient qui le contient. Les masses volumiques sont importantes comparées à celles des gaz. Exemple : eau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𝐾𝑔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fr-FR" dirty="0"/>
                  <a:t>.</a:t>
                </a:r>
              </a:p>
              <a:p>
                <a:pPr marL="800100" lvl="1" indent="-342900" algn="just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800100" lvl="1" indent="-342900" algn="just">
                  <a:buFont typeface="Wingdings" panose="05000000000000000000" pitchFamily="2" charset="2"/>
                  <a:buChar char="Ø"/>
                </a:pPr>
                <a:r>
                  <a:rPr lang="fr-FR" b="1" dirty="0"/>
                  <a:t>Gaz :</a:t>
                </a:r>
                <a:r>
                  <a:rPr lang="fr-FR" dirty="0"/>
                  <a:t> ce sont des fluides fortement compressible et expansibles. Ils tendent à occuper tout le volume dont ils disposent. Les masses volumiques sont assez faibles. Exemple : air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,3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𝐾𝑔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fr-FR" dirty="0"/>
                  <a:t>.</a:t>
                </a:r>
              </a:p>
              <a:p>
                <a:pPr marL="800100" lvl="1" indent="-342900" algn="just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lvl="1" algn="just"/>
                <a:r>
                  <a:rPr lang="fr-FR" dirty="0"/>
                  <a:t>On définit la densité d’un gaz à la température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dirty="0"/>
                  <a:t> et la pression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fr-FR" dirty="0"/>
                  <a:t> par : </a:t>
                </a:r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𝝆</m:t>
                            </m:r>
                          </m:e>
                          <m:sub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𝒈𝒂𝒛</m:t>
                            </m:r>
                          </m:sub>
                        </m:sSub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𝝆</m:t>
                            </m:r>
                          </m:e>
                          <m:sub>
                            <m:r>
                              <a:rPr lang="fr-F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𝒂𝒊𝒓</m:t>
                            </m:r>
                          </m:sub>
                        </m:sSub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FA05AE-3FDE-4455-AFB3-ABD7B5FEB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4" y="231672"/>
                <a:ext cx="6042991" cy="5721053"/>
              </a:xfrm>
              <a:prstGeom prst="rect">
                <a:avLst/>
              </a:prstGeom>
              <a:blipFill>
                <a:blip r:embed="rId2"/>
                <a:stretch>
                  <a:fillRect l="-1110" t="-533" r="-80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210B194-1D55-44DF-91C3-C1353181B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293" y="1194972"/>
            <a:ext cx="5570054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71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712F26-E3EF-4081-8BCE-762F29D3B775}"/>
              </a:ext>
            </a:extLst>
          </p:cNvPr>
          <p:cNvSpPr txBox="1"/>
          <p:nvPr/>
        </p:nvSpPr>
        <p:spPr>
          <a:xfrm>
            <a:off x="4344559" y="0"/>
            <a:ext cx="35028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Statique des fluides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4EA61-2F78-4CDD-B2C9-01C212894993}"/>
              </a:ext>
            </a:extLst>
          </p:cNvPr>
          <p:cNvSpPr txBox="1"/>
          <p:nvPr/>
        </p:nvSpPr>
        <p:spPr>
          <a:xfrm>
            <a:off x="265044" y="456922"/>
            <a:ext cx="3444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Pression dans un fluide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798FDD-5893-4B5D-A149-23E9AEDBE05E}"/>
              </a:ext>
            </a:extLst>
          </p:cNvPr>
          <p:cNvSpPr txBox="1"/>
          <p:nvPr/>
        </p:nvSpPr>
        <p:spPr>
          <a:xfrm>
            <a:off x="622852" y="954107"/>
            <a:ext cx="110920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MA" sz="2000" u="sng" dirty="0"/>
              <a:t>Fluide en équilibre </a:t>
            </a:r>
            <a:r>
              <a:rPr lang="fr-MA" sz="2000" dirty="0"/>
              <a:t>: Les différentes parties du fluide sont au repos par rapport au référentiel macroscopique, </a:t>
            </a:r>
            <a:r>
              <a:rPr lang="fr-MA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 n y a pas d’écoulement du fluide</a:t>
            </a:r>
            <a:r>
              <a:rPr lang="fr-MA" sz="2000" dirty="0"/>
              <a:t>. Au niveau microscopique les particules constitutives sont animées de mouvements incessants et désordonnés, </a:t>
            </a:r>
            <a:r>
              <a:rPr lang="fr-MA" sz="2000" u="sng" dirty="0"/>
              <a:t>c’est l’agitation thermique</a:t>
            </a:r>
            <a:r>
              <a:rPr lang="fr-MA" sz="20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4CA3E-698B-4894-9453-7CD20A83B60B}"/>
              </a:ext>
            </a:extLst>
          </p:cNvPr>
          <p:cNvSpPr txBox="1"/>
          <p:nvPr/>
        </p:nvSpPr>
        <p:spPr>
          <a:xfrm>
            <a:off x="622852" y="2154436"/>
            <a:ext cx="7818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Pression exercée par un fluide sur la surface du volume qui le contient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C5EA7C-7909-403C-9899-AAE35FBDFFBE}"/>
              </a:ext>
            </a:extLst>
          </p:cNvPr>
          <p:cNvSpPr/>
          <p:nvPr/>
        </p:nvSpPr>
        <p:spPr>
          <a:xfrm rot="19134470">
            <a:off x="7677223" y="3097619"/>
            <a:ext cx="4032424" cy="2979103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F70E86-2177-43E5-971B-59877A55DCD9}"/>
              </a:ext>
            </a:extLst>
          </p:cNvPr>
          <p:cNvSpPr txBox="1"/>
          <p:nvPr/>
        </p:nvSpPr>
        <p:spPr>
          <a:xfrm>
            <a:off x="8449103" y="5467815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Fluide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977F64-F270-4FAC-9608-F4329616F633}"/>
              </a:ext>
            </a:extLst>
          </p:cNvPr>
          <p:cNvSpPr/>
          <p:nvPr/>
        </p:nvSpPr>
        <p:spPr>
          <a:xfrm rot="19513189">
            <a:off x="8517854" y="3246598"/>
            <a:ext cx="1090092" cy="2576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BD481FC-3A6B-4669-B56C-4D9E28ADA22E}"/>
              </a:ext>
            </a:extLst>
          </p:cNvPr>
          <p:cNvCxnSpPr/>
          <p:nvPr/>
        </p:nvCxnSpPr>
        <p:spPr>
          <a:xfrm flipH="1" flipV="1">
            <a:off x="9204438" y="3466737"/>
            <a:ext cx="479232" cy="6394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2ADF4F-2F8C-4895-8EBD-D0A1F3A1662E}"/>
              </a:ext>
            </a:extLst>
          </p:cNvPr>
          <p:cNvCxnSpPr/>
          <p:nvPr/>
        </p:nvCxnSpPr>
        <p:spPr>
          <a:xfrm flipH="1" flipV="1">
            <a:off x="9426159" y="3309746"/>
            <a:ext cx="479232" cy="6394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9D8400-87E2-41BF-8672-48F218B70509}"/>
              </a:ext>
            </a:extLst>
          </p:cNvPr>
          <p:cNvCxnSpPr/>
          <p:nvPr/>
        </p:nvCxnSpPr>
        <p:spPr>
          <a:xfrm flipH="1" flipV="1">
            <a:off x="9041022" y="3598595"/>
            <a:ext cx="479232" cy="6394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894340-FD1F-4D17-AF78-DD25BFE5F221}"/>
              </a:ext>
            </a:extLst>
          </p:cNvPr>
          <p:cNvCxnSpPr/>
          <p:nvPr/>
        </p:nvCxnSpPr>
        <p:spPr>
          <a:xfrm flipH="1" flipV="1">
            <a:off x="8823284" y="3683149"/>
            <a:ext cx="479232" cy="6394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EF39-D75D-4711-9655-7BC21DEE2033}"/>
                  </a:ext>
                </a:extLst>
              </p:cNvPr>
              <p:cNvSpPr txBox="1"/>
              <p:nvPr/>
            </p:nvSpPr>
            <p:spPr>
              <a:xfrm>
                <a:off x="9693944" y="3321341"/>
                <a:ext cx="11442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𝒊𝒏𝒕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CEF39-D75D-4711-9655-7BC21DEE2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944" y="3321341"/>
                <a:ext cx="1144288" cy="400110"/>
              </a:xfrm>
              <a:prstGeom prst="rect">
                <a:avLst/>
              </a:prstGeom>
              <a:blipFill>
                <a:blip r:embed="rId2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21270EBF-8A62-417A-93AC-E248358CA48A}"/>
              </a:ext>
            </a:extLst>
          </p:cNvPr>
          <p:cNvSpPr/>
          <p:nvPr/>
        </p:nvSpPr>
        <p:spPr>
          <a:xfrm>
            <a:off x="8995303" y="3297890"/>
            <a:ext cx="45719" cy="9825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A62A5C-3134-46B0-8E81-F94ECCBD1696}"/>
                  </a:ext>
                </a:extLst>
              </p:cNvPr>
              <p:cNvSpPr txBox="1"/>
              <p:nvPr/>
            </p:nvSpPr>
            <p:spPr>
              <a:xfrm>
                <a:off x="8262995" y="3146962"/>
                <a:ext cx="51835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A62A5C-3134-46B0-8E81-F94ECCBD1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2995" y="3146962"/>
                <a:ext cx="518351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8ABD4C1-EC78-4611-B0B9-BC96D59B9FDA}"/>
              </a:ext>
            </a:extLst>
          </p:cNvPr>
          <p:cNvCxnSpPr/>
          <p:nvPr/>
        </p:nvCxnSpPr>
        <p:spPr>
          <a:xfrm flipH="1" flipV="1">
            <a:off x="8538930" y="2724141"/>
            <a:ext cx="479232" cy="6394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254ECA-5149-4A65-B2D4-D3F2A5DC2D67}"/>
                  </a:ext>
                </a:extLst>
              </p:cNvPr>
              <p:cNvSpPr txBox="1"/>
              <p:nvPr/>
            </p:nvSpPr>
            <p:spPr>
              <a:xfrm>
                <a:off x="8634877" y="2566510"/>
                <a:ext cx="998991" cy="4394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acc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254ECA-5149-4A65-B2D4-D3F2A5DC2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4877" y="2566510"/>
                <a:ext cx="998991" cy="439479"/>
              </a:xfrm>
              <a:prstGeom prst="rect">
                <a:avLst/>
              </a:prstGeom>
              <a:blipFill>
                <a:blip r:embed="rId4"/>
                <a:stretch>
                  <a:fillRect b="-152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E9DBA72-5152-44E5-9DB8-55F9AE45782E}"/>
                  </a:ext>
                </a:extLst>
              </p:cNvPr>
              <p:cNvSpPr txBox="1"/>
              <p:nvPr/>
            </p:nvSpPr>
            <p:spPr>
              <a:xfrm>
                <a:off x="655985" y="2625586"/>
                <a:ext cx="7501990" cy="4394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acc>
                      <m:accPr>
                        <m:chr m:val="⃗"/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acc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b="1" dirty="0"/>
                  <a:t> </a:t>
                </a:r>
                <a:r>
                  <a:rPr lang="fr-FR" sz="2000" dirty="0"/>
                  <a:t>est un élément de surface orienté au voisinage du point</a:t>
                </a:r>
                <a:r>
                  <a:rPr lang="fr-FR" sz="2000" b="1" dirty="0"/>
                  <a:t> 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fr-FR" sz="2000" b="1" dirty="0"/>
                  <a:t>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E9DBA72-5152-44E5-9DB8-55F9AE457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5" y="2625586"/>
                <a:ext cx="7501990" cy="439479"/>
              </a:xfrm>
              <a:prstGeom prst="rect">
                <a:avLst/>
              </a:prstGeom>
              <a:blipFill>
                <a:blip r:embed="rId5"/>
                <a:stretch>
                  <a:fillRect l="-81" b="-2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42969FC6-049E-45F9-AF38-BA1F327D3A27}"/>
              </a:ext>
            </a:extLst>
          </p:cNvPr>
          <p:cNvSpPr txBox="1"/>
          <p:nvPr/>
        </p:nvSpPr>
        <p:spPr>
          <a:xfrm>
            <a:off x="768626" y="3347017"/>
            <a:ext cx="7420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 force de pression exercée par le fluide intérieur sur cet élément de surface</a:t>
            </a:r>
          </a:p>
          <a:p>
            <a:r>
              <a:rPr lang="fr-FR" dirty="0"/>
              <a:t>Est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8413EAB-825E-4D8E-8849-4839660BDB9A}"/>
                  </a:ext>
                </a:extLst>
              </p:cNvPr>
              <p:cNvSpPr txBox="1"/>
              <p:nvPr/>
            </p:nvSpPr>
            <p:spPr>
              <a:xfrm>
                <a:off x="2085501" y="3841665"/>
                <a:ext cx="3848298" cy="55047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𝒑𝒓𝒆𝒔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𝒊𝒏𝒕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acc>
                      <m:r>
                        <a:rPr lang="fr-FR" sz="2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400" b="1" i="1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fr-FR" sz="2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8413EAB-825E-4D8E-8849-4839660BD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501" y="3841665"/>
                <a:ext cx="3848298" cy="5504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AC0DFF0-DCD1-4625-B970-8B1E568F0E72}"/>
                  </a:ext>
                </a:extLst>
              </p:cNvPr>
              <p:cNvSpPr txBox="1"/>
              <p:nvPr/>
            </p:nvSpPr>
            <p:spPr>
              <a:xfrm>
                <a:off x="768626" y="4810539"/>
                <a:ext cx="6266331" cy="18626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La pression est une force par unité de surface orthogonale.</a:t>
                </a:r>
              </a:p>
              <a:p>
                <a:endParaRPr lang="fr-FR" dirty="0"/>
              </a:p>
              <a:p>
                <a:r>
                  <a:rPr lang="fr-FR" dirty="0"/>
                  <a:t>L’unité est le Pascal 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𝑷𝒂</m:t>
                    </m:r>
                  </m:oMath>
                </a14:m>
                <a:r>
                  <a:rPr lang="fr-FR" b="1" dirty="0"/>
                  <a:t>. </a:t>
                </a:r>
              </a:p>
              <a:p>
                <a:endParaRPr lang="fr-FR" b="1" dirty="0"/>
              </a:p>
              <a:p>
                <a:r>
                  <a:rPr lang="fr-FR" dirty="0"/>
                  <a:t>Unité pratique : le bar (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𝒃𝒂𝒓</m:t>
                    </m:r>
                  </m:oMath>
                </a14:m>
                <a:r>
                  <a:rPr lang="fr-FR" dirty="0"/>
                  <a:t>).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𝒃𝒂𝒓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𝑷𝒂</m:t>
                    </m:r>
                  </m:oMath>
                </a14:m>
                <a:endParaRPr lang="fr-FR" b="1" dirty="0"/>
              </a:p>
              <a:p>
                <a:r>
                  <a:rPr lang="fr-FR" dirty="0"/>
                  <a:t>                             l’atmosphère (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𝒂𝒕𝒎</m:t>
                    </m:r>
                  </m:oMath>
                </a14:m>
                <a:r>
                  <a:rPr lang="fr-FR" dirty="0"/>
                  <a:t>).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𝒂𝒕𝒎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𝟎𝟏𝟑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𝑷𝒂</m:t>
                    </m:r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AC0DFF0-DCD1-4625-B970-8B1E568F0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26" y="4810539"/>
                <a:ext cx="6266331" cy="1862626"/>
              </a:xfrm>
              <a:prstGeom prst="rect">
                <a:avLst/>
              </a:prstGeom>
              <a:blipFill>
                <a:blip r:embed="rId7"/>
                <a:stretch>
                  <a:fillRect l="-778" t="-1634" b="-39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2B5E22A-87F3-40D1-A26C-42903B5BF2DC}"/>
              </a:ext>
            </a:extLst>
          </p:cNvPr>
          <p:cNvCxnSpPr>
            <a:cxnSpLocks/>
          </p:cNvCxnSpPr>
          <p:nvPr/>
        </p:nvCxnSpPr>
        <p:spPr>
          <a:xfrm flipH="1" flipV="1">
            <a:off x="8267673" y="2450389"/>
            <a:ext cx="702291" cy="92312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B6E92C4-0EB2-4556-B757-D53811C0CE29}"/>
                  </a:ext>
                </a:extLst>
              </p:cNvPr>
              <p:cNvSpPr txBox="1"/>
              <p:nvPr/>
            </p:nvSpPr>
            <p:spPr>
              <a:xfrm>
                <a:off x="8320495" y="2078343"/>
                <a:ext cx="1042334" cy="5480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𝒅</m:t>
                          </m:r>
                        </m:e>
                        <m:sup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𝑭</m:t>
                              </m:r>
                            </m:e>
                          </m:acc>
                        </m:e>
                        <m:sub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𝒑𝒓𝒆𝒔</m:t>
                          </m:r>
                        </m:sub>
                      </m:sSub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B6E92C4-0EB2-4556-B757-D53811C0C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0495" y="2078343"/>
                <a:ext cx="1042334" cy="548035"/>
              </a:xfrm>
              <a:prstGeom prst="rect">
                <a:avLst/>
              </a:prstGeom>
              <a:blipFill>
                <a:blip r:embed="rId8"/>
                <a:stretch>
                  <a:fillRect r="-760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4925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B73C49-670D-45E5-BD3D-C5553C50CF2E}"/>
              </a:ext>
            </a:extLst>
          </p:cNvPr>
          <p:cNvSpPr txBox="1"/>
          <p:nvPr/>
        </p:nvSpPr>
        <p:spPr>
          <a:xfrm>
            <a:off x="437321" y="153358"/>
            <a:ext cx="7818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Pression exercée sur un solide immergé dans un fluide ambiant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9D9234C-6C77-4B04-890B-BF63E8CBA22D}"/>
              </a:ext>
            </a:extLst>
          </p:cNvPr>
          <p:cNvSpPr/>
          <p:nvPr/>
        </p:nvSpPr>
        <p:spPr>
          <a:xfrm rot="19134470">
            <a:off x="8061538" y="2098474"/>
            <a:ext cx="4032424" cy="29791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25052F-C5BD-49B9-B7DD-195349254113}"/>
              </a:ext>
            </a:extLst>
          </p:cNvPr>
          <p:cNvSpPr/>
          <p:nvPr/>
        </p:nvSpPr>
        <p:spPr>
          <a:xfrm rot="19397933">
            <a:off x="8762136" y="2316242"/>
            <a:ext cx="1142367" cy="2676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A2DE30-88D0-4E48-8358-E6FFD00763F7}"/>
                  </a:ext>
                </a:extLst>
              </p:cNvPr>
              <p:cNvSpPr txBox="1"/>
              <p:nvPr/>
            </p:nvSpPr>
            <p:spPr>
              <a:xfrm>
                <a:off x="9624577" y="2450060"/>
                <a:ext cx="998991" cy="4394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acc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A2DE30-88D0-4E48-8358-E6FFD0076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577" y="2450060"/>
                <a:ext cx="998991" cy="439479"/>
              </a:xfrm>
              <a:prstGeom prst="rect">
                <a:avLst/>
              </a:prstGeom>
              <a:blipFill>
                <a:blip r:embed="rId2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1CBE399-FB42-4A78-B180-031E4E89067A}"/>
              </a:ext>
            </a:extLst>
          </p:cNvPr>
          <p:cNvSpPr txBox="1"/>
          <p:nvPr/>
        </p:nvSpPr>
        <p:spPr>
          <a:xfrm>
            <a:off x="9648621" y="103182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Fluide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79E380-4638-419E-B30C-C832C5748391}"/>
              </a:ext>
            </a:extLst>
          </p:cNvPr>
          <p:cNvSpPr txBox="1"/>
          <p:nvPr/>
        </p:nvSpPr>
        <p:spPr>
          <a:xfrm>
            <a:off x="8753511" y="4475790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Solide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416E67-5C1F-42BB-8E27-E2E4BD2286EC}"/>
              </a:ext>
            </a:extLst>
          </p:cNvPr>
          <p:cNvCxnSpPr>
            <a:stCxn id="4" idx="4"/>
          </p:cNvCxnSpPr>
          <p:nvPr/>
        </p:nvCxnSpPr>
        <p:spPr>
          <a:xfrm>
            <a:off x="9413295" y="2557351"/>
            <a:ext cx="422564" cy="4773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097C8C-8635-47FE-B218-EF516D90698E}"/>
                  </a:ext>
                </a:extLst>
              </p:cNvPr>
              <p:cNvSpPr txBox="1"/>
              <p:nvPr/>
            </p:nvSpPr>
            <p:spPr>
              <a:xfrm>
                <a:off x="7788846" y="1292782"/>
                <a:ext cx="15604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097C8C-8635-47FE-B218-EF516D906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846" y="1292782"/>
                <a:ext cx="156049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43783C-51D4-4412-B587-9B39ED2DAE5C}"/>
              </a:ext>
            </a:extLst>
          </p:cNvPr>
          <p:cNvCxnSpPr/>
          <p:nvPr/>
        </p:nvCxnSpPr>
        <p:spPr>
          <a:xfrm>
            <a:off x="9294685" y="1666446"/>
            <a:ext cx="329892" cy="5073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D4363D-781F-4763-A335-B0B395162353}"/>
              </a:ext>
            </a:extLst>
          </p:cNvPr>
          <p:cNvCxnSpPr/>
          <p:nvPr/>
        </p:nvCxnSpPr>
        <p:spPr>
          <a:xfrm>
            <a:off x="8964793" y="1920104"/>
            <a:ext cx="329892" cy="5073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3CB4A5-5782-4AF9-897A-98A7231CA2CA}"/>
              </a:ext>
            </a:extLst>
          </p:cNvPr>
          <p:cNvCxnSpPr/>
          <p:nvPr/>
        </p:nvCxnSpPr>
        <p:spPr>
          <a:xfrm>
            <a:off x="8654289" y="2117338"/>
            <a:ext cx="329892" cy="5073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6156C7-C0A1-40AC-BFC1-EA47E6301FD3}"/>
                  </a:ext>
                </a:extLst>
              </p:cNvPr>
              <p:cNvSpPr txBox="1"/>
              <p:nvPr/>
            </p:nvSpPr>
            <p:spPr>
              <a:xfrm>
                <a:off x="8753511" y="3057298"/>
                <a:ext cx="1042334" cy="5480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𝒅</m:t>
                          </m:r>
                        </m:e>
                        <m:sup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𝑭</m:t>
                              </m:r>
                            </m:e>
                          </m:acc>
                        </m:e>
                        <m:sub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𝒑𝒓𝒆𝒔</m:t>
                          </m:r>
                        </m:sub>
                      </m:sSub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6156C7-C0A1-40AC-BFC1-EA47E6301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3511" y="3057298"/>
                <a:ext cx="1042334" cy="548035"/>
              </a:xfrm>
              <a:prstGeom prst="rect">
                <a:avLst/>
              </a:prstGeom>
              <a:blipFill>
                <a:blip r:embed="rId4"/>
                <a:stretch>
                  <a:fillRect r="-760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D9FB5D-232F-4A8D-9FAA-394B24302E3F}"/>
              </a:ext>
            </a:extLst>
          </p:cNvPr>
          <p:cNvCxnSpPr>
            <a:cxnSpLocks/>
          </p:cNvCxnSpPr>
          <p:nvPr/>
        </p:nvCxnSpPr>
        <p:spPr>
          <a:xfrm>
            <a:off x="9377904" y="2579901"/>
            <a:ext cx="847055" cy="93666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0C78766-AF42-48FB-9A8A-8F08F0D33052}"/>
                  </a:ext>
                </a:extLst>
              </p:cNvPr>
              <p:cNvSpPr txBox="1"/>
              <p:nvPr/>
            </p:nvSpPr>
            <p:spPr>
              <a:xfrm>
                <a:off x="352003" y="1031821"/>
                <a:ext cx="722718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Le fluide exerce sur un élément de surface de la surface du solide une Force de pression orthogonale à la surface du solide au point 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fr-FR" sz="2000" dirty="0"/>
                  <a:t> de la surface et orientée vers l’intérieur du solide.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0C78766-AF42-48FB-9A8A-8F08F0D33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03" y="1031821"/>
                <a:ext cx="7227182" cy="1015663"/>
              </a:xfrm>
              <a:prstGeom prst="rect">
                <a:avLst/>
              </a:prstGeom>
              <a:blipFill>
                <a:blip r:embed="rId5"/>
                <a:stretch>
                  <a:fillRect l="-928" t="-2994" b="-95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40821F-1402-433B-A593-E6D044DE4634}"/>
                  </a:ext>
                </a:extLst>
              </p:cNvPr>
              <p:cNvSpPr txBox="1"/>
              <p:nvPr/>
            </p:nvSpPr>
            <p:spPr>
              <a:xfrm>
                <a:off x="1573810" y="2304665"/>
                <a:ext cx="3872342" cy="55047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𝒑𝒓𝒆𝒔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acc>
                      <m:r>
                        <a:rPr lang="fr-FR" sz="2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400" b="1" i="1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fr-FR" sz="2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40821F-1402-433B-A593-E6D044DE4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810" y="2304665"/>
                <a:ext cx="3872342" cy="5504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26E828C-FCB9-4C64-A4E2-BB5E26A32A46}"/>
              </a:ext>
            </a:extLst>
          </p:cNvPr>
          <p:cNvSpPr txBox="1"/>
          <p:nvPr/>
        </p:nvSpPr>
        <p:spPr>
          <a:xfrm>
            <a:off x="437321" y="3429000"/>
            <a:ext cx="68778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 pression au niveau de la surface du solide peut dépendre de la position du point M, mais pas de l’aire l’élément de surface et de son orientation.</a:t>
            </a:r>
          </a:p>
          <a:p>
            <a:endParaRPr lang="fr-FR" dirty="0"/>
          </a:p>
          <a:p>
            <a:r>
              <a:rPr lang="fr-FR" dirty="0"/>
              <a:t>On admettra que la pression est une propriété  du fluide à l’endroit où  se trouve l’élément de surface, et existe même s’il n’y a pas d’élément de surface immergée.</a:t>
            </a:r>
          </a:p>
        </p:txBody>
      </p:sp>
    </p:spTree>
    <p:extLst>
      <p:ext uri="{BB962C8B-B14F-4D97-AF65-F5344CB8AC3E}">
        <p14:creationId xmlns:p14="http://schemas.microsoft.com/office/powerpoint/2010/main" val="2782630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9F2BC8-B4FD-406F-A2FD-ACD135CB7F98}"/>
              </a:ext>
            </a:extLst>
          </p:cNvPr>
          <p:cNvSpPr txBox="1"/>
          <p:nvPr/>
        </p:nvSpPr>
        <p:spPr>
          <a:xfrm>
            <a:off x="265044" y="138870"/>
            <a:ext cx="5099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Loi fondamentale de l’hydrostatique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57C6CA-EABA-4B2C-98B4-5B9BB4BC0ACF}"/>
                  </a:ext>
                </a:extLst>
              </p:cNvPr>
              <p:cNvSpPr txBox="1"/>
              <p:nvPr/>
            </p:nvSpPr>
            <p:spPr>
              <a:xfrm>
                <a:off x="265044" y="742123"/>
                <a:ext cx="9780104" cy="1739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Soit un fluide au repos macroscopique dans le référentiel terrestre. Chaque élément de volume du fluide, de masse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𝑑𝑚</m:t>
                    </m:r>
                  </m:oMath>
                </a14:m>
                <a:r>
                  <a:rPr lang="fr-FR" dirty="0"/>
                  <a:t> est soumis :</a:t>
                </a:r>
              </a:p>
              <a:p>
                <a:endParaRPr lang="fr-F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/>
                  <a:t>Poids </a:t>
                </a:r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𝒅𝒎</m:t>
                    </m:r>
                    <m:acc>
                      <m:accPr>
                        <m:chr m:val="⃗"/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</m:acc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acc>
                      <m:accPr>
                        <m:chr m:val="⃗"/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</m:acc>
                  </m:oMath>
                </a14:m>
                <a:r>
                  <a:rPr lang="fr-FR" b="1" dirty="0"/>
                  <a:t> </a:t>
                </a:r>
                <a:r>
                  <a:rPr lang="fr-FR" dirty="0"/>
                  <a:t>où  </a:t>
                </a:r>
                <a14:m>
                  <m:oMath xmlns:m="http://schemas.openxmlformats.org/officeDocument/2006/math">
                    <m:r>
                      <a:rPr lang="fr-F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fr-FR" b="1" dirty="0"/>
                  <a:t> </a:t>
                </a:r>
                <a:r>
                  <a:rPr lang="fr-FR" dirty="0"/>
                  <a:t>est la masse volumique du fluide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/>
                  <a:t>Force pressante exercée par le reste du fluide sur l’élément considéré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sSub>
                      <m:sSub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acc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𝒑𝒓𝒆𝒔</m:t>
                        </m:r>
                      </m:sub>
                    </m:sSub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57C6CA-EABA-4B2C-98B4-5B9BB4BC0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44" y="742123"/>
                <a:ext cx="9780104" cy="1739835"/>
              </a:xfrm>
              <a:prstGeom prst="rect">
                <a:avLst/>
              </a:prstGeom>
              <a:blipFill>
                <a:blip r:embed="rId2"/>
                <a:stretch>
                  <a:fillRect l="-498" t="-2105" b="-21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be 5">
            <a:extLst>
              <a:ext uri="{FF2B5EF4-FFF2-40B4-BE49-F238E27FC236}">
                <a16:creationId xmlns:a16="http://schemas.microsoft.com/office/drawing/2014/main" id="{76AEB4B0-EBCA-4CE8-919E-E2CF9B81A85F}"/>
              </a:ext>
            </a:extLst>
          </p:cNvPr>
          <p:cNvSpPr/>
          <p:nvPr/>
        </p:nvSpPr>
        <p:spPr>
          <a:xfrm>
            <a:off x="9482256" y="2754119"/>
            <a:ext cx="1068947" cy="850005"/>
          </a:xfrm>
          <a:prstGeom prst="cube">
            <a:avLst>
              <a:gd name="adj" fmla="val 43182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5" name="Connecteur droit avec flèche 7">
            <a:extLst>
              <a:ext uri="{FF2B5EF4-FFF2-40B4-BE49-F238E27FC236}">
                <a16:creationId xmlns:a16="http://schemas.microsoft.com/office/drawing/2014/main" id="{F776DF1E-1445-4D9D-9211-AF5301320C99}"/>
              </a:ext>
            </a:extLst>
          </p:cNvPr>
          <p:cNvCxnSpPr>
            <a:cxnSpLocks/>
          </p:cNvCxnSpPr>
          <p:nvPr/>
        </p:nvCxnSpPr>
        <p:spPr>
          <a:xfrm flipV="1">
            <a:off x="8963882" y="2545910"/>
            <a:ext cx="0" cy="17644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9">
            <a:extLst>
              <a:ext uri="{FF2B5EF4-FFF2-40B4-BE49-F238E27FC236}">
                <a16:creationId xmlns:a16="http://schemas.microsoft.com/office/drawing/2014/main" id="{E7ACD176-FBC7-4DEC-9F17-8B8078A36CA8}"/>
              </a:ext>
            </a:extLst>
          </p:cNvPr>
          <p:cNvCxnSpPr>
            <a:cxnSpLocks/>
          </p:cNvCxnSpPr>
          <p:nvPr/>
        </p:nvCxnSpPr>
        <p:spPr>
          <a:xfrm>
            <a:off x="8972468" y="4297437"/>
            <a:ext cx="2088525" cy="21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10">
            <a:extLst>
              <a:ext uri="{FF2B5EF4-FFF2-40B4-BE49-F238E27FC236}">
                <a16:creationId xmlns:a16="http://schemas.microsoft.com/office/drawing/2014/main" id="{7AEBA99E-8161-4D31-8AD9-4CCD37BC993A}"/>
              </a:ext>
            </a:extLst>
          </p:cNvPr>
          <p:cNvCxnSpPr>
            <a:cxnSpLocks/>
          </p:cNvCxnSpPr>
          <p:nvPr/>
        </p:nvCxnSpPr>
        <p:spPr>
          <a:xfrm flipH="1">
            <a:off x="8577516" y="4284558"/>
            <a:ext cx="394952" cy="3541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13">
            <a:extLst>
              <a:ext uri="{FF2B5EF4-FFF2-40B4-BE49-F238E27FC236}">
                <a16:creationId xmlns:a16="http://schemas.microsoft.com/office/drawing/2014/main" id="{6CB7E97B-BC9F-46B4-9E34-73EC8D8F5035}"/>
              </a:ext>
            </a:extLst>
          </p:cNvPr>
          <p:cNvSpPr txBox="1"/>
          <p:nvPr/>
        </p:nvSpPr>
        <p:spPr>
          <a:xfrm>
            <a:off x="8687844" y="2384787"/>
            <a:ext cx="335280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dirty="0"/>
              <a:t>z</a:t>
            </a:r>
          </a:p>
        </p:txBody>
      </p:sp>
      <p:sp>
        <p:nvSpPr>
          <p:cNvPr id="9" name="ZoneTexte 14">
            <a:extLst>
              <a:ext uri="{FF2B5EF4-FFF2-40B4-BE49-F238E27FC236}">
                <a16:creationId xmlns:a16="http://schemas.microsoft.com/office/drawing/2014/main" id="{BBD90251-3713-4DE0-9948-32A3619ABB3A}"/>
              </a:ext>
            </a:extLst>
          </p:cNvPr>
          <p:cNvSpPr txBox="1"/>
          <p:nvPr/>
        </p:nvSpPr>
        <p:spPr>
          <a:xfrm>
            <a:off x="11069578" y="4079483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dirty="0"/>
              <a:t>y</a:t>
            </a:r>
          </a:p>
        </p:txBody>
      </p:sp>
      <p:sp>
        <p:nvSpPr>
          <p:cNvPr id="10" name="ZoneTexte 15">
            <a:extLst>
              <a:ext uri="{FF2B5EF4-FFF2-40B4-BE49-F238E27FC236}">
                <a16:creationId xmlns:a16="http://schemas.microsoft.com/office/drawing/2014/main" id="{4D7B3C81-6D42-440D-AE1C-EBAFF589C7C1}"/>
              </a:ext>
            </a:extLst>
          </p:cNvPr>
          <p:cNvSpPr txBox="1"/>
          <p:nvPr/>
        </p:nvSpPr>
        <p:spPr>
          <a:xfrm>
            <a:off x="8457276" y="4177062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dirty="0"/>
              <a:t>x</a:t>
            </a:r>
          </a:p>
        </p:txBody>
      </p:sp>
      <p:cxnSp>
        <p:nvCxnSpPr>
          <p:cNvPr id="11" name="Connecteur droit avec flèche 17">
            <a:extLst>
              <a:ext uri="{FF2B5EF4-FFF2-40B4-BE49-F238E27FC236}">
                <a16:creationId xmlns:a16="http://schemas.microsoft.com/office/drawing/2014/main" id="{8D30CAA1-5475-4D99-A995-2EBF50EEA6DE}"/>
              </a:ext>
            </a:extLst>
          </p:cNvPr>
          <p:cNvCxnSpPr>
            <a:cxnSpLocks/>
          </p:cNvCxnSpPr>
          <p:nvPr/>
        </p:nvCxnSpPr>
        <p:spPr>
          <a:xfrm>
            <a:off x="10016729" y="2480253"/>
            <a:ext cx="0" cy="4616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9">
            <a:extLst>
              <a:ext uri="{FF2B5EF4-FFF2-40B4-BE49-F238E27FC236}">
                <a16:creationId xmlns:a16="http://schemas.microsoft.com/office/drawing/2014/main" id="{3708C49F-8D02-407C-82CC-B927F73C3E59}"/>
              </a:ext>
            </a:extLst>
          </p:cNvPr>
          <p:cNvCxnSpPr>
            <a:cxnSpLocks/>
          </p:cNvCxnSpPr>
          <p:nvPr/>
        </p:nvCxnSpPr>
        <p:spPr>
          <a:xfrm flipV="1">
            <a:off x="10016462" y="3645081"/>
            <a:ext cx="267" cy="4628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23">
            <a:extLst>
              <a:ext uri="{FF2B5EF4-FFF2-40B4-BE49-F238E27FC236}">
                <a16:creationId xmlns:a16="http://schemas.microsoft.com/office/drawing/2014/main" id="{612273EB-B50E-48B7-B3BE-9BC957910CB7}"/>
              </a:ext>
            </a:extLst>
          </p:cNvPr>
          <p:cNvSpPr txBox="1"/>
          <p:nvPr/>
        </p:nvSpPr>
        <p:spPr>
          <a:xfrm>
            <a:off x="10016462" y="3808619"/>
            <a:ext cx="1033780" cy="39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P(</a:t>
            </a:r>
            <a:r>
              <a:rPr lang="fr-MA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x,y,z</a:t>
            </a:r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14" name="ZoneTexte 24">
            <a:extLst>
              <a:ext uri="{FF2B5EF4-FFF2-40B4-BE49-F238E27FC236}">
                <a16:creationId xmlns:a16="http://schemas.microsoft.com/office/drawing/2014/main" id="{F24E6E0D-7EEB-40E0-B061-F125B6BF5903}"/>
              </a:ext>
            </a:extLst>
          </p:cNvPr>
          <p:cNvSpPr txBox="1"/>
          <p:nvPr/>
        </p:nvSpPr>
        <p:spPr>
          <a:xfrm>
            <a:off x="10016462" y="2259720"/>
            <a:ext cx="1440180" cy="39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P(</a:t>
            </a:r>
            <a:r>
              <a:rPr lang="fr-MA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x,y,z+dz</a:t>
            </a:r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63B3A75-AE8F-4DA1-8BB9-C1978C060194}"/>
                  </a:ext>
                </a:extLst>
              </p14:cNvPr>
              <p14:cNvContentPartPr/>
              <p14:nvPr/>
            </p14:nvContentPartPr>
            <p14:xfrm>
              <a:off x="10669062" y="4151147"/>
              <a:ext cx="155872" cy="15158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63B3A75-AE8F-4DA1-8BB9-C1978C0601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65462" y="4147622"/>
                <a:ext cx="162712" cy="218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1955779-5EC5-4797-88E6-6C9A497E8A68}"/>
                  </a:ext>
                </a:extLst>
              </p:cNvPr>
              <p:cNvSpPr txBox="1"/>
              <p:nvPr/>
            </p:nvSpPr>
            <p:spPr>
              <a:xfrm>
                <a:off x="461903" y="2711085"/>
                <a:ext cx="4645567" cy="5504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A l’équilibre :         </a:t>
                </a:r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acc>
                      <m:accPr>
                        <m:chr m:val="⃗"/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</m:acc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fr-FR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acc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𝒑𝒓𝒆𝒔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1955779-5EC5-4797-88E6-6C9A497E8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03" y="2711085"/>
                <a:ext cx="4645567" cy="550472"/>
              </a:xfrm>
              <a:prstGeom prst="rect">
                <a:avLst/>
              </a:prstGeom>
              <a:blipFill>
                <a:blip r:embed="rId5"/>
                <a:stretch>
                  <a:fillRect l="-1181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574019F4-2366-4F0A-99AD-46CCBD364C27}"/>
              </a:ext>
            </a:extLst>
          </p:cNvPr>
          <p:cNvSpPr txBox="1"/>
          <p:nvPr/>
        </p:nvSpPr>
        <p:spPr>
          <a:xfrm>
            <a:off x="461903" y="3604124"/>
            <a:ext cx="1618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 projection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218A5D5-0A95-4DB1-86D0-E978D3E3AAD5}"/>
                  </a:ext>
                </a:extLst>
              </p:cNvPr>
              <p:cNvSpPr txBox="1"/>
              <p:nvPr/>
            </p:nvSpPr>
            <p:spPr>
              <a:xfrm>
                <a:off x="2228525" y="3749317"/>
                <a:ext cx="1707327" cy="23716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den>
                              </m:f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fr-F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den>
                              </m:f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fr-F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den>
                              </m:f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𝝆</m:t>
                              </m:r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𝒈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218A5D5-0A95-4DB1-86D0-E978D3E3A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525" y="3749317"/>
                <a:ext cx="1707327" cy="23716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A28764B-2943-412E-B3EC-2F35ED263B20}"/>
              </a:ext>
            </a:extLst>
          </p:cNvPr>
          <p:cNvCxnSpPr/>
          <p:nvPr/>
        </p:nvCxnSpPr>
        <p:spPr>
          <a:xfrm>
            <a:off x="8457276" y="2754119"/>
            <a:ext cx="0" cy="8500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669EB66-186F-4ED3-B6EA-A1921909BFB5}"/>
                  </a:ext>
                </a:extLst>
              </p:cNvPr>
              <p:cNvSpPr txBox="1"/>
              <p:nvPr/>
            </p:nvSpPr>
            <p:spPr>
              <a:xfrm>
                <a:off x="8007469" y="2972528"/>
                <a:ext cx="3979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𝒈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669EB66-186F-4ED3-B6EA-A1921909B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469" y="2972528"/>
                <a:ext cx="397900" cy="461665"/>
              </a:xfrm>
              <a:prstGeom prst="rect">
                <a:avLst/>
              </a:prstGeom>
              <a:blipFill>
                <a:blip r:embed="rId7"/>
                <a:stretch>
                  <a:fillRect l="-4615" r="-4615" b="-12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0256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B2EFE4-AF2C-464B-942E-2C89C80EF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670" y="200025"/>
            <a:ext cx="4695825" cy="32289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02A6E7-022C-45E8-8851-A077D29648D9}"/>
              </a:ext>
            </a:extLst>
          </p:cNvPr>
          <p:cNvSpPr txBox="1"/>
          <p:nvPr/>
        </p:nvSpPr>
        <p:spPr>
          <a:xfrm>
            <a:off x="583096" y="35780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Calcul</a:t>
            </a:r>
          </a:p>
        </p:txBody>
      </p:sp>
    </p:spTree>
    <p:extLst>
      <p:ext uri="{BB962C8B-B14F-4D97-AF65-F5344CB8AC3E}">
        <p14:creationId xmlns:p14="http://schemas.microsoft.com/office/powerpoint/2010/main" val="3912900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FED037-BF68-4B00-8703-DDD7E305CB70}"/>
              </a:ext>
            </a:extLst>
          </p:cNvPr>
          <p:cNvSpPr txBox="1"/>
          <p:nvPr/>
        </p:nvSpPr>
        <p:spPr>
          <a:xfrm>
            <a:off x="450574" y="344557"/>
            <a:ext cx="100891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 :</a:t>
            </a:r>
          </a:p>
          <a:p>
            <a:endParaRPr lang="fr-FR" dirty="0"/>
          </a:p>
          <a:p>
            <a:r>
              <a:rPr lang="fr-FR" dirty="0"/>
              <a:t>Dans un fluide en équilibre dans le champ de pesanteur, la pression vérifie la li dite loi de l’hydrostatique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BB6341-6F40-4DC8-8D89-C63E5FB8B67B}"/>
                  </a:ext>
                </a:extLst>
              </p:cNvPr>
              <p:cNvSpPr txBox="1"/>
              <p:nvPr/>
            </p:nvSpPr>
            <p:spPr>
              <a:xfrm>
                <a:off x="4618383" y="1424608"/>
                <a:ext cx="2915863" cy="4241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𝒈𝒓𝒂𝒅</m:t>
                          </m:r>
                        </m:e>
                      </m:acc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d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𝝆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</m:t>
                          </m:r>
                        </m:e>
                      </m:acc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BB6341-6F40-4DC8-8D89-C63E5FB8B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383" y="1424608"/>
                <a:ext cx="2915863" cy="4241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7C917A-4446-43F3-9E72-F5E2FFE2E063}"/>
                  </a:ext>
                </a:extLst>
              </p:cNvPr>
              <p:cNvSpPr txBox="1"/>
              <p:nvPr/>
            </p:nvSpPr>
            <p:spPr>
              <a:xfrm>
                <a:off x="450574" y="1992232"/>
                <a:ext cx="1689653" cy="1871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800" b="1" i="1" smtClean="0">
                              <a:latin typeface="Cambria Math" panose="02040503050406030204" pitchFamily="18" charset="0"/>
                            </a:rPr>
                            <m:t>𝒈𝒓𝒂𝒅</m:t>
                          </m:r>
                        </m:e>
                      </m:acc>
                      <m:r>
                        <a:rPr lang="fr-FR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</m:num>
                                <m:den>
                                  <m:r>
                                    <a:rPr lang="fr-F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</m:num>
                                <m:den>
                                  <m:r>
                                    <a:rPr lang="fr-F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</m:num>
                                <m:den>
                                  <m:r>
                                    <a:rPr lang="fr-FR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7C917A-4446-43F3-9E72-F5E2FFE2E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74" y="1992232"/>
                <a:ext cx="1689653" cy="18712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F0720CA-3A34-4FC3-A8B7-4CE37251D484}"/>
              </a:ext>
            </a:extLst>
          </p:cNvPr>
          <p:cNvSpPr txBox="1"/>
          <p:nvPr/>
        </p:nvSpPr>
        <p:spPr>
          <a:xfrm>
            <a:off x="2345827" y="2927873"/>
            <a:ext cx="746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Est un opérateur appliqué à une fonction scalaire et qui rend compte de la variation de cette fonction suivant les directions Ox, Oy et Oz.</a:t>
            </a:r>
          </a:p>
        </p:txBody>
      </p:sp>
    </p:spTree>
    <p:extLst>
      <p:ext uri="{BB962C8B-B14F-4D97-AF65-F5344CB8AC3E}">
        <p14:creationId xmlns:p14="http://schemas.microsoft.com/office/powerpoint/2010/main" val="3228072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006AD-2116-4D08-8943-395D62E14546}"/>
              </a:ext>
            </a:extLst>
          </p:cNvPr>
          <p:cNvSpPr txBox="1"/>
          <p:nvPr/>
        </p:nvSpPr>
        <p:spPr>
          <a:xfrm>
            <a:off x="424070" y="239403"/>
            <a:ext cx="5671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 d’un fluide incompressible (Liquides)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CE98EB-99B5-4114-B0F3-42C9271098DD}"/>
                  </a:ext>
                </a:extLst>
              </p:cNvPr>
              <p:cNvSpPr txBox="1"/>
              <p:nvPr/>
            </p:nvSpPr>
            <p:spPr>
              <a:xfrm>
                <a:off x="543339" y="821635"/>
                <a:ext cx="543339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La densité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fr-FR" sz="2000" dirty="0"/>
                  <a:t> est indépendant de la pression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fr-FR" sz="2000" dirty="0"/>
                  <a:t>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CE98EB-99B5-4114-B0F3-42C927109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39" y="821635"/>
                <a:ext cx="5433391" cy="400110"/>
              </a:xfrm>
              <a:prstGeom prst="rect">
                <a:avLst/>
              </a:prstGeom>
              <a:blipFill>
                <a:blip r:embed="rId2"/>
                <a:stretch>
                  <a:fillRect l="-1122" t="-9231" b="-276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https://upload.wikimedia.org/wikipedia/commons/thumb/d/dc/Communicating_vessels.png/220px-Communicating_vessels.png">
            <a:extLst>
              <a:ext uri="{FF2B5EF4-FFF2-40B4-BE49-F238E27FC236}">
                <a16:creationId xmlns:a16="http://schemas.microsoft.com/office/drawing/2014/main" id="{5D9A8DFC-C212-446F-BC21-C4987E3D7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63450" y="701068"/>
            <a:ext cx="2604480" cy="1462662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9688D5-C7A0-4471-9A89-F2FC4651481D}"/>
              </a:ext>
            </a:extLst>
          </p:cNvPr>
          <p:cNvSpPr txBox="1"/>
          <p:nvPr/>
        </p:nvSpPr>
        <p:spPr>
          <a:xfrm>
            <a:off x="543339" y="1236161"/>
            <a:ext cx="6712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Montrons que les surface isobares sont des plans horizontaux?</a:t>
            </a:r>
          </a:p>
        </p:txBody>
      </p:sp>
    </p:spTree>
    <p:extLst>
      <p:ext uri="{BB962C8B-B14F-4D97-AF65-F5344CB8AC3E}">
        <p14:creationId xmlns:p14="http://schemas.microsoft.com/office/powerpoint/2010/main" val="450044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701B56-28F7-43ED-A0B1-38C34C7C4151}"/>
              </a:ext>
            </a:extLst>
          </p:cNvPr>
          <p:cNvSpPr txBox="1"/>
          <p:nvPr/>
        </p:nvSpPr>
        <p:spPr>
          <a:xfrm>
            <a:off x="424070" y="239403"/>
            <a:ext cx="5671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 d’un fluide compressible (Gaz)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B66607-DD69-472C-8F4B-0B707CE68C5D}"/>
                  </a:ext>
                </a:extLst>
              </p:cNvPr>
              <p:cNvSpPr txBox="1"/>
              <p:nvPr/>
            </p:nvSpPr>
            <p:spPr>
              <a:xfrm>
                <a:off x="543340" y="821635"/>
                <a:ext cx="4267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La densité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fr-FR" sz="2000" dirty="0"/>
                  <a:t> dépend de la pression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fr-FR" sz="2000" dirty="0"/>
                  <a:t>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B66607-DD69-472C-8F4B-0B707CE68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40" y="821635"/>
                <a:ext cx="4267200" cy="400110"/>
              </a:xfrm>
              <a:prstGeom prst="rect">
                <a:avLst/>
              </a:prstGeom>
              <a:blipFill>
                <a:blip r:embed="rId2"/>
                <a:stretch>
                  <a:fillRect l="-1429" t="-9231" b="-276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F8F8C8-C764-48EF-93B5-7FEE22F5FF2E}"/>
                  </a:ext>
                </a:extLst>
              </p:cNvPr>
              <p:cNvSpPr txBox="1"/>
              <p:nvPr/>
            </p:nvSpPr>
            <p:spPr>
              <a:xfrm>
                <a:off x="625211" y="1351291"/>
                <a:ext cx="1095718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fr-FR" sz="2000" dirty="0"/>
                  <a:t>Etablir la loi barométrique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/>
                  <a:t> dans le cas d’une atmosphère considérée comme un gaz parfait en évolution isotherme.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fr-FR" sz="2000" dirty="0"/>
                  <a:t>Distribution de la densité de particules dans l’atmosphère.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F8F8C8-C764-48EF-93B5-7FEE22F5F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11" y="1351291"/>
                <a:ext cx="10957189" cy="1323439"/>
              </a:xfrm>
              <a:prstGeom prst="rect">
                <a:avLst/>
              </a:prstGeom>
              <a:blipFill>
                <a:blip r:embed="rId3"/>
                <a:stretch>
                  <a:fillRect l="-501" t="-2765" b="-73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0970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89FBC3-B245-4E1C-9CE7-F3BE26C1388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5240120" y="419837"/>
            <a:ext cx="6673584" cy="60207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F78CB8-C4F5-4ED7-B3AA-F83C53084AB4}"/>
              </a:ext>
            </a:extLst>
          </p:cNvPr>
          <p:cNvSpPr txBox="1"/>
          <p:nvPr/>
        </p:nvSpPr>
        <p:spPr>
          <a:xfrm>
            <a:off x="516835" y="235171"/>
            <a:ext cx="3954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Profil de la pression dans la troposphère</a:t>
            </a:r>
          </a:p>
        </p:txBody>
      </p:sp>
    </p:spTree>
    <p:extLst>
      <p:ext uri="{BB962C8B-B14F-4D97-AF65-F5344CB8AC3E}">
        <p14:creationId xmlns:p14="http://schemas.microsoft.com/office/powerpoint/2010/main" val="1504713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72749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Evolution annuelle de l'altitude de la tropopause - MétéoSuisse">
            <a:extLst>
              <a:ext uri="{FF2B5EF4-FFF2-40B4-BE49-F238E27FC236}">
                <a16:creationId xmlns:a16="http://schemas.microsoft.com/office/drawing/2014/main" id="{FEE22959-7FD8-4667-B363-AF0C09F7B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05" y="642937"/>
            <a:ext cx="4191000" cy="557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0901E5-DDAA-4398-81AD-4AD0A6E678BC}"/>
              </a:ext>
            </a:extLst>
          </p:cNvPr>
          <p:cNvSpPr txBox="1"/>
          <p:nvPr/>
        </p:nvSpPr>
        <p:spPr>
          <a:xfrm>
            <a:off x="331304" y="152607"/>
            <a:ext cx="62340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Evolution de la température dans  l’atmosphère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1329-1244-4EE0-A23B-693AB9F0A301}"/>
              </a:ext>
            </a:extLst>
          </p:cNvPr>
          <p:cNvSpPr txBox="1"/>
          <p:nvPr/>
        </p:nvSpPr>
        <p:spPr>
          <a:xfrm>
            <a:off x="6096000" y="1033670"/>
            <a:ext cx="2194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Dans la troposphère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16AE64-9D81-4399-8DE9-670E76723E71}"/>
                  </a:ext>
                </a:extLst>
              </p:cNvPr>
              <p:cNvSpPr txBox="1"/>
              <p:nvPr/>
            </p:nvSpPr>
            <p:spPr>
              <a:xfrm>
                <a:off x="6096000" y="1444733"/>
                <a:ext cx="21469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16AE64-9D81-4399-8DE9-670E76723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444733"/>
                <a:ext cx="2146934" cy="369332"/>
              </a:xfrm>
              <a:prstGeom prst="rect">
                <a:avLst/>
              </a:prstGeom>
              <a:blipFill>
                <a:blip r:embed="rId3"/>
                <a:stretch>
                  <a:fillRect l="-2841" r="-1705" b="-14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DB9462-FFA6-4B8F-B170-145891B8477D}"/>
                  </a:ext>
                </a:extLst>
              </p:cNvPr>
              <p:cNvSpPr txBox="1"/>
              <p:nvPr/>
            </p:nvSpPr>
            <p:spPr>
              <a:xfrm>
                <a:off x="5782918" y="2044374"/>
                <a:ext cx="3163958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𝟔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𝟓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sSup>
                        <m:sSup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𝟏𝟎</m:t>
                          </m:r>
                        </m:e>
                        <m:sup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𝑲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sSup>
                        <m:sSup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𝒎</m:t>
                          </m:r>
                        </m:e>
                        <m:sup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DB9462-FFA6-4B8F-B170-145891B84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918" y="2044374"/>
                <a:ext cx="3163958" cy="47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58CE94-CE2C-4A4C-83C9-72D8E8A93402}"/>
                  </a:ext>
                </a:extLst>
              </p:cNvPr>
              <p:cNvSpPr txBox="1"/>
              <p:nvPr/>
            </p:nvSpPr>
            <p:spPr>
              <a:xfrm>
                <a:off x="5577014" y="2833104"/>
                <a:ext cx="6100709" cy="3929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Chercher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/>
                  <a:t> avec cette nouvelle donnée sur la température.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58CE94-CE2C-4A4C-83C9-72D8E8A93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014" y="2833104"/>
                <a:ext cx="6100709" cy="392993"/>
              </a:xfrm>
              <a:prstGeom prst="rect">
                <a:avLst/>
              </a:prstGeom>
              <a:blipFill>
                <a:blip r:embed="rId5"/>
                <a:stretch>
                  <a:fillRect l="-899" t="-3125" r="-100" b="-2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34884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D35309-FA55-4866-9903-BA2A8F30A0B5}"/>
                  </a:ext>
                </a:extLst>
              </p:cNvPr>
              <p:cNvSpPr txBox="1"/>
              <p:nvPr/>
            </p:nvSpPr>
            <p:spPr>
              <a:xfrm>
                <a:off x="2226365" y="860552"/>
                <a:ext cx="3154017" cy="6438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fr-FR" sz="2400" b="1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400" b="1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fr-FR" sz="2400" b="1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fr-FR" sz="2400" b="1" i="1" u="none" strike="noStrike" baseline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p>
                        <m:sSupPr>
                          <m:ctrlPr>
                            <a:rPr lang="fr-FR" sz="2400" b="1" i="1" u="none" strike="noStrike" baseline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fr-FR" sz="2400" b="1" i="1" u="none" strike="noStrike" baseline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2400" b="1" i="1" u="none" strike="noStrike" baseline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400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𝒎𝒈𝒛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sz="2400" b="1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1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fr-FR" sz="2400" b="1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  <m:r>
                                <a:rPr lang="fr-FR" sz="2400" b="1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D35309-FA55-4866-9903-BA2A8F30A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365" y="860552"/>
                <a:ext cx="3154017" cy="6438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AA040B8-1553-4E32-97C4-B97E19128FA1}"/>
              </a:ext>
            </a:extLst>
          </p:cNvPr>
          <p:cNvSpPr txBox="1"/>
          <p:nvPr/>
        </p:nvSpPr>
        <p:spPr>
          <a:xfrm>
            <a:off x="410818" y="3437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Distribution de la densité de particules dans l’atmosphère</a:t>
            </a:r>
            <a:endParaRPr lang="fr-FR" dirty="0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1F7D32D1-CC8B-47D3-A27F-FAF314DCE7AC}"/>
              </a:ext>
            </a:extLst>
          </p:cNvPr>
          <p:cNvSpPr/>
          <p:nvPr/>
        </p:nvSpPr>
        <p:spPr>
          <a:xfrm>
            <a:off x="8123583" y="1182467"/>
            <a:ext cx="755374" cy="3522055"/>
          </a:xfrm>
          <a:prstGeom prst="can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20B877-D49E-4BBF-A0B6-C78D1A6965FC}"/>
              </a:ext>
            </a:extLst>
          </p:cNvPr>
          <p:cNvCxnSpPr/>
          <p:nvPr/>
        </p:nvCxnSpPr>
        <p:spPr>
          <a:xfrm flipV="1">
            <a:off x="8123583" y="225287"/>
            <a:ext cx="0" cy="44792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5162A6-D062-42AE-81DB-1207883817D9}"/>
                  </a:ext>
                </a:extLst>
              </p:cNvPr>
              <p:cNvSpPr txBox="1"/>
              <p:nvPr/>
            </p:nvSpPr>
            <p:spPr>
              <a:xfrm>
                <a:off x="7500731" y="66718"/>
                <a:ext cx="543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𝒛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5162A6-D062-42AE-81DB-120788381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731" y="66718"/>
                <a:ext cx="54333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ylinder 10">
            <a:extLst>
              <a:ext uri="{FF2B5EF4-FFF2-40B4-BE49-F238E27FC236}">
                <a16:creationId xmlns:a16="http://schemas.microsoft.com/office/drawing/2014/main" id="{7A0BD2FD-710C-4C40-9A00-EA2658B18176}"/>
              </a:ext>
            </a:extLst>
          </p:cNvPr>
          <p:cNvSpPr/>
          <p:nvPr/>
        </p:nvSpPr>
        <p:spPr>
          <a:xfrm>
            <a:off x="8123582" y="2278509"/>
            <a:ext cx="755375" cy="398430"/>
          </a:xfrm>
          <a:prstGeom prst="can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1AB133-27A1-4871-ABC2-6319075D06E5}"/>
                  </a:ext>
                </a:extLst>
              </p:cNvPr>
              <p:cNvSpPr txBox="1"/>
              <p:nvPr/>
            </p:nvSpPr>
            <p:spPr>
              <a:xfrm>
                <a:off x="8249479" y="4730161"/>
                <a:ext cx="5433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1AB133-27A1-4871-ABC2-6319075D0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479" y="4730161"/>
                <a:ext cx="54333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38154F-2685-4A68-AAB0-DA3ADAFD0AA4}"/>
                  </a:ext>
                </a:extLst>
              </p:cNvPr>
              <p:cNvSpPr txBox="1"/>
              <p:nvPr/>
            </p:nvSpPr>
            <p:spPr>
              <a:xfrm>
                <a:off x="7573619" y="2418592"/>
                <a:ext cx="5433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𝒛</m:t>
                      </m:r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38154F-2685-4A68-AAB0-DA3ADAFD0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619" y="2418592"/>
                <a:ext cx="54333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140831-181E-4139-AB0B-2C54630FDA3A}"/>
                  </a:ext>
                </a:extLst>
              </p:cNvPr>
              <p:cNvSpPr txBox="1"/>
              <p:nvPr/>
            </p:nvSpPr>
            <p:spPr>
              <a:xfrm>
                <a:off x="7242314" y="2108392"/>
                <a:ext cx="8812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𝒛</m:t>
                      </m:r>
                      <m:r>
                        <a:rPr kumimoji="0" lang="fr-FR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fr-FR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𝒅𝒛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140831-181E-4139-AB0B-2C54630FD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314" y="2108392"/>
                <a:ext cx="8812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9D67596-4B53-4F17-BB80-AA449210E793}"/>
              </a:ext>
            </a:extLst>
          </p:cNvPr>
          <p:cNvSpPr txBox="1"/>
          <p:nvPr/>
        </p:nvSpPr>
        <p:spPr>
          <a:xfrm>
            <a:off x="410818" y="2001078"/>
            <a:ext cx="6339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 nombre de particule contenu dans le cylindre élémentaire est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DEC834-2538-4AA7-A04D-D8EB2205D002}"/>
                  </a:ext>
                </a:extLst>
              </p:cNvPr>
              <p:cNvSpPr txBox="1"/>
              <p:nvPr/>
            </p:nvSpPr>
            <p:spPr>
              <a:xfrm>
                <a:off x="1314468" y="2514675"/>
                <a:ext cx="4146263" cy="555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𝑑𝑁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𝑆𝑑𝑧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fr-FR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sz="2400" b="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4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𝑚𝑔𝑧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2400" b="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fr-FR" sz="24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  <m:r>
                        <a:rPr lang="fr-FR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DEC834-2538-4AA7-A04D-D8EB2205D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68" y="2514675"/>
                <a:ext cx="4146263" cy="5554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DDEAEAF-7415-454D-A56C-081637F022BB}"/>
              </a:ext>
            </a:extLst>
          </p:cNvPr>
          <p:cNvSpPr txBox="1"/>
          <p:nvPr/>
        </p:nvSpPr>
        <p:spPr>
          <a:xfrm>
            <a:off x="439825" y="3418521"/>
            <a:ext cx="6051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 nombre total de particule contenu dans la colonne d’air est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336693-1A5B-4E71-9F36-72C6017FCB59}"/>
                  </a:ext>
                </a:extLst>
              </p:cNvPr>
              <p:cNvSpPr txBox="1"/>
              <p:nvPr/>
            </p:nvSpPr>
            <p:spPr>
              <a:xfrm>
                <a:off x="2090449" y="3977976"/>
                <a:ext cx="5040547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𝑑𝑁</m:t>
                          </m:r>
                        </m:e>
                      </m:nary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  <m:sSup>
                            <m:sSupPr>
                              <m:ctrlPr>
                                <a:rPr lang="fr-FR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fr-FR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fr-FR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𝑚𝑔𝑧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fr-FR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fr-FR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  <m:r>
                            <a:rPr lang="fr-F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𝑆</m:t>
                      </m:r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fr-FR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𝑚𝑔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336693-1A5B-4E71-9F36-72C6017FC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449" y="3977976"/>
                <a:ext cx="5040547" cy="7265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8EDD8BD-9819-4909-9C06-74261B59FD09}"/>
                  </a:ext>
                </a:extLst>
              </p:cNvPr>
              <p:cNvSpPr txBox="1"/>
              <p:nvPr/>
            </p:nvSpPr>
            <p:spPr>
              <a:xfrm>
                <a:off x="1457740" y="4930216"/>
                <a:ext cx="2517913" cy="755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𝑑𝑁</m:t>
                      </m:r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𝑁</m:t>
                      </m:r>
                      <m:sSup>
                        <m:sSupPr>
                          <m:ctrlPr>
                            <a:rPr lang="fr-FR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fr-FR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𝒎𝒈𝒛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1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fr-FR" b="1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  <m:r>
                                <a:rPr lang="fr-FR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</m:sup>
                      </m:sSup>
                      <m:f>
                        <m:fPr>
                          <m:ctrlPr>
                            <a:rPr lang="fr-FR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𝒅𝒛</m:t>
                          </m:r>
                        </m:num>
                        <m:den>
                          <m:r>
                            <a:rPr lang="fr-FR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8EDD8BD-9819-4909-9C06-74261B59F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740" y="4930216"/>
                <a:ext cx="2517913" cy="7557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DE25B9C-EE1A-48DF-966A-F59AB5C18BF2}"/>
              </a:ext>
            </a:extLst>
          </p:cNvPr>
          <p:cNvSpPr txBox="1"/>
          <p:nvPr/>
        </p:nvSpPr>
        <p:spPr>
          <a:xfrm>
            <a:off x="439825" y="5900332"/>
            <a:ext cx="5433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 probabilité de trouver une particule à l’altitude z est :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662EEC-0FB1-4582-BAB4-6E186A8DFB90}"/>
                  </a:ext>
                </a:extLst>
              </p:cNvPr>
              <p:cNvSpPr txBox="1"/>
              <p:nvPr/>
            </p:nvSpPr>
            <p:spPr>
              <a:xfrm>
                <a:off x="5778829" y="5747534"/>
                <a:ext cx="3443803" cy="6749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𝒅𝑷</m:t>
                      </m:r>
                      <m:d>
                        <m:d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𝒛</m:t>
                          </m:r>
                        </m:e>
                      </m:d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𝒅𝑵</m:t>
                          </m:r>
                        </m:num>
                        <m:den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𝑵</m:t>
                          </m:r>
                        </m:den>
                      </m:f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fr-F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fr-F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𝒆</m:t>
                          </m:r>
                        </m:e>
                        <m:sup>
                          <m:r>
                            <a:rPr kumimoji="0" lang="fr-F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f>
                            <m:fPr>
                              <m:ctrlPr>
                                <a:rPr kumimoji="0" lang="fr-FR" sz="2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fr-FR" sz="2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𝒎𝒈𝒛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kumimoji="0" lang="fr-FR" sz="2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sz="2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kumimoji="0" lang="fr-FR" sz="2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𝑩</m:t>
                                  </m:r>
                                </m:sub>
                              </m:sSub>
                              <m:r>
                                <a:rPr kumimoji="0" lang="fr-FR" sz="2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</m:t>
                              </m:r>
                            </m:den>
                          </m:f>
                        </m:sup>
                      </m:sSup>
                      <m:f>
                        <m:fPr>
                          <m:ctrlPr>
                            <a:rPr kumimoji="0" lang="fr-F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fr-F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𝒅𝒛</m:t>
                          </m:r>
                        </m:num>
                        <m:den>
                          <m:r>
                            <a:rPr kumimoji="0" lang="fr-F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𝑯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662EEC-0FB1-4582-BAB4-6E186A8DF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829" y="5747534"/>
                <a:ext cx="3443803" cy="67492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4659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18CB65-6141-4174-A03D-31590ABDDDF9}"/>
                  </a:ext>
                </a:extLst>
              </p:cNvPr>
              <p:cNvSpPr txBox="1"/>
              <p:nvPr/>
            </p:nvSpPr>
            <p:spPr>
              <a:xfrm>
                <a:off x="385194" y="181621"/>
                <a:ext cx="3443803" cy="6749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𝒅𝑷</m:t>
                      </m:r>
                      <m:d>
                        <m:d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𝒛</m:t>
                          </m:r>
                        </m:e>
                      </m:d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𝒅𝑵</m:t>
                          </m:r>
                        </m:num>
                        <m:den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𝑵</m:t>
                          </m:r>
                        </m:den>
                      </m:f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fr-F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fr-F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𝒆</m:t>
                          </m:r>
                        </m:e>
                        <m:sup>
                          <m:r>
                            <a:rPr kumimoji="0" lang="fr-F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f>
                            <m:fPr>
                              <m:ctrlPr>
                                <a:rPr kumimoji="0" lang="fr-FR" sz="2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fr-FR" sz="2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𝒎𝒈𝒛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kumimoji="0" lang="fr-FR" sz="2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sz="2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kumimoji="0" lang="fr-FR" sz="2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𝑩</m:t>
                                  </m:r>
                                </m:sub>
                              </m:sSub>
                              <m:r>
                                <a:rPr kumimoji="0" lang="fr-FR" sz="2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𝑻</m:t>
                              </m:r>
                            </m:den>
                          </m:f>
                        </m:sup>
                      </m:sSup>
                      <m:f>
                        <m:fPr>
                          <m:ctrlPr>
                            <a:rPr kumimoji="0" lang="fr-F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fr-F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𝒅𝒛</m:t>
                          </m:r>
                        </m:num>
                        <m:den>
                          <m:r>
                            <a:rPr kumimoji="0" lang="fr-FR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𝑯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18CB65-6141-4174-A03D-31590ABDD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4" y="181621"/>
                <a:ext cx="3443803" cy="6749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C72406-0D95-4323-BFED-422930ECC330}"/>
                  </a:ext>
                </a:extLst>
              </p:cNvPr>
              <p:cNvSpPr txBox="1"/>
              <p:nvPr/>
            </p:nvSpPr>
            <p:spPr>
              <a:xfrm>
                <a:off x="5141843" y="181621"/>
                <a:ext cx="4293704" cy="899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𝒅𝑷</m:t>
                          </m:r>
                          <m:d>
                            <m:dPr>
                              <m:ctrlPr>
                                <a:rPr kumimoji="0" lang="fr-FR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fr-FR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kumimoji="0" lang="fr-FR" sz="2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fr-FR" sz="2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kumimoji="0" lang="fr-FR" sz="20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0" lang="fr-FR" sz="2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fr-FR" sz="2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𝒎𝒈𝒛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fr-FR" sz="2000" b="1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fr-FR" sz="2000" b="1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  <m:sub>
                                      <m:r>
                                        <a:rPr kumimoji="0" lang="fr-FR" sz="2000" b="1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</m:sub>
                                  </m:sSub>
                                  <m:r>
                                    <a:rPr kumimoji="0" lang="fr-FR" sz="2000" b="1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  <m:f>
                        <m:fPr>
                          <m:ctrlPr>
                            <a:rPr kumimoji="0" lang="fr-FR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𝒅𝒛</m:t>
                          </m:r>
                        </m:num>
                        <m:den>
                          <m:r>
                            <a:rPr kumimoji="0" lang="fr-FR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𝑯</m:t>
                          </m:r>
                        </m:den>
                      </m:f>
                      <m:r>
                        <a:rPr kumimoji="0" lang="fr-FR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fr-FR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C72406-0D95-4323-BFED-422930ECC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843" y="181621"/>
                <a:ext cx="4293704" cy="8996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A74AFB-674E-41EC-B401-379B94A58AF9}"/>
                  </a:ext>
                </a:extLst>
              </p:cNvPr>
              <p:cNvSpPr txBox="1"/>
              <p:nvPr/>
            </p:nvSpPr>
            <p:spPr>
              <a:xfrm>
                <a:off x="385193" y="1557626"/>
                <a:ext cx="10826145" cy="849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fr-FR" sz="20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Le facteur de Boltzman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fr-FR" sz="20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fr-FR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kumimoji="0" lang="fr-FR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kumimoji="0" lang="fr-FR" sz="20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fr-FR" sz="20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𝒎𝒈𝒛</m:t>
                            </m:r>
                          </m:num>
                          <m:den>
                            <m:sSub>
                              <m:sSubPr>
                                <m:ctrlPr>
                                  <a:rPr kumimoji="0" lang="fr-FR" sz="2000" b="1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2000" b="1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kumimoji="0" lang="fr-FR" sz="2000" b="1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sub>
                            </m:sSub>
                            <m:r>
                              <a:rPr kumimoji="0" lang="fr-FR" sz="20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den>
                        </m:f>
                      </m:sup>
                    </m:sSup>
                  </m:oMath>
                </a14:m>
                <a:r>
                  <a:rPr lang="fr-FR" sz="2000" dirty="0"/>
                  <a:t>, il représente la loi de distribution statistique des particules de l’air dans l’énergie potentielle de pesanteur en évolution isotherme (thermostaté).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A74AFB-674E-41EC-B401-379B94A58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3" y="1557626"/>
                <a:ext cx="10826145" cy="849720"/>
              </a:xfrm>
              <a:prstGeom prst="rect">
                <a:avLst/>
              </a:prstGeom>
              <a:blipFill>
                <a:blip r:embed="rId4"/>
                <a:stretch>
                  <a:fillRect l="-563" b="-122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35C0C12-1E26-488B-8856-E09B100D2DF2}"/>
              </a:ext>
            </a:extLst>
          </p:cNvPr>
          <p:cNvSpPr txBox="1"/>
          <p:nvPr/>
        </p:nvSpPr>
        <p:spPr>
          <a:xfrm>
            <a:off x="385194" y="2809461"/>
            <a:ext cx="107201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En général : </a:t>
            </a:r>
            <a:r>
              <a:rPr lang="fr-FR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fr-FR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facteur de Boltzmann </a:t>
            </a:r>
            <a:r>
              <a:rPr lang="fr-FR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 omniprésent dans la description de la répartition statistique des particules dans un système en équilibre thermodynamique en contact avec un thermostat. 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90B831-9B0B-4036-B93C-0C7CD741F387}"/>
                  </a:ext>
                </a:extLst>
              </p:cNvPr>
              <p:cNvSpPr txBox="1"/>
              <p:nvPr/>
            </p:nvSpPr>
            <p:spPr>
              <a:xfrm>
                <a:off x="385193" y="3976935"/>
                <a:ext cx="11224591" cy="1597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2000" b="0" i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Considérons un système (S) de particules indépendantes, en équilibre avec un thermostat de température T. </a:t>
                </a:r>
              </a:p>
              <a:p>
                <a:pPr algn="just"/>
                <a:r>
                  <a:rPr lang="fr-FR" sz="2000" b="0" i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probabilité de trouver une particule dans un état d’énergie </a:t>
                </a:r>
                <a:r>
                  <a:rPr lang="fr-FR" sz="2400" b="0" i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𝜀</a:t>
                </a:r>
                <a:r>
                  <a:rPr lang="fr-FR" sz="2000" b="0" i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est proportionnelle au </a:t>
                </a:r>
                <a:r>
                  <a:rPr lang="fr-FR" sz="2000" b="0" i="1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facteur de Boltzmann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fr-FR" sz="20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fr-FR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𝒆</m:t>
                        </m:r>
                      </m:e>
                      <m:sup>
                        <m:r>
                          <a:rPr kumimoji="0" lang="fr-FR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f>
                          <m:fPr>
                            <m:ctrlPr>
                              <a:rPr kumimoji="0" lang="fr-FR" sz="20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fr-FR" sz="2000" dirty="0">
                                <a:solidFill>
                                  <a:srgbClr val="000000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𝜀</m:t>
                            </m:r>
                          </m:num>
                          <m:den>
                            <m:sSub>
                              <m:sSubPr>
                                <m:ctrlPr>
                                  <a:rPr kumimoji="0" lang="fr-FR" sz="2000" b="1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2000" b="1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kumimoji="0" lang="fr-FR" sz="2000" b="1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𝑩</m:t>
                                </m:r>
                              </m:sub>
                            </m:sSub>
                            <m:r>
                              <a:rPr kumimoji="0" lang="fr-FR" sz="20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𝑻</m:t>
                            </m:r>
                          </m:den>
                        </m:f>
                      </m:sup>
                    </m:sSup>
                  </m:oMath>
                </a14:m>
                <a:endParaRPr lang="fr-F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90B831-9B0B-4036-B93C-0C7CD741F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3" y="3976935"/>
                <a:ext cx="11224591" cy="1597297"/>
              </a:xfrm>
              <a:prstGeom prst="rect">
                <a:avLst/>
              </a:prstGeom>
              <a:blipFill>
                <a:blip r:embed="rId5"/>
                <a:stretch>
                  <a:fillRect l="-543" t="-1527" r="-598" b="-45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28E902-4FED-4F4D-841C-14863E26AF40}"/>
                  </a:ext>
                </a:extLst>
              </p:cNvPr>
              <p:cNvSpPr txBox="1"/>
              <p:nvPr/>
            </p:nvSpPr>
            <p:spPr>
              <a:xfrm>
                <a:off x="4505739" y="5394713"/>
                <a:ext cx="2146852" cy="532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fr-FR" sz="1800" b="0" i="1" u="none" strike="noStrike" baseline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b="0" i="1" u="none" strike="noStrike" baseline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d>
                      <m:r>
                        <a:rPr lang="fr-FR" sz="1800" b="0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800" b="1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𝑪𝒕𝒆</m:t>
                      </m:r>
                      <m:r>
                        <a:rPr lang="fr-FR" sz="1800" b="1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fr-FR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fr-FR" dirty="0">
                                  <a:solidFill>
                                    <a:srgbClr val="000000"/>
                                  </a:solidFill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𝜀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1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fr-FR" b="1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  <m:r>
                                <a:rPr lang="fr-FR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28E902-4FED-4F4D-841C-14863E26A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739" y="5394713"/>
                <a:ext cx="2146852" cy="5329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43169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1E800F-820F-4816-BBE9-0B51FFA85303}"/>
                  </a:ext>
                </a:extLst>
              </p:cNvPr>
              <p:cNvSpPr txBox="1"/>
              <p:nvPr/>
            </p:nvSpPr>
            <p:spPr>
              <a:xfrm>
                <a:off x="404191" y="205409"/>
                <a:ext cx="388567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0" u="sng" smtClean="0">
                          <a:latin typeface="Cambria Math" panose="02040503050406030204" pitchFamily="18" charset="0"/>
                        </a:rPr>
                        <m:t>𝐋𝐨𝐢</m:t>
                      </m:r>
                      <m:r>
                        <a:rPr lang="fr-FR" sz="2000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u="sng" smtClean="0">
                          <a:latin typeface="Cambria Math" panose="02040503050406030204" pitchFamily="18" charset="0"/>
                        </a:rPr>
                        <m:t>𝐝𝐞</m:t>
                      </m:r>
                      <m:r>
                        <a:rPr lang="fr-FR" sz="2000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u="sng" smtClean="0">
                          <a:latin typeface="Cambria Math" panose="02040503050406030204" pitchFamily="18" charset="0"/>
                        </a:rPr>
                        <m:t>𝐝𝐢𝐬𝐭𝐫𝐢𝐛𝐮𝐭𝐢𝐨𝐧</m:t>
                      </m:r>
                      <m:r>
                        <a:rPr lang="fr-FR" sz="2000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u="sng" smtClean="0">
                          <a:latin typeface="Cambria Math" panose="02040503050406030204" pitchFamily="18" charset="0"/>
                        </a:rPr>
                        <m:t>𝐝𝐞</m:t>
                      </m:r>
                      <m:r>
                        <a:rPr lang="fr-FR" sz="2000" b="1" i="0" u="sng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1" i="0" u="sng" smtClean="0">
                          <a:latin typeface="Cambria Math" panose="02040503050406030204" pitchFamily="18" charset="0"/>
                        </a:rPr>
                        <m:t>𝐁𝐨𝐥𝐭𝐳𝐦𝐚𝐧</m:t>
                      </m:r>
                    </m:oMath>
                  </m:oMathPara>
                </a14:m>
                <a:endParaRPr lang="fr-FR" sz="2000" b="1" u="sn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1E800F-820F-4816-BBE9-0B51FFA85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91" y="205409"/>
                <a:ext cx="3885679" cy="307777"/>
              </a:xfrm>
              <a:prstGeom prst="rect">
                <a:avLst/>
              </a:prstGeom>
              <a:blipFill>
                <a:blip r:embed="rId2"/>
                <a:stretch>
                  <a:fillRect l="-1097" r="-1411" b="-12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762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1">
            <a:extLst>
              <a:ext uri="{FF2B5EF4-FFF2-40B4-BE49-F238E27FC236}">
                <a16:creationId xmlns:a16="http://schemas.microsoft.com/office/drawing/2014/main" id="{A2E29BA6-706F-40CA-8CAC-7C3A96ABB694}"/>
              </a:ext>
            </a:extLst>
          </p:cNvPr>
          <p:cNvSpPr txBox="1"/>
          <p:nvPr/>
        </p:nvSpPr>
        <p:spPr>
          <a:xfrm>
            <a:off x="535309" y="303838"/>
            <a:ext cx="3384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Théorème d’Archimède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4F3335-A434-4110-A293-3E3D1099826B}"/>
                  </a:ext>
                </a:extLst>
              </p:cNvPr>
              <p:cNvSpPr txBox="1"/>
              <p:nvPr/>
            </p:nvSpPr>
            <p:spPr>
              <a:xfrm>
                <a:off x="1212574" y="4544882"/>
                <a:ext cx="3596049" cy="4717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𝝅</m:t>
                              </m:r>
                            </m:e>
                          </m:acc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𝒇𝒍𝒖𝒊𝒅𝒆</m:t>
                          </m:r>
                        </m:sub>
                      </m:sSub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𝒔𝒐𝒍𝒊𝒅𝒆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</m:acc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4F3335-A434-4110-A293-3E3D10998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574" y="4544882"/>
                <a:ext cx="3596049" cy="4717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Un MOOC pour la Physique - La poussée d'Archimède">
            <a:extLst>
              <a:ext uri="{FF2B5EF4-FFF2-40B4-BE49-F238E27FC236}">
                <a16:creationId xmlns:a16="http://schemas.microsoft.com/office/drawing/2014/main" id="{3CD14C35-3C2C-4D66-AD0A-2C3A6E68E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782" y="3990173"/>
            <a:ext cx="5658678" cy="2270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24BB49-1E98-450C-9391-3EA26147C3E8}"/>
              </a:ext>
            </a:extLst>
          </p:cNvPr>
          <p:cNvSpPr txBox="1"/>
          <p:nvPr/>
        </p:nvSpPr>
        <p:spPr>
          <a:xfrm>
            <a:off x="426681" y="874455"/>
            <a:ext cx="111001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/>
              <a:t>La poussée d'Archimède est une force verticale dirigée vers le haut, exercée par un fluide (liquide ou gaz) sur tout objet (solide) qui y est plongé, partiellement ou totalement</a:t>
            </a:r>
            <a:r>
              <a:rPr lang="fr-FR" sz="2000" b="0" i="0" dirty="0">
                <a:solidFill>
                  <a:srgbClr val="0A0A0A"/>
                </a:solidFill>
                <a:effectLst/>
                <a:latin typeface="Google Sans"/>
              </a:rPr>
              <a:t>, cette force étant égale au poids du volume de fluide déplacé par l'objet</a:t>
            </a:r>
            <a:endParaRPr lang="fr-FR" sz="2000" dirty="0">
              <a:solidFill>
                <a:srgbClr val="0A0A0A"/>
              </a:solidFill>
              <a:latin typeface="Google Sans"/>
            </a:endParaRPr>
          </a:p>
          <a:p>
            <a:pPr algn="just"/>
            <a:endParaRPr lang="fr-FR" sz="20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b="0" i="0" dirty="0">
                <a:solidFill>
                  <a:srgbClr val="0A0A0A"/>
                </a:solidFill>
                <a:effectLst/>
                <a:latin typeface="Google Sans"/>
              </a:rPr>
              <a:t>Elle s'applique au centre de gravité du volume de fluide déplacé (centre de poussée). </a:t>
            </a:r>
          </a:p>
          <a:p>
            <a:pPr algn="just"/>
            <a:endParaRPr lang="fr-FR" sz="2000" dirty="0">
              <a:solidFill>
                <a:srgbClr val="0A0A0A"/>
              </a:solidFill>
              <a:latin typeface="Google Sans"/>
            </a:endParaRPr>
          </a:p>
          <a:p>
            <a:pPr algn="just"/>
            <a:endParaRPr lang="fr-FR" sz="20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>
                <a:solidFill>
                  <a:srgbClr val="0A0A0A"/>
                </a:solidFill>
                <a:latin typeface="Google Sans"/>
              </a:rPr>
              <a:t>Ce qui </a:t>
            </a:r>
            <a:r>
              <a:rPr lang="fr-FR" sz="2000" b="0" i="0" dirty="0">
                <a:solidFill>
                  <a:srgbClr val="0A0A0A"/>
                </a:solidFill>
                <a:effectLst/>
                <a:latin typeface="Google Sans"/>
              </a:rPr>
              <a:t>explique pourquoi les bateaux flottent et les objets paraissent plus légers dans l'eau. 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5763168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3FE9AD-97E4-4708-9944-689526335149}"/>
              </a:ext>
            </a:extLst>
          </p:cNvPr>
          <p:cNvSpPr txBox="1"/>
          <p:nvPr/>
        </p:nvSpPr>
        <p:spPr>
          <a:xfrm>
            <a:off x="596347" y="226151"/>
            <a:ext cx="38961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400" dirty="0"/>
              <a:t>Mesures de pression ; unités </a:t>
            </a:r>
            <a:endParaRPr lang="fr-FR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9203DF-7780-45E7-B205-E79042266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791" y="456766"/>
            <a:ext cx="3735643" cy="438647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38E0CB-DF91-4460-8A1B-41E6AABC355E}"/>
              </a:ext>
            </a:extLst>
          </p:cNvPr>
          <p:cNvCxnSpPr/>
          <p:nvPr/>
        </p:nvCxnSpPr>
        <p:spPr>
          <a:xfrm flipH="1">
            <a:off x="8215612" y="1736035"/>
            <a:ext cx="19753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E0352B-96A6-4AD3-8A5C-68270CD6894C}"/>
                  </a:ext>
                </a:extLst>
              </p:cNvPr>
              <p:cNvSpPr txBox="1"/>
              <p:nvPr/>
            </p:nvSpPr>
            <p:spPr>
              <a:xfrm>
                <a:off x="9071114" y="1273504"/>
                <a:ext cx="12875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𝑣𝑖𝑑𝑒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E0352B-96A6-4AD3-8A5C-68270CD68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114" y="1273504"/>
                <a:ext cx="1287532" cy="369332"/>
              </a:xfrm>
              <a:prstGeom prst="rect">
                <a:avLst/>
              </a:prstGeom>
              <a:blipFill>
                <a:blip r:embed="rId3"/>
                <a:stretch>
                  <a:fillRect l="-4739" r="-5687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4B2339D-36CD-4B59-A8F1-0113FD6ACD63}"/>
                  </a:ext>
                </a:extLst>
              </p:cNvPr>
              <p:cNvSpPr txBox="1"/>
              <p:nvPr/>
            </p:nvSpPr>
            <p:spPr>
              <a:xfrm>
                <a:off x="6831316" y="2977237"/>
                <a:ext cx="69365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4B2339D-36CD-4B59-A8F1-0113FD6AC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316" y="2977237"/>
                <a:ext cx="693651" cy="369332"/>
              </a:xfrm>
              <a:prstGeom prst="rect">
                <a:avLst/>
              </a:prstGeom>
              <a:blipFill>
                <a:blip r:embed="rId4"/>
                <a:stretch>
                  <a:fillRect l="-10619" r="-4425" b="-131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4177C0-6629-467A-B336-B58F10BDCC7B}"/>
                  </a:ext>
                </a:extLst>
              </p:cNvPr>
              <p:cNvSpPr txBox="1"/>
              <p:nvPr/>
            </p:nvSpPr>
            <p:spPr>
              <a:xfrm>
                <a:off x="8799444" y="2607905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4177C0-6629-467A-B336-B58F10BDC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444" y="2607905"/>
                <a:ext cx="245708" cy="369332"/>
              </a:xfrm>
              <a:prstGeom prst="rect">
                <a:avLst/>
              </a:prstGeom>
              <a:blipFill>
                <a:blip r:embed="rId5"/>
                <a:stretch>
                  <a:fillRect l="-29268" r="-26829" b="-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B59A1E-1EF8-4A54-BFCC-002048B28ADE}"/>
                  </a:ext>
                </a:extLst>
              </p:cNvPr>
              <p:cNvSpPr txBox="1"/>
              <p:nvPr/>
            </p:nvSpPr>
            <p:spPr>
              <a:xfrm>
                <a:off x="1833354" y="1458170"/>
                <a:ext cx="1955535" cy="39940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𝐻𝑔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𝑔h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B59A1E-1EF8-4A54-BFCC-002048B28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354" y="1458170"/>
                <a:ext cx="1955535" cy="399405"/>
              </a:xfrm>
              <a:prstGeom prst="rect">
                <a:avLst/>
              </a:prstGeom>
              <a:blipFill>
                <a:blip r:embed="rId6"/>
                <a:stretch>
                  <a:fillRect l="-3427" r="-4984" b="-257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9ACE82-27E6-4165-9595-598EAC89A43A}"/>
                  </a:ext>
                </a:extLst>
              </p:cNvPr>
              <p:cNvSpPr txBox="1"/>
              <p:nvPr/>
            </p:nvSpPr>
            <p:spPr>
              <a:xfrm>
                <a:off x="1833354" y="2084002"/>
                <a:ext cx="22041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760 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𝑚𝑚𝐻𝑔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9ACE82-27E6-4165-9595-598EAC89A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354" y="2084002"/>
                <a:ext cx="2204130" cy="369332"/>
              </a:xfrm>
              <a:prstGeom prst="rect">
                <a:avLst/>
              </a:prstGeom>
              <a:blipFill>
                <a:blip r:embed="rId7"/>
                <a:stretch>
                  <a:fillRect l="-3047" r="-4432" b="-3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6FDB5BE-583B-4DAA-932A-57F25EF22A4E}"/>
              </a:ext>
            </a:extLst>
          </p:cNvPr>
          <p:cNvSpPr txBox="1"/>
          <p:nvPr/>
        </p:nvSpPr>
        <p:spPr>
          <a:xfrm>
            <a:off x="225286" y="912089"/>
            <a:ext cx="63632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La pression atmosphérique est donnée par la loi de </a:t>
            </a:r>
            <a:r>
              <a:rPr lang="fr-FR" sz="2000" dirty="0" err="1"/>
              <a:t>Toricelli</a:t>
            </a:r>
            <a:endParaRPr lang="fr-FR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AC56A4-6249-480E-A1F0-01962CC6471E}"/>
              </a:ext>
            </a:extLst>
          </p:cNvPr>
          <p:cNvSpPr txBox="1"/>
          <p:nvPr/>
        </p:nvSpPr>
        <p:spPr>
          <a:xfrm>
            <a:off x="388342" y="2994304"/>
            <a:ext cx="4845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mesure de la pression est absolue</a:t>
            </a:r>
          </a:p>
        </p:txBody>
      </p:sp>
    </p:spTree>
    <p:extLst>
      <p:ext uri="{BB962C8B-B14F-4D97-AF65-F5344CB8AC3E}">
        <p14:creationId xmlns:p14="http://schemas.microsoft.com/office/powerpoint/2010/main" val="15296059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xercice 1: Les récipients A et B contiennent de l'eau aux pressions  respectives de 2,80 et 1,40 bar. Calculer la dénivellat">
            <a:extLst>
              <a:ext uri="{FF2B5EF4-FFF2-40B4-BE49-F238E27FC236}">
                <a16:creationId xmlns:a16="http://schemas.microsoft.com/office/drawing/2014/main" id="{B2C6E0F5-0AEE-41AC-8A23-325D17536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352" y="494736"/>
            <a:ext cx="4558126" cy="350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8C8B66-B885-4936-9F4B-2D343328BC9E}"/>
              </a:ext>
            </a:extLst>
          </p:cNvPr>
          <p:cNvSpPr txBox="1"/>
          <p:nvPr/>
        </p:nvSpPr>
        <p:spPr>
          <a:xfrm>
            <a:off x="490330" y="212035"/>
            <a:ext cx="4460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Manomètre différentiel à mercure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518982-87AD-4087-95C3-8775A9958F78}"/>
                  </a:ext>
                </a:extLst>
              </p:cNvPr>
              <p:cNvSpPr txBox="1"/>
              <p:nvPr/>
            </p:nvSpPr>
            <p:spPr>
              <a:xfrm>
                <a:off x="1205948" y="1219200"/>
                <a:ext cx="2516651" cy="491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𝐻𝑔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𝑔h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518982-87AD-4087-95C3-8775A9958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948" y="1219200"/>
                <a:ext cx="2516651" cy="491738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47597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Mesurer une pression dans un liquide - myMaxicours">
            <a:extLst>
              <a:ext uri="{FF2B5EF4-FFF2-40B4-BE49-F238E27FC236}">
                <a16:creationId xmlns:a16="http://schemas.microsoft.com/office/drawing/2014/main" id="{56F19B23-27C2-464C-AB67-E2E4C7270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783" y="1222202"/>
            <a:ext cx="3591341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17A800-B091-42BF-B50B-3F64A877E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57" y="860770"/>
            <a:ext cx="5751443" cy="3923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69CE2B-1286-47EB-9EC9-EEBDA959392D}"/>
              </a:ext>
            </a:extLst>
          </p:cNvPr>
          <p:cNvSpPr txBox="1"/>
          <p:nvPr/>
        </p:nvSpPr>
        <p:spPr>
          <a:xfrm>
            <a:off x="344557" y="225286"/>
            <a:ext cx="2686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Capteur de pression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1C54E6-0949-470F-ADCB-E4565AB333FC}"/>
              </a:ext>
            </a:extLst>
          </p:cNvPr>
          <p:cNvCxnSpPr>
            <a:cxnSpLocks/>
          </p:cNvCxnSpPr>
          <p:nvPr/>
        </p:nvCxnSpPr>
        <p:spPr>
          <a:xfrm flipV="1">
            <a:off x="8613913" y="3313043"/>
            <a:ext cx="0" cy="35780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7884D4-23EE-4ECB-97A9-69AD0CB57B27}"/>
              </a:ext>
            </a:extLst>
          </p:cNvPr>
          <p:cNvCxnSpPr>
            <a:cxnSpLocks/>
          </p:cNvCxnSpPr>
          <p:nvPr/>
        </p:nvCxnSpPr>
        <p:spPr>
          <a:xfrm>
            <a:off x="8395252" y="3041373"/>
            <a:ext cx="0" cy="27167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A78026-8196-4F60-9A24-91E0B1CBB383}"/>
              </a:ext>
            </a:extLst>
          </p:cNvPr>
          <p:cNvCxnSpPr/>
          <p:nvPr/>
        </p:nvCxnSpPr>
        <p:spPr>
          <a:xfrm flipH="1" flipV="1">
            <a:off x="8812696" y="3313043"/>
            <a:ext cx="967408" cy="16565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13B8F0-B674-47C8-90CC-D3CF4B63C8BF}"/>
              </a:ext>
            </a:extLst>
          </p:cNvPr>
          <p:cNvSpPr txBox="1"/>
          <p:nvPr/>
        </p:nvSpPr>
        <p:spPr>
          <a:xfrm>
            <a:off x="8454888" y="4969565"/>
            <a:ext cx="35095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Membrane en équilibre dynamique</a:t>
            </a:r>
          </a:p>
        </p:txBody>
      </p:sp>
    </p:spTree>
    <p:extLst>
      <p:ext uri="{BB962C8B-B14F-4D97-AF65-F5344CB8AC3E}">
        <p14:creationId xmlns:p14="http://schemas.microsoft.com/office/powerpoint/2010/main" val="30787619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apteur de vibrations piézoélectrique - A2itronic">
            <a:extLst>
              <a:ext uri="{FF2B5EF4-FFF2-40B4-BE49-F238E27FC236}">
                <a16:creationId xmlns:a16="http://schemas.microsoft.com/office/drawing/2014/main" id="{51B04971-D19D-4F66-9929-CB1F67E0D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320" y="392228"/>
            <a:ext cx="2888975" cy="2729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es capteurs – Sciences de l'Ingénieur">
            <a:extLst>
              <a:ext uri="{FF2B5EF4-FFF2-40B4-BE49-F238E27FC236}">
                <a16:creationId xmlns:a16="http://schemas.microsoft.com/office/drawing/2014/main" id="{5A8E7D88-7C72-40F3-A92C-8C244297D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70" y="191743"/>
            <a:ext cx="4772025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iki du BTS Electrotechnique - SA - La piézoélectricité">
            <a:extLst>
              <a:ext uri="{FF2B5EF4-FFF2-40B4-BE49-F238E27FC236}">
                <a16:creationId xmlns:a16="http://schemas.microsoft.com/office/drawing/2014/main" id="{93576911-0926-406C-9053-257EB57BA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496" y="3665807"/>
            <a:ext cx="4876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984DE5-CF2D-431C-897D-BB4C4C8A8D57}"/>
                  </a:ext>
                </a:extLst>
              </p:cNvPr>
              <p:cNvSpPr txBox="1"/>
              <p:nvPr/>
            </p:nvSpPr>
            <p:spPr>
              <a:xfrm>
                <a:off x="5993285" y="1609969"/>
                <a:ext cx="12625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𝒌𝑭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984DE5-CF2D-431C-897D-BB4C4C8A8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3285" y="1609969"/>
                <a:ext cx="1262590" cy="369332"/>
              </a:xfrm>
              <a:prstGeom prst="rect">
                <a:avLst/>
              </a:prstGeom>
              <a:blipFill>
                <a:blip r:embed="rId5"/>
                <a:stretch>
                  <a:fillRect l="-4831" r="-6280" b="-81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A7FF25F-81A2-4DD6-853B-5B9CF75662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70" y="3082409"/>
            <a:ext cx="4705350" cy="2486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D005C2-90F1-4906-8734-768DC81F028C}"/>
                  </a:ext>
                </a:extLst>
              </p:cNvPr>
              <p:cNvSpPr txBox="1"/>
              <p:nvPr/>
            </p:nvSpPr>
            <p:spPr>
              <a:xfrm>
                <a:off x="2693104" y="5568434"/>
                <a:ext cx="17161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fr-FR" sz="2400" b="1" dirty="0"/>
                  <a:t>(extérieur)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D005C2-90F1-4906-8734-768DC81F0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104" y="5568434"/>
                <a:ext cx="1716175" cy="369332"/>
              </a:xfrm>
              <a:prstGeom prst="rect">
                <a:avLst/>
              </a:prstGeom>
              <a:blipFill>
                <a:blip r:embed="rId7"/>
                <a:stretch>
                  <a:fillRect l="-6406" t="-24590" r="-9609" b="-491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610611-67CC-40CB-9C98-5C7B19A279F1}"/>
                  </a:ext>
                </a:extLst>
              </p:cNvPr>
              <p:cNvSpPr txBox="1"/>
              <p:nvPr/>
            </p:nvSpPr>
            <p:spPr>
              <a:xfrm>
                <a:off x="2840516" y="3082409"/>
                <a:ext cx="2805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𝑷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610611-67CC-40CB-9C98-5C7B19A27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516" y="3082409"/>
                <a:ext cx="280526" cy="369332"/>
              </a:xfrm>
              <a:prstGeom prst="rect">
                <a:avLst/>
              </a:prstGeom>
              <a:blipFill>
                <a:blip r:embed="rId8"/>
                <a:stretch>
                  <a:fillRect l="-26087" r="-23913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9C1D6C-F183-49C9-BE31-DC9BB248E3E2}"/>
                  </a:ext>
                </a:extLst>
              </p:cNvPr>
              <p:cNvSpPr txBox="1"/>
              <p:nvPr/>
            </p:nvSpPr>
            <p:spPr>
              <a:xfrm>
                <a:off x="1292624" y="6072929"/>
                <a:ext cx="22585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9C1D6C-F183-49C9-BE31-DC9BB248E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624" y="6072929"/>
                <a:ext cx="2258567" cy="369332"/>
              </a:xfrm>
              <a:prstGeom prst="rect">
                <a:avLst/>
              </a:prstGeom>
              <a:blipFill>
                <a:blip r:embed="rId9"/>
                <a:stretch>
                  <a:fillRect l="-2695" r="-4313" b="-344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70164EE-BCD6-4D3D-B82D-CAF125BF257D}"/>
              </a:ext>
            </a:extLst>
          </p:cNvPr>
          <p:cNvSpPr txBox="1"/>
          <p:nvPr/>
        </p:nvSpPr>
        <p:spPr>
          <a:xfrm>
            <a:off x="4039737" y="105347"/>
            <a:ext cx="3702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i="1" u="sng" dirty="0"/>
              <a:t>Capteur piézoélectrique</a:t>
            </a:r>
          </a:p>
        </p:txBody>
      </p:sp>
    </p:spTree>
    <p:extLst>
      <p:ext uri="{BB962C8B-B14F-4D97-AF65-F5344CB8AC3E}">
        <p14:creationId xmlns:p14="http://schemas.microsoft.com/office/powerpoint/2010/main" val="40664420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018990-DF1A-4E47-BE78-507AEEB5DF6B}"/>
              </a:ext>
            </a:extLst>
          </p:cNvPr>
          <p:cNvSpPr txBox="1"/>
          <p:nvPr/>
        </p:nvSpPr>
        <p:spPr>
          <a:xfrm>
            <a:off x="344556" y="120134"/>
            <a:ext cx="3935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Interprétation de la pression</a:t>
            </a:r>
            <a:endParaRPr lang="fr-FR" sz="2400" b="1" i="1" u="sng" dirty="0"/>
          </a:p>
        </p:txBody>
      </p:sp>
      <p:pic>
        <p:nvPicPr>
          <p:cNvPr id="2050" name="Picture 2" descr="Théorie cinétique des gaz - Définition et Explications">
            <a:extLst>
              <a:ext uri="{FF2B5EF4-FFF2-40B4-BE49-F238E27FC236}">
                <a16:creationId xmlns:a16="http://schemas.microsoft.com/office/drawing/2014/main" id="{D4792118-8A4C-476A-B6B4-79D07F9D5E0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944" y="350966"/>
            <a:ext cx="28575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085F76-E32F-4453-8F71-69A2AAF4067D}"/>
              </a:ext>
            </a:extLst>
          </p:cNvPr>
          <p:cNvSpPr txBox="1"/>
          <p:nvPr/>
        </p:nvSpPr>
        <p:spPr>
          <a:xfrm>
            <a:off x="344555" y="831071"/>
            <a:ext cx="80970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b="0" i="0" u="none" strike="noStrike" baseline="0" dirty="0">
                <a:latin typeface="CMR10"/>
              </a:rPr>
              <a:t>La pression exercée par un fluide sur une surface peut être interprétée comme le résultat des innombrables collisions des molécules du fluide avec la paroi. Cela conduit à la formule de Bernoulli</a:t>
            </a:r>
            <a:endParaRPr lang="fr-MA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CD180D-81E1-4929-8550-9321ECDB38D1}"/>
                  </a:ext>
                </a:extLst>
              </p:cNvPr>
              <p:cNvSpPr txBox="1"/>
              <p:nvPr/>
            </p:nvSpPr>
            <p:spPr>
              <a:xfrm>
                <a:off x="3650974" y="1846734"/>
                <a:ext cx="2597699" cy="69384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4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fr-FR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𝒎</m:t>
                      </m:r>
                      <m:sSub>
                        <m:sSubPr>
                          <m:ctrlPr>
                            <a:rPr lang="fr-FR" sz="24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fr-FR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fr-FR" sz="24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fr-FR" sz="24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sz="2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fr-FR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CD180D-81E1-4929-8550-9321ECDB3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974" y="1846734"/>
                <a:ext cx="2597699" cy="693844"/>
              </a:xfrm>
              <a:prstGeom prst="rect">
                <a:avLst/>
              </a:prstGeom>
              <a:blipFill>
                <a:blip r:embed="rId3"/>
                <a:stretch>
                  <a:fillRect b="-70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AC81D9-F705-454A-B039-8AD208923CC4}"/>
                  </a:ext>
                </a:extLst>
              </p:cNvPr>
              <p:cNvSpPr txBox="1"/>
              <p:nvPr/>
            </p:nvSpPr>
            <p:spPr>
              <a:xfrm>
                <a:off x="344555" y="2856041"/>
                <a:ext cx="8604802" cy="760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2000" b="0" i="0" u="none" strike="noStrike" baseline="0" dirty="0">
                    <a:latin typeface="CMR10"/>
                  </a:rPr>
                  <a:t>o</a:t>
                </a:r>
                <a:r>
                  <a:rPr lang="fr-FR" sz="2000" dirty="0">
                    <a:latin typeface="CMR10"/>
                  </a:rPr>
                  <a:t>ù</a:t>
                </a:r>
                <a:r>
                  <a:rPr lang="fr-FR" sz="2000" b="0" i="0" u="none" strike="noStrike" baseline="0" dirty="0">
                    <a:latin typeface="CMR1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fr-FR" sz="2000" b="0" i="0" u="none" strike="noStrike" baseline="0" dirty="0">
                    <a:latin typeface="CMMI10"/>
                  </a:rPr>
                  <a:t> </a:t>
                </a:r>
                <a:r>
                  <a:rPr lang="fr-FR" sz="2000" b="0" i="0" u="none" strike="noStrike" baseline="0" dirty="0">
                    <a:latin typeface="CMR10"/>
                  </a:rPr>
                  <a:t>est la masse d’une molécule, </a:t>
                </a:r>
                <a14:m>
                  <m:oMath xmlns:m="http://schemas.openxmlformats.org/officeDocument/2006/math">
                    <m:r>
                      <a:rPr lang="fr-FR" sz="2400" b="1" i="1" u="none" strike="noStrike" baseline="0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𝒏</m:t>
                    </m:r>
                    <m:r>
                      <a:rPr lang="fr-FR" sz="1000" b="1" i="1" u="none" strike="noStrike" baseline="0" dirty="0" err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sz="1000" b="1" i="1" u="none" strike="noStrike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400" b="1" i="1" u="none" strike="noStrike" baseline="0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 </m:t>
                    </m:r>
                    <m:r>
                      <a:rPr lang="fr-FR" sz="2400" b="1" i="1" u="none" strike="noStrike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𝑵</m:t>
                    </m:r>
                    <m:r>
                      <a:rPr lang="fr-FR" sz="2400" b="1" i="1" u="none" strike="noStrike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/</m:t>
                    </m:r>
                    <m:r>
                      <a:rPr lang="fr-FR" sz="2400" b="1" i="1" u="none" strike="noStrike" baseline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fr-FR" sz="2000" b="0" i="1" u="none" strike="noStrike" baseline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MMI10"/>
                  </a:rPr>
                  <a:t> </a:t>
                </a:r>
                <a:r>
                  <a:rPr lang="fr-FR" sz="2000" b="0" i="0" u="none" strike="noStrike" baseline="0" dirty="0">
                    <a:latin typeface="CMR10"/>
                  </a:rPr>
                  <a:t>est le nombre de molécules par unit</a:t>
                </a:r>
                <a:r>
                  <a:rPr lang="fr-FR" sz="2000" dirty="0">
                    <a:latin typeface="CMR10"/>
                  </a:rPr>
                  <a:t>é</a:t>
                </a:r>
                <a:r>
                  <a:rPr lang="fr-FR" sz="2000" b="0" i="0" u="none" strike="noStrike" baseline="0" dirty="0">
                    <a:latin typeface="CMR10"/>
                  </a:rPr>
                  <a:t> de volume et</a:t>
                </a:r>
                <a:r>
                  <a:rPr lang="fr-FR" sz="2000" dirty="0">
                    <a:latin typeface="CMSY10"/>
                  </a:rPr>
                  <a:t> </a:t>
                </a:r>
                <a:r>
                  <a:rPr lang="fr-FR" sz="2000" b="0" i="0" u="none" strike="noStrike" baseline="0" dirty="0">
                    <a:latin typeface="CMR10"/>
                  </a:rPr>
                  <a:t>est la vitesse quadratique moyenne.</a:t>
                </a:r>
                <a:endParaRPr lang="fr-MA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AC81D9-F705-454A-B039-8AD208923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55" y="2856041"/>
                <a:ext cx="8604802" cy="760914"/>
              </a:xfrm>
              <a:prstGeom prst="rect">
                <a:avLst/>
              </a:prstGeom>
              <a:blipFill>
                <a:blip r:embed="rId4"/>
                <a:stretch>
                  <a:fillRect l="-780" r="-780" b="-1451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 8">
            <a:extLst>
              <a:ext uri="{FF2B5EF4-FFF2-40B4-BE49-F238E27FC236}">
                <a16:creationId xmlns:a16="http://schemas.microsoft.com/office/drawing/2014/main" id="{2E1766B0-BA96-4FDC-8877-4838D1611D06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-20000" contrast="20000"/>
          </a:blip>
          <a:stretch>
            <a:fillRect/>
          </a:stretch>
        </p:blipFill>
        <p:spPr>
          <a:xfrm>
            <a:off x="3036132" y="3616955"/>
            <a:ext cx="2713923" cy="218827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19800D-3C89-43EF-B7B3-EA0CB66C27AE}"/>
              </a:ext>
            </a:extLst>
          </p:cNvPr>
          <p:cNvCxnSpPr/>
          <p:nvPr/>
        </p:nvCxnSpPr>
        <p:spPr>
          <a:xfrm>
            <a:off x="4810539" y="4889052"/>
            <a:ext cx="103367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364811-2C2D-4C02-9C88-A34A952A6053}"/>
                  </a:ext>
                </a:extLst>
              </p:cNvPr>
              <p:cNvSpPr txBox="1"/>
              <p:nvPr/>
            </p:nvSpPr>
            <p:spPr>
              <a:xfrm>
                <a:off x="5082482" y="4419218"/>
                <a:ext cx="266098" cy="4140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364811-2C2D-4C02-9C88-A34A952A6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482" y="4419218"/>
                <a:ext cx="266098" cy="4140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843734D-7BE5-4A1E-A809-F72205ACAFF3}"/>
              </a:ext>
            </a:extLst>
          </p:cNvPr>
          <p:cNvSpPr txBox="1"/>
          <p:nvPr/>
        </p:nvSpPr>
        <p:spPr>
          <a:xfrm>
            <a:off x="1598956" y="597517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000" dirty="0"/>
              <a:t>Echange de quantité de mouvement entre les particules et la paroi. D’où la naissance d’une force de pression.</a:t>
            </a:r>
          </a:p>
        </p:txBody>
      </p:sp>
    </p:spTree>
    <p:extLst>
      <p:ext uri="{BB962C8B-B14F-4D97-AF65-F5344CB8AC3E}">
        <p14:creationId xmlns:p14="http://schemas.microsoft.com/office/powerpoint/2010/main" val="30328568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FBB90A-87B0-4DCA-B0A5-FDB929E0A98D}"/>
              </a:ext>
            </a:extLst>
          </p:cNvPr>
          <p:cNvSpPr txBox="1"/>
          <p:nvPr/>
        </p:nvSpPr>
        <p:spPr>
          <a:xfrm>
            <a:off x="437322" y="19964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Coefficients thermoélastiques d’un fluide</a:t>
            </a:r>
            <a:endParaRPr lang="fr-FR" sz="24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248C6A-3D35-4B95-9134-B27491C3D534}"/>
                  </a:ext>
                </a:extLst>
              </p:cNvPr>
              <p:cNvSpPr txBox="1"/>
              <p:nvPr/>
            </p:nvSpPr>
            <p:spPr>
              <a:xfrm>
                <a:off x="437322" y="821635"/>
                <a:ext cx="1069273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Soit un fluide dont l’état est décrit par la donnée des variables d’état </a:t>
                </a:r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fr-FR" sz="2400" b="1" dirty="0"/>
                  <a:t>, </a:t>
                </a:r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fr-FR" sz="2400" b="1" dirty="0"/>
                  <a:t>, </a:t>
                </a:r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fr-FR" sz="2000" dirty="0"/>
                  <a:t>, reliées par l’équation :</a:t>
                </a:r>
              </a:p>
              <a:p>
                <a:pPr algn="ctr"/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248C6A-3D35-4B95-9134-B27491C3D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22" y="821635"/>
                <a:ext cx="10692735" cy="830997"/>
              </a:xfrm>
              <a:prstGeom prst="rect">
                <a:avLst/>
              </a:prstGeom>
              <a:blipFill>
                <a:blip r:embed="rId2"/>
                <a:stretch>
                  <a:fillRect l="-627" t="-5882" b="-955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15CA26-7B3E-409A-8B72-AF200C46E01A}"/>
                  </a:ext>
                </a:extLst>
              </p:cNvPr>
              <p:cNvSpPr txBox="1"/>
              <p:nvPr/>
            </p:nvSpPr>
            <p:spPr>
              <a:xfrm>
                <a:off x="437322" y="2120720"/>
                <a:ext cx="49090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Le coefficient de dilatation isobare 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sz="2000" dirty="0"/>
                  <a:t>):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15CA26-7B3E-409A-8B72-AF200C46E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22" y="2120720"/>
                <a:ext cx="4909036" cy="400110"/>
              </a:xfrm>
              <a:prstGeom prst="rect">
                <a:avLst/>
              </a:prstGeom>
              <a:blipFill>
                <a:blip r:embed="rId3"/>
                <a:stretch>
                  <a:fillRect l="-1118" t="-9091" r="-373" b="-257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B037B6-8027-4342-9A06-5A307E9872BF}"/>
                  </a:ext>
                </a:extLst>
              </p:cNvPr>
              <p:cNvSpPr txBox="1"/>
              <p:nvPr/>
            </p:nvSpPr>
            <p:spPr>
              <a:xfrm>
                <a:off x="5178345" y="1881809"/>
                <a:ext cx="1835310" cy="87793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num>
                                <m:den>
                                  <m:r>
                                    <a:rPr lang="fr-FR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B037B6-8027-4342-9A06-5A307E987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345" y="1881809"/>
                <a:ext cx="1835310" cy="8779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234536-ECB0-45B0-B404-89583A37E22F}"/>
                  </a:ext>
                </a:extLst>
              </p:cNvPr>
              <p:cNvSpPr txBox="1"/>
              <p:nvPr/>
            </p:nvSpPr>
            <p:spPr>
              <a:xfrm>
                <a:off x="437321" y="3429000"/>
                <a:ext cx="75849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Le coefficient d’augmentation de pression à volume constant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sz="2000" dirty="0"/>
                  <a:t>):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234536-ECB0-45B0-B404-89583A37E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21" y="3429000"/>
                <a:ext cx="7584962" cy="400110"/>
              </a:xfrm>
              <a:prstGeom prst="rect">
                <a:avLst/>
              </a:prstGeom>
              <a:blipFill>
                <a:blip r:embed="rId5"/>
                <a:stretch>
                  <a:fillRect l="-723" t="-9231" b="-261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071EF5-2BF2-4DFC-948C-3CB86E59B63B}"/>
                  </a:ext>
                </a:extLst>
              </p:cNvPr>
              <p:cNvSpPr txBox="1"/>
              <p:nvPr/>
            </p:nvSpPr>
            <p:spPr>
              <a:xfrm>
                <a:off x="8551024" y="3190088"/>
                <a:ext cx="1912254" cy="87793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den>
                      </m:f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fr-FR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071EF5-2BF2-4DFC-948C-3CB86E59B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024" y="3190088"/>
                <a:ext cx="1912254" cy="8779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7E2467-78B6-478D-A26B-745195655D10}"/>
                  </a:ext>
                </a:extLst>
              </p:cNvPr>
              <p:cNvSpPr txBox="1"/>
              <p:nvPr/>
            </p:nvSpPr>
            <p:spPr>
              <a:xfrm>
                <a:off x="437321" y="4803144"/>
                <a:ext cx="58539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Le coefficient de compressibilité isotherme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𝑃𝑎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sz="2000" dirty="0"/>
                  <a:t>):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7E2467-78B6-478D-A26B-745195655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21" y="4803144"/>
                <a:ext cx="5853910" cy="400110"/>
              </a:xfrm>
              <a:prstGeom prst="rect">
                <a:avLst/>
              </a:prstGeom>
              <a:blipFill>
                <a:blip r:embed="rId7"/>
                <a:stretch>
                  <a:fillRect l="-938" t="-9091" r="-104" b="-257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F897C54-3B47-4134-95F4-EB15138A6414}"/>
                  </a:ext>
                </a:extLst>
              </p:cNvPr>
              <p:cNvSpPr txBox="1"/>
              <p:nvPr/>
            </p:nvSpPr>
            <p:spPr>
              <a:xfrm>
                <a:off x="6057528" y="4564232"/>
                <a:ext cx="2327368" cy="87793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num>
                                <m:den>
                                  <m:r>
                                    <a:rPr lang="fr-FR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F897C54-3B47-4134-95F4-EB15138A6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528" y="4564232"/>
                <a:ext cx="2327368" cy="8779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5115E8-B8AB-404D-B1F1-81A4024B53F6}"/>
                  </a:ext>
                </a:extLst>
              </p:cNvPr>
              <p:cNvSpPr txBox="1"/>
              <p:nvPr/>
            </p:nvSpPr>
            <p:spPr>
              <a:xfrm>
                <a:off x="802101" y="6108422"/>
                <a:ext cx="722018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fr-FR" sz="2000" b="1" dirty="0"/>
                  <a:t>,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fr-FR" sz="20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fr-FR" sz="2000" b="1" dirty="0"/>
                  <a:t> </a:t>
                </a:r>
                <a:r>
                  <a:rPr lang="fr-FR" sz="2000" dirty="0"/>
                  <a:t>sont des variables d’état positives qui dépendent de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fr-FR" sz="2000" b="1" dirty="0"/>
                  <a:t>,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fr-FR" sz="2000" b="1" dirty="0"/>
                  <a:t>,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fr-FR" sz="2000" dirty="0"/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5115E8-B8AB-404D-B1F1-81A4024B5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01" y="6108422"/>
                <a:ext cx="7220182" cy="307777"/>
              </a:xfrm>
              <a:prstGeom prst="rect">
                <a:avLst/>
              </a:prstGeom>
              <a:blipFill>
                <a:blip r:embed="rId9"/>
                <a:stretch>
                  <a:fillRect l="-929" t="-25490" r="-1267" b="-4902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97575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29DC5F-1A59-411F-B58C-8CEB1D192EB1}"/>
              </a:ext>
            </a:extLst>
          </p:cNvPr>
          <p:cNvSpPr txBox="1"/>
          <p:nvPr/>
        </p:nvSpPr>
        <p:spPr>
          <a:xfrm>
            <a:off x="609600" y="238539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a de plus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B1FE41-808A-4886-821D-DF8F618F544D}"/>
                  </a:ext>
                </a:extLst>
              </p:cNvPr>
              <p:cNvSpPr txBox="1"/>
              <p:nvPr/>
            </p:nvSpPr>
            <p:spPr>
              <a:xfrm>
                <a:off x="3054626" y="284705"/>
                <a:ext cx="1450076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B1FE41-808A-4886-821D-DF8F618F5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626" y="284705"/>
                <a:ext cx="1450076" cy="369332"/>
              </a:xfrm>
              <a:prstGeom prst="rect">
                <a:avLst/>
              </a:prstGeom>
              <a:blipFill>
                <a:blip r:embed="rId2"/>
                <a:stretch>
                  <a:fillRect l="-2521" r="-2101" b="-3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D16DAD-0268-4927-A8D3-F4A07A50FA3B}"/>
                  </a:ext>
                </a:extLst>
              </p:cNvPr>
              <p:cNvSpPr txBox="1"/>
              <p:nvPr/>
            </p:nvSpPr>
            <p:spPr>
              <a:xfrm>
                <a:off x="609600" y="1166192"/>
                <a:ext cx="84848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400" b="1" i="1" u="sng" dirty="0"/>
                  <a:t>Démo :</a:t>
                </a:r>
                <a:r>
                  <a:rPr lang="fr-FR" sz="2000" dirty="0"/>
                  <a:t> On montrera d’abord, à partir de l’équation d’état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sz="2000" dirty="0"/>
                  <a:t> que :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D16DAD-0268-4927-A8D3-F4A07A50F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166192"/>
                <a:ext cx="8484887" cy="461665"/>
              </a:xfrm>
              <a:prstGeom prst="rect">
                <a:avLst/>
              </a:prstGeom>
              <a:blipFill>
                <a:blip r:embed="rId3"/>
                <a:stretch>
                  <a:fillRect l="-1078" t="-10526" b="-289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2C034F-E465-4DAF-A27E-DF307178842E}"/>
                  </a:ext>
                </a:extLst>
              </p:cNvPr>
              <p:cNvSpPr txBox="1"/>
              <p:nvPr/>
            </p:nvSpPr>
            <p:spPr>
              <a:xfrm>
                <a:off x="4642664" y="1666164"/>
                <a:ext cx="3710609" cy="824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sSub>
                        <m:sSub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kumimoji="0" lang="fr-FR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fr-FR" sz="20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fr-FR" sz="20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kumimoji="0" lang="fr-FR" sz="20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num>
                                <m:den>
                                  <m:r>
                                    <a:rPr kumimoji="0" lang="fr-FR" sz="20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kumimoji="0" lang="fr-FR" sz="20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sSub>
                        <m:sSubPr>
                          <m:ctrlP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fr-F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2C034F-E465-4DAF-A27E-DF3071788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664" y="1666164"/>
                <a:ext cx="3710609" cy="8245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9686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ressibilités comparées de l'air et de l'eau | Physique à Main Levée">
            <a:extLst>
              <a:ext uri="{FF2B5EF4-FFF2-40B4-BE49-F238E27FC236}">
                <a16:creationId xmlns:a16="http://schemas.microsoft.com/office/drawing/2014/main" id="{599DD9F3-B6FB-44FF-8A30-7B9402A9D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324" y="408126"/>
            <a:ext cx="2628900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64402F-8C87-4ABE-A95A-29C5ABE985E0}"/>
              </a:ext>
            </a:extLst>
          </p:cNvPr>
          <p:cNvSpPr txBox="1"/>
          <p:nvPr/>
        </p:nvSpPr>
        <p:spPr>
          <a:xfrm>
            <a:off x="397566" y="223460"/>
            <a:ext cx="1631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Compressibilité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CEC41-D3DB-4B5B-96C1-72A6761205AD}"/>
              </a:ext>
            </a:extLst>
          </p:cNvPr>
          <p:cNvSpPr txBox="1"/>
          <p:nvPr/>
        </p:nvSpPr>
        <p:spPr>
          <a:xfrm>
            <a:off x="3074504" y="3429000"/>
            <a:ext cx="1135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Air(gaz)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5190E-5CBA-4607-B775-83A850DFC04A}"/>
              </a:ext>
            </a:extLst>
          </p:cNvPr>
          <p:cNvSpPr txBox="1"/>
          <p:nvPr/>
        </p:nvSpPr>
        <p:spPr>
          <a:xfrm>
            <a:off x="8130208" y="3428999"/>
            <a:ext cx="1095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Liquide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C6EDFA-4B29-4B65-AB05-FC486E257668}"/>
              </a:ext>
            </a:extLst>
          </p:cNvPr>
          <p:cNvCxnSpPr>
            <a:stCxn id="3" idx="3"/>
          </p:cNvCxnSpPr>
          <p:nvPr/>
        </p:nvCxnSpPr>
        <p:spPr>
          <a:xfrm>
            <a:off x="4210328" y="3659833"/>
            <a:ext cx="1050785" cy="2308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B43036-0D49-49EB-A393-7B3561245243}"/>
              </a:ext>
            </a:extLst>
          </p:cNvPr>
          <p:cNvCxnSpPr>
            <a:cxnSpLocks/>
          </p:cNvCxnSpPr>
          <p:nvPr/>
        </p:nvCxnSpPr>
        <p:spPr>
          <a:xfrm flipH="1">
            <a:off x="6891130" y="3743269"/>
            <a:ext cx="1337781" cy="3197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4F0F74D-5288-415B-8F39-A146029F3237}"/>
              </a:ext>
            </a:extLst>
          </p:cNvPr>
          <p:cNvSpPr txBox="1"/>
          <p:nvPr/>
        </p:nvSpPr>
        <p:spPr>
          <a:xfrm>
            <a:off x="8571776" y="3977089"/>
            <a:ext cx="2268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Très peu compressible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B501D4-5E6F-47A9-81B0-838B53CE7642}"/>
              </a:ext>
            </a:extLst>
          </p:cNvPr>
          <p:cNvSpPr txBox="1"/>
          <p:nvPr/>
        </p:nvSpPr>
        <p:spPr>
          <a:xfrm>
            <a:off x="2285700" y="3917168"/>
            <a:ext cx="2467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Fortement compressible</a:t>
            </a:r>
          </a:p>
        </p:txBody>
      </p:sp>
    </p:spTree>
    <p:extLst>
      <p:ext uri="{BB962C8B-B14F-4D97-AF65-F5344CB8AC3E}">
        <p14:creationId xmlns:p14="http://schemas.microsoft.com/office/powerpoint/2010/main" val="37342750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3086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7851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8754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2635</Words>
  <Application>Microsoft Office PowerPoint</Application>
  <PresentationFormat>Widescreen</PresentationFormat>
  <Paragraphs>329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8" baseType="lpstr">
      <vt:lpstr>AR BLANCA</vt:lpstr>
      <vt:lpstr>Arial</vt:lpstr>
      <vt:lpstr>Calibri</vt:lpstr>
      <vt:lpstr>Calibri Light</vt:lpstr>
      <vt:lpstr>Cambria Math</vt:lpstr>
      <vt:lpstr>CMMI10</vt:lpstr>
      <vt:lpstr>CMR10</vt:lpstr>
      <vt:lpstr>CMSY10</vt:lpstr>
      <vt:lpstr>Google Sans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Ossama Azagrouze</dc:creator>
  <cp:lastModifiedBy>Ossama Azagrouze</cp:lastModifiedBy>
  <cp:revision>52</cp:revision>
  <dcterms:created xsi:type="dcterms:W3CDTF">2026-01-14T11:33:27Z</dcterms:created>
  <dcterms:modified xsi:type="dcterms:W3CDTF">2026-01-21T21:10:15Z</dcterms:modified>
</cp:coreProperties>
</file>