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0" r:id="rId4"/>
    <p:sldId id="271" r:id="rId5"/>
    <p:sldId id="274" r:id="rId6"/>
    <p:sldId id="275" r:id="rId7"/>
    <p:sldId id="276" r:id="rId8"/>
    <p:sldId id="277" r:id="rId9"/>
    <p:sldId id="273" r:id="rId10"/>
    <p:sldId id="279" r:id="rId11"/>
    <p:sldId id="278" r:id="rId12"/>
    <p:sldId id="280" r:id="rId13"/>
    <p:sldId id="281" r:id="rId14"/>
    <p:sldId id="282" r:id="rId15"/>
    <p:sldId id="283" r:id="rId16"/>
    <p:sldId id="264" r:id="rId17"/>
    <p:sldId id="265" r:id="rId18"/>
    <p:sldId id="284" r:id="rId19"/>
    <p:sldId id="285" r:id="rId20"/>
    <p:sldId id="286" r:id="rId21"/>
    <p:sldId id="287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8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59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9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60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66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6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6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28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29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30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31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32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34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635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36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637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38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39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40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42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43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44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51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52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70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71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672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73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74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54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48655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656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57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58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65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6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6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6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646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64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64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64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8E1B3-813B-4327-AE53-2D6A605C642F}" type="datetimeFigureOut">
              <a:rPr lang="fr-MA" smtClean="0"/>
              <a:t>29/01/2026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065B-72C7-42D3-801D-AC20B1EAE26E}" type="slidenum">
              <a:rPr lang="fr-MA" smtClean="0"/>
              <a:t>‹#›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gi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ous-titre 2"/>
          <p:cNvSpPr>
            <a:spLocks noGrp="1"/>
          </p:cNvSpPr>
          <p:nvPr>
            <p:ph type="subTitle" idx="1"/>
          </p:nvPr>
        </p:nvSpPr>
        <p:spPr>
          <a:xfrm>
            <a:off x="162838" y="2702104"/>
            <a:ext cx="11837096" cy="1962661"/>
          </a:xfrm>
          <a:solidFill>
            <a:srgbClr val="FFFF00"/>
          </a:solidFill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fr-MA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Etude cinétique des gaz parfaits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ZoneTexte 3"/>
          <p:cNvSpPr txBox="1"/>
          <p:nvPr/>
        </p:nvSpPr>
        <p:spPr>
          <a:xfrm>
            <a:off x="528034" y="244699"/>
            <a:ext cx="6414961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1. Modèle du gaz parfait monoatomique GPM</a:t>
            </a:r>
          </a:p>
        </p:txBody>
      </p:sp>
      <p:sp>
        <p:nvSpPr>
          <p:cNvPr id="1048593" name="ZoneTexte 4"/>
          <p:cNvSpPr txBox="1"/>
          <p:nvPr/>
        </p:nvSpPr>
        <p:spPr>
          <a:xfrm>
            <a:off x="528034" y="1492135"/>
            <a:ext cx="113591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 Les particules du gaz sont supposées ponctuelles (volume occupé par les particules négligeable devant le volume offert au gaz).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Les particules sont sans interaction.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Elles sont animées de mouvements incessants et désordonnés, qui constituent </a:t>
            </a:r>
            <a:r>
              <a:rPr lang="fr-MA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l’agitation thermique</a:t>
            </a:r>
            <a:r>
              <a:rPr lang="fr-MA" sz="20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Elles effectuent des collisions entre elles et avec les parois du récipient qui contient le gaz. Les chocs sont élastiques.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MA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Entre deux chocs successifs, on considère leur mouvement rectiligne et uniforme.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B0F07-0836-4D41-AF99-59BDEF0E0EF7}"/>
              </a:ext>
            </a:extLst>
          </p:cNvPr>
          <p:cNvSpPr txBox="1"/>
          <p:nvPr/>
        </p:nvSpPr>
        <p:spPr>
          <a:xfrm>
            <a:off x="583096" y="359970"/>
            <a:ext cx="11184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1" u="sng" dirty="0"/>
              <a:t>A l’échelle macroscopique : </a:t>
            </a:r>
            <a:r>
              <a:rPr lang="fr-FR" sz="2000" dirty="0"/>
              <a:t>un gaz parfait est un </a:t>
            </a:r>
            <a:r>
              <a:rPr lang="fr-FR" sz="2000" u="sng" dirty="0"/>
              <a:t>gaz (réel !) étudié à faibles pression </a:t>
            </a:r>
            <a:r>
              <a:rPr lang="fr-FR" sz="2000" dirty="0"/>
              <a:t>(inférieure à quelques bars, 1 bar = la pression atmosphérique normale).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C6B6D4-182A-49BA-9E7E-0A70571EC19B}"/>
                  </a:ext>
                </a:extLst>
              </p:cNvPr>
              <p:cNvSpPr txBox="1"/>
              <p:nvPr/>
            </p:nvSpPr>
            <p:spPr>
              <a:xfrm>
                <a:off x="1020417" y="1369449"/>
                <a:ext cx="49362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La pression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fr-FR" sz="2000" dirty="0"/>
                  <a:t>, donc le volume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C6B6D4-182A-49BA-9E7E-0A70571E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17" y="1369449"/>
                <a:ext cx="4936223" cy="400110"/>
              </a:xfrm>
              <a:prstGeom prst="rect">
                <a:avLst/>
              </a:prstGeom>
              <a:blipFill>
                <a:blip r:embed="rId5"/>
                <a:stretch>
                  <a:fillRect l="-1111" t="-9231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133CB-0718-4A85-8C50-91AFA145E261}"/>
                  </a:ext>
                </a:extLst>
              </p:cNvPr>
              <p:cNvSpPr txBox="1"/>
              <p:nvPr/>
            </p:nvSpPr>
            <p:spPr>
              <a:xfrm>
                <a:off x="1020417" y="2117063"/>
                <a:ext cx="98861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0" lang="fr-F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 volume </a:t>
                </a:r>
                <a14:m>
                  <m:oMath xmlns:m="http://schemas.openxmlformats.org/officeDocument/2006/math"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→∞</m:t>
                    </m:r>
                  </m:oMath>
                </a14:m>
                <a:r>
                  <a:rPr lang="fr-FR" dirty="0"/>
                  <a:t> veut dire que la distance </a:t>
                </a:r>
                <a:r>
                  <a:rPr lang="fr-FR" dirty="0" err="1"/>
                  <a:t>inter-particulaire</a:t>
                </a:r>
                <a:r>
                  <a:rPr lang="fr-FR" dirty="0"/>
                  <a:t> moyenne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fr-FR" dirty="0"/>
                  <a:t>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133CB-0718-4A85-8C50-91AFA145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17" y="2117063"/>
                <a:ext cx="9886122" cy="400110"/>
              </a:xfrm>
              <a:prstGeom prst="rect">
                <a:avLst/>
              </a:prstGeom>
              <a:blipFill>
                <a:blip r:embed="rId6"/>
                <a:stretch>
                  <a:fillRect l="-555" t="-7576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A19AA1E-4EC1-40C9-AEF7-864B1DC41122}"/>
              </a:ext>
            </a:extLst>
          </p:cNvPr>
          <p:cNvSpPr txBox="1"/>
          <p:nvPr/>
        </p:nvSpPr>
        <p:spPr>
          <a:xfrm>
            <a:off x="1020417" y="2874712"/>
            <a:ext cx="5057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Le gaz est considéré en équilibre statistique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FD48D1-3B17-428A-B183-C74B88E8C7B9}"/>
                  </a:ext>
                </a:extLst>
              </p:cNvPr>
              <p:cNvSpPr txBox="1"/>
              <p:nvPr/>
            </p:nvSpPr>
            <p:spPr>
              <a:xfrm>
                <a:off x="1020417" y="3596295"/>
                <a:ext cx="55034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Il est en équilibre thermique à la température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FD48D1-3B17-428A-B183-C74B88E8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17" y="3596295"/>
                <a:ext cx="5503430" cy="400110"/>
              </a:xfrm>
              <a:prstGeom prst="rect">
                <a:avLst/>
              </a:prstGeom>
              <a:blipFill>
                <a:blip r:embed="rId7"/>
                <a:stretch>
                  <a:fillRect l="-997" t="-9091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13ED2E-5020-434E-996D-6BC04065F36B}"/>
              </a:ext>
            </a:extLst>
          </p:cNvPr>
          <p:cNvSpPr txBox="1"/>
          <p:nvPr/>
        </p:nvSpPr>
        <p:spPr>
          <a:xfrm>
            <a:off x="1020417" y="4297998"/>
            <a:ext cx="100613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Le gaz est considéré en équilibre dynamique dans le référentiel d’étude, pas de mouvement </a:t>
            </a:r>
          </a:p>
          <a:p>
            <a:r>
              <a:rPr lang="fr-FR" sz="2000" dirty="0"/>
              <a:t>     macroscopique (mouvement convectif).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EFD48-45C6-412D-B42E-23F87FEA61A9}"/>
              </a:ext>
            </a:extLst>
          </p:cNvPr>
          <p:cNvSpPr txBox="1"/>
          <p:nvPr/>
        </p:nvSpPr>
        <p:spPr>
          <a:xfrm>
            <a:off x="1020417" y="5248720"/>
            <a:ext cx="4898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Les particules du gaz sont en mouvement.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5D81D-7349-4717-829F-51D52F076651}"/>
              </a:ext>
            </a:extLst>
          </p:cNvPr>
          <p:cNvSpPr txBox="1"/>
          <p:nvPr/>
        </p:nvSpPr>
        <p:spPr>
          <a:xfrm>
            <a:off x="1020417" y="5950423"/>
            <a:ext cx="7095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Exemple : gaz parfait monoatomique, gaz associé aux gaz rares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27EF90-F7B5-47EE-BD82-6456A32226F4}"/>
              </a:ext>
            </a:extLst>
          </p:cNvPr>
          <p:cNvSpPr txBox="1"/>
          <p:nvPr/>
        </p:nvSpPr>
        <p:spPr>
          <a:xfrm>
            <a:off x="290015" y="258886"/>
            <a:ext cx="351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Mélange de gaz parfaits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CB8A5-D0CC-4F5C-8721-AC273328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20" y="873457"/>
            <a:ext cx="3862316" cy="3070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5A6070-F569-464B-9919-D66CC39C0CA2}"/>
                  </a:ext>
                </a:extLst>
              </p:cNvPr>
              <p:cNvSpPr txBox="1"/>
              <p:nvPr/>
            </p:nvSpPr>
            <p:spPr>
              <a:xfrm>
                <a:off x="4809701" y="720551"/>
                <a:ext cx="6795445" cy="813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fr-FR" sz="2000" b="0" i="0" u="none" strike="noStrike" baseline="0" dirty="0"/>
                  <a:t>Mélange de gaz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fr-FR" sz="1600" b="1" i="1" u="none" strike="noStrike" baseline="0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fr-FR" sz="1600" b="1" i="1" u="none" strike="noStrike" baseline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1" i="1" u="none" strike="noStrike" baseline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1" i="1" u="none" strike="noStrike" baseline="0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fr-FR" sz="1600" b="1" i="1" u="none" strike="noStrike" baseline="0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fr-FR" sz="2400" b="1" i="1" u="none" strike="noStrike" baseline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b="0" i="0" u="none" strike="noStrike" baseline="0" dirty="0"/>
                  <a:t>, à la température </a:t>
                </a:r>
                <a14:m>
                  <m:oMath xmlns:m="http://schemas.openxmlformats.org/officeDocument/2006/math">
                    <m:r>
                      <a:rPr lang="fr-FR" sz="2400" b="0" i="1" u="none" strike="noStrike" baseline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2000" b="0" i="0" u="none" strike="noStrike" baseline="0" dirty="0"/>
                  <a:t> et occupant le volume </a:t>
                </a:r>
                <a14:m>
                  <m:oMath xmlns:m="http://schemas.openxmlformats.org/officeDocument/2006/math">
                    <m:r>
                      <a:rPr lang="fr-FR" sz="2400" b="0" i="1" u="none" strike="noStrike" baseline="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2000" b="0" i="0" u="none" strike="noStrike" baseline="0" dirty="0"/>
                  <a:t>. On note P la pression totale.</a:t>
                </a:r>
                <a:endParaRPr lang="fr-FR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5A6070-F569-464B-9919-D66CC39C0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701" y="720551"/>
                <a:ext cx="6795445" cy="813941"/>
              </a:xfrm>
              <a:prstGeom prst="rect">
                <a:avLst/>
              </a:prstGeom>
              <a:blipFill>
                <a:blip r:embed="rId3"/>
                <a:stretch>
                  <a:fillRect l="-807" r="-897" b="-119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69397D5-0A15-438F-B8D7-AC1881AD1E55}"/>
              </a:ext>
            </a:extLst>
          </p:cNvPr>
          <p:cNvSpPr txBox="1"/>
          <p:nvPr/>
        </p:nvSpPr>
        <p:spPr>
          <a:xfrm>
            <a:off x="4809701" y="1732844"/>
            <a:ext cx="6093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/>
              <a:t>Le mélange se comporte comme un gaz parfait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BFCDBF-F375-4D5E-9290-FEE41A8354BA}"/>
                  </a:ext>
                </a:extLst>
              </p:cNvPr>
              <p:cNvSpPr txBox="1"/>
              <p:nvPr/>
            </p:nvSpPr>
            <p:spPr>
              <a:xfrm>
                <a:off x="4967784" y="2157788"/>
                <a:ext cx="3519425" cy="1189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𝑷𝑽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fr-F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fr-FR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𝑹𝑻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BFCDBF-F375-4D5E-9290-FEE41A835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784" y="2157788"/>
                <a:ext cx="3519425" cy="11890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88403B-C9EB-463C-BEEF-D3F1DA26FE88}"/>
                  </a:ext>
                </a:extLst>
              </p:cNvPr>
              <p:cNvSpPr txBox="1"/>
              <p:nvPr/>
            </p:nvSpPr>
            <p:spPr>
              <a:xfrm>
                <a:off x="4967784" y="3473356"/>
                <a:ext cx="67954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fr-FR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La quantité de matière total du gaz est :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fr-FR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FR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fr-FR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fr-FR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fr-FR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fr-FR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88403B-C9EB-463C-BEEF-D3F1DA26F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784" y="3473356"/>
                <a:ext cx="6795444" cy="461665"/>
              </a:xfrm>
              <a:prstGeom prst="rect">
                <a:avLst/>
              </a:prstGeom>
              <a:blipFill>
                <a:blip r:embed="rId6"/>
                <a:stretch>
                  <a:fillRect l="-1435" t="-130263" r="-4305" b="-1947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9B92C17-4365-42FE-87FB-502F2AB3DE0D}"/>
              </a:ext>
            </a:extLst>
          </p:cNvPr>
          <p:cNvSpPr txBox="1"/>
          <p:nvPr/>
        </p:nvSpPr>
        <p:spPr>
          <a:xfrm>
            <a:off x="491319" y="4319328"/>
            <a:ext cx="2483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0" i="0" u="none" strike="noStrike" baseline="0" dirty="0">
                <a:latin typeface="TTE1BBEEA8t00"/>
              </a:rPr>
              <a:t>On remarque que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61685F-5799-486E-B49F-F4464CDA0396}"/>
                  </a:ext>
                </a:extLst>
              </p:cNvPr>
              <p:cNvSpPr txBox="1"/>
              <p:nvPr/>
            </p:nvSpPr>
            <p:spPr>
              <a:xfrm>
                <a:off x="3098041" y="3969037"/>
                <a:ext cx="5995917" cy="1281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kumimoji="0" lang="fr-FR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fr-FR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kumimoji="0" lang="fr-FR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kumimoji="0" lang="fr-FR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f>
                        <m:f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𝑹𝑻</m:t>
                          </m:r>
                        </m:num>
                        <m:den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fr-FR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𝑹𝑻</m:t>
                                  </m:r>
                                </m:num>
                                <m:den>
                                  <m:r>
                                    <a:rPr lang="fr-FR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61685F-5799-486E-B49F-F4464CDA0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041" y="3969037"/>
                <a:ext cx="5995917" cy="12813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0DA6F3D-64F4-4A54-AEA8-9B0DB54A6E83}"/>
              </a:ext>
            </a:extLst>
          </p:cNvPr>
          <p:cNvSpPr txBox="1"/>
          <p:nvPr/>
        </p:nvSpPr>
        <p:spPr>
          <a:xfrm>
            <a:off x="2702257" y="5455418"/>
            <a:ext cx="8434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b="0" i="0" u="none" strike="noStrike" baseline="0" dirty="0">
                <a:latin typeface="TTE1BBEEA8t00"/>
              </a:rPr>
              <a:t>est la pression partielle exercée par le gaz A</a:t>
            </a:r>
            <a:r>
              <a:rPr lang="fr-FR" sz="1400" b="0" i="0" u="none" strike="noStrike" baseline="0" dirty="0">
                <a:latin typeface="TTE1BBEEA8t00"/>
              </a:rPr>
              <a:t>i </a:t>
            </a:r>
            <a:r>
              <a:rPr lang="fr-FR" sz="2000" b="0" i="0" u="none" strike="noStrike" baseline="0" dirty="0">
                <a:latin typeface="TTE1BBEEA8t00"/>
              </a:rPr>
              <a:t>(pression qu’il exercerait s’il était seul dans le volume V à la température du mélange)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9E86CF-69EE-4DA2-8D84-3DF31D4033D0}"/>
                  </a:ext>
                </a:extLst>
              </p:cNvPr>
              <p:cNvSpPr txBox="1"/>
              <p:nvPr/>
            </p:nvSpPr>
            <p:spPr>
              <a:xfrm>
                <a:off x="642581" y="5370843"/>
                <a:ext cx="2181368" cy="730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𝑹𝑻</m:t>
                          </m:r>
                        </m:num>
                        <m:den>
                          <m:r>
                            <a:rPr lang="fr-FR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9E86CF-69EE-4DA2-8D84-3DF31D403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81" y="5370843"/>
                <a:ext cx="2181368" cy="7309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542B75-AC51-436D-828E-B2B8E2E38333}"/>
                  </a:ext>
                </a:extLst>
              </p:cNvPr>
              <p:cNvSpPr txBox="1"/>
              <p:nvPr/>
            </p:nvSpPr>
            <p:spPr>
              <a:xfrm>
                <a:off x="503583" y="464691"/>
                <a:ext cx="585746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b="0" i="0" u="none" strike="noStrike" baseline="0" dirty="0">
                    <a:latin typeface="TTE1BBEEA8t00"/>
                  </a:rPr>
                  <a:t>Soit la fraction molaire du gaz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fr-FR" sz="1600" b="1" i="1" u="none" strike="noStrike" baseline="0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fr-FR" sz="1400" b="0" i="0" u="none" strike="noStrike" baseline="0" dirty="0">
                    <a:latin typeface="TTE1BBEEA8t00"/>
                  </a:rPr>
                  <a:t> </a:t>
                </a:r>
                <a:r>
                  <a:rPr lang="fr-FR" sz="2000" b="0" i="0" u="none" strike="noStrike" baseline="0" dirty="0">
                    <a:latin typeface="TTE1BBEEA8t00"/>
                  </a:rPr>
                  <a:t>dans le mélange :</a:t>
                </a:r>
                <a:endParaRPr lang="fr-FR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542B75-AC51-436D-828E-B2B8E2E38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83" y="464691"/>
                <a:ext cx="5857460" cy="453137"/>
              </a:xfrm>
              <a:prstGeom prst="rect">
                <a:avLst/>
              </a:prstGeom>
              <a:blipFill>
                <a:blip r:embed="rId4"/>
                <a:stretch>
                  <a:fillRect l="-938" b="-22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8386F-FF28-42DA-AEDC-EDA8A2060B32}"/>
                  </a:ext>
                </a:extLst>
              </p:cNvPr>
              <p:cNvSpPr txBox="1"/>
              <p:nvPr/>
            </p:nvSpPr>
            <p:spPr>
              <a:xfrm>
                <a:off x="1344947" y="1092025"/>
                <a:ext cx="4220966" cy="78374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f>
                        <m:fPr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𝑹𝑻</m:t>
                          </m:r>
                        </m:num>
                        <m:den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f>
                        <m:fPr>
                          <m:ctrlP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𝒏𝑹𝑻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8386F-FF28-42DA-AEDC-EDA8A2060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947" y="1092025"/>
                <a:ext cx="4220966" cy="783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A41B41-6B84-47AC-AF59-DA2FED90ECA2}"/>
                  </a:ext>
                </a:extLst>
              </p:cNvPr>
              <p:cNvSpPr txBox="1"/>
              <p:nvPr/>
            </p:nvSpPr>
            <p:spPr>
              <a:xfrm>
                <a:off x="503582" y="2346499"/>
                <a:ext cx="609600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b="0" i="0" u="none" strike="noStrike" baseline="0" dirty="0">
                    <a:latin typeface="TTE1BBEEA8t00"/>
                  </a:rPr>
                  <a:t>La masse molaire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sz="2000" b="0" i="0" u="none" strike="noStrike" baseline="0" dirty="0">
                    <a:latin typeface="TTE1BBEEA8t00"/>
                  </a:rPr>
                  <a:t> du mélange est définie par :</a:t>
                </a:r>
                <a:endParaRPr lang="fr-FR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A41B41-6B84-47AC-AF59-DA2FED90E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82" y="2346499"/>
                <a:ext cx="6096000" cy="453137"/>
              </a:xfrm>
              <a:prstGeom prst="rect">
                <a:avLst/>
              </a:prstGeom>
              <a:blipFill>
                <a:blip r:embed="rId6"/>
                <a:stretch>
                  <a:fillRect l="-900" b="-243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F4733-C678-482F-A36F-E0B4E9AF2E15}"/>
                  </a:ext>
                </a:extLst>
              </p:cNvPr>
              <p:cNvSpPr txBox="1"/>
              <p:nvPr/>
            </p:nvSpPr>
            <p:spPr>
              <a:xfrm>
                <a:off x="1603513" y="2844096"/>
                <a:ext cx="2517913" cy="11698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𝑴</m:t>
                      </m:r>
                      <m:r>
                        <a:rPr kumimoji="0" lang="fr-FR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e>
                            <m:sub>
                              <m:r>
                                <a:rPr kumimoji="0" lang="fr-FR" sz="24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F4733-C678-482F-A36F-E0B4E9AF2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513" y="2844096"/>
                <a:ext cx="2517913" cy="11698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ABED74-72DD-4D54-B3D0-69BB4272813E}"/>
                  </a:ext>
                </a:extLst>
              </p:cNvPr>
              <p:cNvSpPr txBox="1"/>
              <p:nvPr/>
            </p:nvSpPr>
            <p:spPr>
              <a:xfrm>
                <a:off x="5049077" y="3198166"/>
                <a:ext cx="57646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fr-FR" sz="2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Où</a:t>
                </a:r>
                <a:r>
                  <a:rPr kumimoji="0" lang="fr-FR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FR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𝑴</m:t>
                        </m:r>
                      </m:e>
                      <m:sub>
                        <m:r>
                          <a:rPr kumimoji="0" lang="fr-FR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:r>
                  <a:rPr lang="fr-FR" sz="2000" dirty="0"/>
                  <a:t>est la masse molaire du gaz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ABED74-72DD-4D54-B3D0-69BB42728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077" y="3198166"/>
                <a:ext cx="5764697" cy="461665"/>
              </a:xfrm>
              <a:prstGeom prst="rect">
                <a:avLst/>
              </a:prstGeom>
              <a:blipFill>
                <a:blip r:embed="rId8"/>
                <a:stretch>
                  <a:fillRect l="-1057" b="-21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56EE25-9A09-43F9-9354-509A9BC8942D}"/>
                  </a:ext>
                </a:extLst>
              </p:cNvPr>
              <p:cNvSpPr txBox="1"/>
              <p:nvPr/>
            </p:nvSpPr>
            <p:spPr>
              <a:xfrm>
                <a:off x="6255026" y="361889"/>
                <a:ext cx="1351720" cy="7301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</m:e>
                            <m:sub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56EE25-9A09-43F9-9354-509A9BC89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026" y="361889"/>
                <a:ext cx="1351720" cy="7301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EA66079-DD2A-41F4-958E-94496FFF75D5}"/>
              </a:ext>
            </a:extLst>
          </p:cNvPr>
          <p:cNvSpPr txBox="1"/>
          <p:nvPr/>
        </p:nvSpPr>
        <p:spPr>
          <a:xfrm>
            <a:off x="503582" y="423676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solidFill>
                  <a:srgbClr val="3333CD"/>
                </a:solidFill>
                <a:latin typeface="TTE1BBEEA8t00"/>
              </a:rPr>
              <a:t>Exemple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TTE1BBEEA8t00"/>
              </a:rPr>
              <a:t>: la composition moyenne de l’air étant :</a:t>
            </a:r>
            <a:endParaRPr lang="fr-FR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321888-9AF6-438F-92C1-443942AE1A92}"/>
              </a:ext>
            </a:extLst>
          </p:cNvPr>
          <p:cNvSpPr txBox="1"/>
          <p:nvPr/>
        </p:nvSpPr>
        <p:spPr>
          <a:xfrm>
            <a:off x="503582" y="4652601"/>
            <a:ext cx="47707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TTE1BBEEA8t00"/>
              </a:rPr>
              <a:t>Diazote : 76,9%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TTE1BBEEA8t00"/>
              </a:rPr>
              <a:t>dioxygène : 20,7% </a:t>
            </a:r>
            <a:endParaRPr lang="fr-FR" sz="2400" dirty="0">
              <a:latin typeface="TTE1BBEEA8t0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TTE1BBEEA8t00"/>
              </a:rPr>
              <a:t>vapeur d’eau : 1,4%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0" i="0" u="none" strike="noStrike" baseline="0" dirty="0">
                <a:latin typeface="TTE1BBEEA8t00"/>
              </a:rPr>
              <a:t>autres gaz : 1,0% (Argon, CO</a:t>
            </a:r>
            <a:r>
              <a:rPr lang="fr-FR" sz="1600" b="0" i="0" u="none" strike="noStrike" baseline="0" dirty="0">
                <a:latin typeface="TTE1BBEEA8t00"/>
              </a:rPr>
              <a:t>2</a:t>
            </a:r>
            <a:r>
              <a:rPr lang="fr-FR" sz="2400" b="0" i="0" u="none" strike="noStrike" baseline="0" dirty="0">
                <a:latin typeface="TTE1BBEEA8t00"/>
              </a:rPr>
              <a:t>, …)</a:t>
            </a:r>
            <a:endParaRPr lang="fr-F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E9C08-64ED-4DF4-9F1F-6D93162D6AF0}"/>
              </a:ext>
            </a:extLst>
          </p:cNvPr>
          <p:cNvSpPr txBox="1"/>
          <p:nvPr/>
        </p:nvSpPr>
        <p:spPr>
          <a:xfrm>
            <a:off x="5830956" y="4633467"/>
            <a:ext cx="3326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0" i="0" u="none" strike="noStrike" baseline="0" dirty="0">
                <a:latin typeface="TTE1BBEEA8t00"/>
              </a:rPr>
              <a:t>la masse molaire de l’air est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2D3BAF-BF14-422B-BC77-151ABD88BD4C}"/>
                  </a:ext>
                </a:extLst>
              </p:cNvPr>
              <p:cNvSpPr txBox="1"/>
              <p:nvPr/>
            </p:nvSpPr>
            <p:spPr>
              <a:xfrm>
                <a:off x="5809925" y="5179761"/>
                <a:ext cx="6049990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=0,769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207</m:t>
                      </m:r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014</m:t>
                      </m:r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+0,01</m:t>
                      </m:r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𝐴𝑟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2D3BAF-BF14-422B-BC77-151ABD88B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925" y="5179761"/>
                <a:ext cx="6049990" cy="334194"/>
              </a:xfrm>
              <a:prstGeom prst="rect">
                <a:avLst/>
              </a:prstGeom>
              <a:blipFill>
                <a:blip r:embed="rId10"/>
                <a:stretch>
                  <a:fillRect l="-504" b="-1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B348B3-5DE4-4629-A8A3-BF148A7B6825}"/>
                  </a:ext>
                </a:extLst>
              </p:cNvPr>
              <p:cNvSpPr txBox="1"/>
              <p:nvPr/>
            </p:nvSpPr>
            <p:spPr>
              <a:xfrm>
                <a:off x="6811617" y="5807158"/>
                <a:ext cx="251791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𝒂𝒊𝒓</m:t>
                          </m:r>
                        </m:sub>
                      </m:sSub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𝟐𝟗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</m:e>
                        <m:sup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B348B3-5DE4-4629-A8A3-BF148A7B6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17" y="5807158"/>
                <a:ext cx="2517913" cy="407099"/>
              </a:xfrm>
              <a:prstGeom prst="rect">
                <a:avLst/>
              </a:prstGeom>
              <a:blipFill>
                <a:blip r:embed="rId1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7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7014F5-D69E-4F3B-8BFB-FD58E926F514}"/>
              </a:ext>
            </a:extLst>
          </p:cNvPr>
          <p:cNvSpPr txBox="1"/>
          <p:nvPr/>
        </p:nvSpPr>
        <p:spPr>
          <a:xfrm>
            <a:off x="384314" y="226151"/>
            <a:ext cx="5711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E1BBEEA8t00"/>
              </a:rPr>
              <a:t>Densité d’un gaz parfait par rapport à l’air :</a:t>
            </a:r>
            <a:endParaRPr lang="fr-FR" sz="24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5C2B19-CB82-40D5-84EF-F598409AEAF7}"/>
              </a:ext>
            </a:extLst>
          </p:cNvPr>
          <p:cNvSpPr txBox="1"/>
          <p:nvPr/>
        </p:nvSpPr>
        <p:spPr>
          <a:xfrm>
            <a:off x="490329" y="823796"/>
            <a:ext cx="109860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latin typeface="TTE1BBEEA8t00"/>
              </a:rPr>
              <a:t>On appelle densité d’un gaz par rapport à l’air (par analogie avec la densité d’un liquide ou d’un solide par rapport à l’eau) :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91900E-B2A6-40D6-8010-12C180DE04D3}"/>
                  </a:ext>
                </a:extLst>
              </p:cNvPr>
              <p:cNvSpPr txBox="1"/>
              <p:nvPr/>
            </p:nvSpPr>
            <p:spPr>
              <a:xfrm>
                <a:off x="1536378" y="1858447"/>
                <a:ext cx="7979556" cy="92050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masse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d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un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volumeV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de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gaz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masse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du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m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ê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me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volumeV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d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 smtClean="0"/>
                                    <m:t>′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2400" b="1" i="1"/>
                                    <m:t>air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𝒄𝒐𝒏𝒔𝒕𝒂𝒏𝒕𝒆𝒔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𝒆𝒕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𝒊𝒅𝒆𝒏𝒕𝒊𝒒𝒖𝒆𝒔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91900E-B2A6-40D6-8010-12C180DE0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378" y="1858447"/>
                <a:ext cx="7979556" cy="920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3618D5-B903-4796-9685-1D15DE4C9175}"/>
                  </a:ext>
                </a:extLst>
              </p:cNvPr>
              <p:cNvSpPr txBox="1"/>
              <p:nvPr/>
            </p:nvSpPr>
            <p:spPr>
              <a:xfrm>
                <a:off x="1934817" y="3598429"/>
                <a:ext cx="6096000" cy="134280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𝒅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  <m:f>
                                <m:fPr>
                                  <m:ctrlP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𝑷𝑽</m:t>
                                  </m:r>
                                </m:num>
                                <m:den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𝑹𝑻</m:t>
                                  </m:r>
                                </m:den>
                              </m:f>
                            </m:num>
                            <m:den>
                              <m:sSub>
                                <m:sSubPr>
                                  <m:ctrlP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𝒂𝒊𝒓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𝑷𝑽</m:t>
                                  </m:r>
                                </m:num>
                                <m:den>
                                  <m:r>
                                    <a:rPr kumimoji="0" lang="fr-FR" sz="2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𝑹𝑻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𝑴</m:t>
                          </m:r>
                        </m:num>
                        <m:den>
                          <m:sSub>
                            <m:sSubPr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𝑴</m:t>
                              </m:r>
                            </m:e>
                            <m:sub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𝒂𝒊𝒓</m:t>
                              </m:r>
                            </m:sub>
                          </m:sSub>
                        </m:den>
                      </m:f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𝑴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(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𝒈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sSup>
                            <m:sSupPr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𝒎𝒐𝒍</m:t>
                              </m:r>
                            </m:e>
                            <m:sup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p>
                          </m:s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𝟐𝟗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3618D5-B903-4796-9685-1D15DE4C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817" y="3598429"/>
                <a:ext cx="6096000" cy="13428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81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36B10-DAE8-49FF-90C0-2F6447D0A8C0}"/>
              </a:ext>
            </a:extLst>
          </p:cNvPr>
          <p:cNvSpPr txBox="1"/>
          <p:nvPr/>
        </p:nvSpPr>
        <p:spPr>
          <a:xfrm>
            <a:off x="344557" y="193670"/>
            <a:ext cx="10999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800" b="1" i="1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E1BBEEA8t00"/>
              </a:rPr>
              <a:t>Théorie cinétique du gaz parfait monoatomique (modèle microscopique)</a:t>
            </a:r>
            <a:endParaRPr lang="fr-FR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C5681-822C-4733-9441-6172C452D6F3}"/>
              </a:ext>
            </a:extLst>
          </p:cNvPr>
          <p:cNvSpPr txBox="1"/>
          <p:nvPr/>
        </p:nvSpPr>
        <p:spPr>
          <a:xfrm>
            <a:off x="344557" y="915264"/>
            <a:ext cx="734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u="sng" strike="noStrike" baseline="0" dirty="0">
                <a:solidFill>
                  <a:srgbClr val="3333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E1BBEEA8t00"/>
              </a:rPr>
              <a:t>1 – Le modèle cinétique du gaz parfait monoatomique :</a:t>
            </a:r>
            <a:endParaRPr lang="fr-FR" sz="24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96EA78-CBB3-4971-8A68-ED6F12256433}"/>
              </a:ext>
            </a:extLst>
          </p:cNvPr>
          <p:cNvSpPr/>
          <p:nvPr/>
        </p:nvSpPr>
        <p:spPr>
          <a:xfrm rot="2353894">
            <a:off x="2213113" y="2093843"/>
            <a:ext cx="1802296" cy="25311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532C69-53BF-40E6-8672-8F0FD98C6201}"/>
              </a:ext>
            </a:extLst>
          </p:cNvPr>
          <p:cNvSpPr/>
          <p:nvPr/>
        </p:nvSpPr>
        <p:spPr>
          <a:xfrm>
            <a:off x="2756452" y="2570922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4C8B86-222E-467A-8BAA-E2C3D84A4039}"/>
              </a:ext>
            </a:extLst>
          </p:cNvPr>
          <p:cNvSpPr/>
          <p:nvPr/>
        </p:nvSpPr>
        <p:spPr>
          <a:xfrm>
            <a:off x="3670852" y="2690192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E6A194-5A86-4E65-9B21-08A4F7D973D0}"/>
              </a:ext>
            </a:extLst>
          </p:cNvPr>
          <p:cNvSpPr/>
          <p:nvPr/>
        </p:nvSpPr>
        <p:spPr>
          <a:xfrm>
            <a:off x="3375514" y="2296065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CAE3E9-A2EC-4FD2-BD91-6A1C78590952}"/>
              </a:ext>
            </a:extLst>
          </p:cNvPr>
          <p:cNvSpPr/>
          <p:nvPr/>
        </p:nvSpPr>
        <p:spPr>
          <a:xfrm>
            <a:off x="3213652" y="3028122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0C2AA2-9975-4D00-8E0B-9032BE103678}"/>
              </a:ext>
            </a:extLst>
          </p:cNvPr>
          <p:cNvSpPr/>
          <p:nvPr/>
        </p:nvSpPr>
        <p:spPr>
          <a:xfrm>
            <a:off x="3150704" y="3382617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F7BA6E-38A0-4CF6-A041-606DEE3BF2FD}"/>
              </a:ext>
            </a:extLst>
          </p:cNvPr>
          <p:cNvSpPr/>
          <p:nvPr/>
        </p:nvSpPr>
        <p:spPr>
          <a:xfrm>
            <a:off x="3578086" y="3180522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A1EEF2-1B9E-485C-8FA4-DC4B68A77AAD}"/>
              </a:ext>
            </a:extLst>
          </p:cNvPr>
          <p:cNvSpPr/>
          <p:nvPr/>
        </p:nvSpPr>
        <p:spPr>
          <a:xfrm>
            <a:off x="3670852" y="3485322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84FA7C-74AC-4AAF-A56C-54716C537DA7}"/>
              </a:ext>
            </a:extLst>
          </p:cNvPr>
          <p:cNvSpPr/>
          <p:nvPr/>
        </p:nvSpPr>
        <p:spPr>
          <a:xfrm>
            <a:off x="2368348" y="3114261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352A60-19DD-4426-AA7B-FA061AF470F0}"/>
              </a:ext>
            </a:extLst>
          </p:cNvPr>
          <p:cNvSpPr/>
          <p:nvPr/>
        </p:nvSpPr>
        <p:spPr>
          <a:xfrm>
            <a:off x="2802835" y="2981739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C2120A-3589-4C08-B500-C5BD9F4F5F24}"/>
              </a:ext>
            </a:extLst>
          </p:cNvPr>
          <p:cNvSpPr/>
          <p:nvPr/>
        </p:nvSpPr>
        <p:spPr>
          <a:xfrm>
            <a:off x="2673148" y="3419061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2580D5-92B0-4EA5-9F27-BF6AC06D14EB}"/>
              </a:ext>
            </a:extLst>
          </p:cNvPr>
          <p:cNvSpPr/>
          <p:nvPr/>
        </p:nvSpPr>
        <p:spPr>
          <a:xfrm>
            <a:off x="2414731" y="3743740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B5FDD9-E153-49D7-A18E-4E894E62FD93}"/>
              </a:ext>
            </a:extLst>
          </p:cNvPr>
          <p:cNvSpPr/>
          <p:nvPr/>
        </p:nvSpPr>
        <p:spPr>
          <a:xfrm>
            <a:off x="2915479" y="3743740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7EB918-C4D3-4F4D-AADD-655759BB5587}"/>
              </a:ext>
            </a:extLst>
          </p:cNvPr>
          <p:cNvSpPr/>
          <p:nvPr/>
        </p:nvSpPr>
        <p:spPr>
          <a:xfrm>
            <a:off x="3329131" y="3677479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80A8FA9-DFBA-41E6-944A-FBC64732D1D4}"/>
              </a:ext>
            </a:extLst>
          </p:cNvPr>
          <p:cNvSpPr/>
          <p:nvPr/>
        </p:nvSpPr>
        <p:spPr>
          <a:xfrm>
            <a:off x="3282748" y="4028661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0C93D0-ACF7-4452-BDC5-0A07324BCEFA}"/>
              </a:ext>
            </a:extLst>
          </p:cNvPr>
          <p:cNvSpPr/>
          <p:nvPr/>
        </p:nvSpPr>
        <p:spPr>
          <a:xfrm>
            <a:off x="2789583" y="4180810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E87F9F2-45D5-4E4A-9757-DEA0CA1CDBC4}"/>
              </a:ext>
            </a:extLst>
          </p:cNvPr>
          <p:cNvSpPr/>
          <p:nvPr/>
        </p:nvSpPr>
        <p:spPr>
          <a:xfrm>
            <a:off x="2394854" y="4161183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F97D7E-BFC9-485F-B880-A33AC4842997}"/>
              </a:ext>
            </a:extLst>
          </p:cNvPr>
          <p:cNvSpPr/>
          <p:nvPr/>
        </p:nvSpPr>
        <p:spPr>
          <a:xfrm>
            <a:off x="2203636" y="3515139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6D024B7-6AE8-4470-867E-79319721B275}"/>
              </a:ext>
            </a:extLst>
          </p:cNvPr>
          <p:cNvSpPr/>
          <p:nvPr/>
        </p:nvSpPr>
        <p:spPr>
          <a:xfrm>
            <a:off x="3232576" y="2634121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BF9FF7-FA6C-4346-9742-9C94EB77A521}"/>
              </a:ext>
            </a:extLst>
          </p:cNvPr>
          <p:cNvSpPr/>
          <p:nvPr/>
        </p:nvSpPr>
        <p:spPr>
          <a:xfrm>
            <a:off x="3922643" y="3094383"/>
            <a:ext cx="92766" cy="132522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B07C20-1B2A-42C5-B5AB-0685B2F8B081}"/>
              </a:ext>
            </a:extLst>
          </p:cNvPr>
          <p:cNvSpPr txBox="1"/>
          <p:nvPr/>
        </p:nvSpPr>
        <p:spPr>
          <a:xfrm>
            <a:off x="1760636" y="4630448"/>
            <a:ext cx="19177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1" i="0" u="none" strike="noStrike" baseline="0" dirty="0">
                <a:latin typeface="TTE1BBEEA8t00"/>
              </a:rPr>
              <a:t>Volume V,</a:t>
            </a:r>
          </a:p>
          <a:p>
            <a:pPr algn="l"/>
            <a:r>
              <a:rPr lang="fr-FR" sz="2000" b="1" i="0" u="none" strike="noStrike" baseline="0" dirty="0">
                <a:latin typeface="TTE1BBEEA8t00"/>
              </a:rPr>
              <a:t>température T,</a:t>
            </a:r>
          </a:p>
          <a:p>
            <a:pPr algn="l"/>
            <a:r>
              <a:rPr lang="fr-FR" sz="2000" b="1" i="0" u="none" strike="noStrike" baseline="0" dirty="0">
                <a:latin typeface="TTE1BBEEA8t00"/>
              </a:rPr>
              <a:t>pression P</a:t>
            </a:r>
            <a:endParaRPr lang="fr-FR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D76A98-9C0B-4194-B128-9ECF7EB62360}"/>
              </a:ext>
            </a:extLst>
          </p:cNvPr>
          <p:cNvSpPr txBox="1"/>
          <p:nvPr/>
        </p:nvSpPr>
        <p:spPr>
          <a:xfrm>
            <a:off x="4638261" y="205925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latin typeface="TTE1BBEEA8t00"/>
              </a:rPr>
              <a:t>Gaz monoatomique (Ar, He, H,…)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125A52-4EF8-45F6-808D-1DD93B7C87E1}"/>
                  </a:ext>
                </a:extLst>
              </p:cNvPr>
              <p:cNvSpPr txBox="1"/>
              <p:nvPr/>
            </p:nvSpPr>
            <p:spPr>
              <a:xfrm>
                <a:off x="4874936" y="2634121"/>
                <a:ext cx="6712211" cy="1482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fr-FR" sz="2000" b="0" i="0" u="none" strike="noStrike" baseline="0" dirty="0">
                    <a:latin typeface="TTE1BBEEA8t00"/>
                  </a:rPr>
                  <a:t> : nombre de moles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fr-FR" sz="2000" b="0" i="0" u="none" strike="noStrike" baseline="0" dirty="0">
                    <a:latin typeface="TTE1BBEEA8t00"/>
                  </a:rPr>
                  <a:t> : nombre total de particules dans le volume V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fr-FR" sz="2400" b="1" i="1" u="none" strike="noStrike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1600" b="1" i="1" u="none" strike="noStrike" baseline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i="0" u="none" strike="noStrike" baseline="0" dirty="0">
                    <a:latin typeface="TTE1BBEEA8t00"/>
                  </a:rPr>
                  <a:t>: densité particulaire (nombre de particules par unité de volume) :</a:t>
                </a:r>
                <a:endParaRPr lang="fr-FR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125A52-4EF8-45F6-808D-1DD93B7C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936" y="2634121"/>
                <a:ext cx="6712211" cy="1482522"/>
              </a:xfrm>
              <a:prstGeom prst="rect">
                <a:avLst/>
              </a:prstGeom>
              <a:blipFill>
                <a:blip r:embed="rId2"/>
                <a:stretch>
                  <a:fillRect l="-999" b="-65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49B368-CBE3-4D89-AB6D-B187A05A8D44}"/>
                  </a:ext>
                </a:extLst>
              </p:cNvPr>
              <p:cNvSpPr txBox="1"/>
              <p:nvPr/>
            </p:nvSpPr>
            <p:spPr>
              <a:xfrm>
                <a:off x="5072322" y="4273364"/>
                <a:ext cx="1023678" cy="6901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49B368-CBE3-4D89-AB6D-B187A05A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322" y="4273364"/>
                <a:ext cx="1023678" cy="690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1FC27C-E2CE-4254-9205-BB0E66C03369}"/>
                  </a:ext>
                </a:extLst>
              </p:cNvPr>
              <p:cNvSpPr txBox="1"/>
              <p:nvPr/>
            </p:nvSpPr>
            <p:spPr>
              <a:xfrm>
                <a:off x="9276521" y="4168783"/>
                <a:ext cx="1654658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𝑵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𝒏</m:t>
                      </m:r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𝑵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1FC27C-E2CE-4254-9205-BB0E66C03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521" y="4168783"/>
                <a:ext cx="165465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867AC6-C1A8-4840-87DC-3F4EE0FFBA59}"/>
                  </a:ext>
                </a:extLst>
              </p:cNvPr>
              <p:cNvSpPr txBox="1"/>
              <p:nvPr/>
            </p:nvSpPr>
            <p:spPr>
              <a:xfrm>
                <a:off x="4821927" y="5204072"/>
                <a:ext cx="40967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fr-F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fr-FR" sz="2000" dirty="0"/>
                  <a:t> est uniforme le gaz est homogène.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867AC6-C1A8-4840-87DC-3F4EE0FFB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927" y="5204072"/>
                <a:ext cx="4096786" cy="400110"/>
              </a:xfrm>
              <a:prstGeom prst="rect">
                <a:avLst/>
              </a:prstGeom>
              <a:blipFill>
                <a:blip r:embed="rId6"/>
                <a:stretch>
                  <a:fillRect t="-9231" r="-744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32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BC61C8-559E-44ED-95F0-ABC611CFEF38}"/>
              </a:ext>
            </a:extLst>
          </p:cNvPr>
          <p:cNvSpPr txBox="1"/>
          <p:nvPr/>
        </p:nvSpPr>
        <p:spPr>
          <a:xfrm>
            <a:off x="622852" y="375817"/>
            <a:ext cx="108270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b="0" i="0" u="none" strike="noStrike" baseline="0" dirty="0">
                <a:solidFill>
                  <a:srgbClr val="000000"/>
                </a:solidFill>
                <a:latin typeface="TTE1BBEEA8t00"/>
              </a:rPr>
              <a:t>Les vitesses des particules </a:t>
            </a:r>
            <a:r>
              <a:rPr lang="fr-FR" sz="2000" b="1" i="0" u="sng" strike="noStrike" baseline="0" dirty="0">
                <a:solidFill>
                  <a:srgbClr val="000000"/>
                </a:solidFill>
                <a:latin typeface="TTE1BBEEA8t00"/>
              </a:rPr>
              <a:t>sont distribuées selon une loi statistique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TTE1BBEEA8t00"/>
              </a:rPr>
              <a:t>appelée loi de distribution de Maxwell – Boltzmann. La distribution des vitesses des particules est </a:t>
            </a:r>
            <a:r>
              <a:rPr lang="fr-FR" sz="2000" b="1" i="0" u="none" strike="noStrike" baseline="0" dirty="0">
                <a:solidFill>
                  <a:srgbClr val="3333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E1BBEEA8t00"/>
              </a:rPr>
              <a:t>homogène</a:t>
            </a:r>
            <a:r>
              <a:rPr lang="fr-FR" sz="2000" b="0" i="0" u="none" strike="noStrike" baseline="0" dirty="0">
                <a:solidFill>
                  <a:srgbClr val="3333CD"/>
                </a:solidFill>
                <a:latin typeface="TTE1BBEEA8t00"/>
              </a:rPr>
              <a:t>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TTE1BBEEA8t00"/>
              </a:rPr>
              <a:t>(indépendante du point où l’on se place) et </a:t>
            </a:r>
            <a:r>
              <a:rPr lang="fr-FR" sz="2000" b="1" i="0" u="none" strike="noStrike" baseline="0" dirty="0">
                <a:solidFill>
                  <a:srgbClr val="3333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E1BBEEA8t00"/>
              </a:rPr>
              <a:t>isotrope</a:t>
            </a:r>
            <a:r>
              <a:rPr lang="fr-FR" sz="2000" b="0" i="0" u="none" strike="noStrike" baseline="0" dirty="0">
                <a:solidFill>
                  <a:srgbClr val="3333CD"/>
                </a:solidFill>
                <a:latin typeface="TTE1BBEEA8t00"/>
              </a:rPr>
              <a:t> </a:t>
            </a:r>
            <a:r>
              <a:rPr lang="fr-FR" sz="2000" b="0" i="0" u="none" strike="noStrike" baseline="0" dirty="0">
                <a:solidFill>
                  <a:srgbClr val="000000"/>
                </a:solidFill>
                <a:latin typeface="TTE1BBEEA8t00"/>
              </a:rPr>
              <a:t>(indépendante de la direction choisie).</a:t>
            </a:r>
            <a:endParaRPr lang="fr-F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3CB3C-22B5-4329-9E5A-3A18F842FC87}"/>
              </a:ext>
            </a:extLst>
          </p:cNvPr>
          <p:cNvSpPr txBox="1"/>
          <p:nvPr/>
        </p:nvSpPr>
        <p:spPr>
          <a:xfrm>
            <a:off x="622852" y="1611652"/>
            <a:ext cx="106812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loi de distribution est donc la même pour les trois coordonnées cartésiennes de la vitesse et en moyenne : 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F89CD7-0633-4493-8993-1AFD44410429}"/>
                  </a:ext>
                </a:extLst>
              </p:cNvPr>
              <p:cNvSpPr txBox="1"/>
              <p:nvPr/>
            </p:nvSpPr>
            <p:spPr>
              <a:xfrm>
                <a:off x="4100225" y="2141203"/>
                <a:ext cx="3872279" cy="3985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&gt;=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&gt;=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F89CD7-0633-4493-8993-1AFD44410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225" y="2141203"/>
                <a:ext cx="3872279" cy="398507"/>
              </a:xfrm>
              <a:prstGeom prst="rect">
                <a:avLst/>
              </a:prstGeom>
              <a:blipFill>
                <a:blip r:embed="rId2"/>
                <a:stretch>
                  <a:fillRect l="-1102" r="-1417" b="-181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904076-2475-49EF-B5CF-989280E037CB}"/>
              </a:ext>
            </a:extLst>
          </p:cNvPr>
          <p:cNvSpPr txBox="1"/>
          <p:nvPr/>
        </p:nvSpPr>
        <p:spPr>
          <a:xfrm>
            <a:off x="622852" y="2795920"/>
            <a:ext cx="5936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Autrement dit le vecteur vitesse est en moyenne nul : 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302F5D-BA5E-4BB3-BE17-C48A57BD5356}"/>
                  </a:ext>
                </a:extLst>
              </p:cNvPr>
              <p:cNvSpPr txBox="1"/>
              <p:nvPr/>
            </p:nvSpPr>
            <p:spPr>
              <a:xfrm>
                <a:off x="7229061" y="2883001"/>
                <a:ext cx="1194238" cy="34714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acc>
                        <m:accPr>
                          <m:chr m:val="⃗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&gt; =</m:t>
                      </m:r>
                      <m:acc>
                        <m:accPr>
                          <m:chr m:val="⃗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302F5D-BA5E-4BB3-BE17-C48A57BD5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061" y="2883001"/>
                <a:ext cx="1194238" cy="347146"/>
              </a:xfrm>
              <a:prstGeom prst="rect">
                <a:avLst/>
              </a:prstGeom>
              <a:blipFill>
                <a:blip r:embed="rId3"/>
                <a:stretch>
                  <a:fillRect l="-3571" t="-22807" r="-4082" b="-52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0E20F3-D4DA-4F6F-A18A-11C5304D5944}"/>
                  </a:ext>
                </a:extLst>
              </p:cNvPr>
              <p:cNvSpPr txBox="1"/>
              <p:nvPr/>
            </p:nvSpPr>
            <p:spPr>
              <a:xfrm>
                <a:off x="622852" y="3793610"/>
                <a:ext cx="10827026" cy="732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On cherche à exprimer la probabilité qu’ à une particule pour avoir une valeur de la vitesse</a:t>
                </a:r>
              </a:p>
              <a:p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d</m:t>
                    </m:r>
                    <m:acc>
                      <m:accPr>
                        <m:chr m:val="⃗"/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près.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0E20F3-D4DA-4F6F-A18A-11C5304D5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2" y="3793610"/>
                <a:ext cx="10827026" cy="732060"/>
              </a:xfrm>
              <a:prstGeom prst="rect">
                <a:avLst/>
              </a:prstGeom>
              <a:blipFill>
                <a:blip r:embed="rId4"/>
                <a:stretch>
                  <a:fillRect l="-507" t="-4167" b="-1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F9353E-FF94-4BBA-9EAE-E8BB1619005B}"/>
                  </a:ext>
                </a:extLst>
              </p:cNvPr>
              <p:cNvSpPr txBox="1"/>
              <p:nvPr/>
            </p:nvSpPr>
            <p:spPr>
              <a:xfrm>
                <a:off x="1619103" y="4738814"/>
                <a:ext cx="2789482" cy="3359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𝒅𝑷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fr-FR" sz="2000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𝒅𝒗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fr-FR" sz="20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F9353E-FF94-4BBA-9EAE-E8BB16190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103" y="4738814"/>
                <a:ext cx="2789482" cy="335926"/>
              </a:xfrm>
              <a:prstGeom prst="rect">
                <a:avLst/>
              </a:prstGeom>
              <a:blipFill>
                <a:blip r:embed="rId5"/>
                <a:stretch>
                  <a:fillRect l="-1969" b="-254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EEEC30-2199-4839-8E69-EE9F31FA65EB}"/>
                  </a:ext>
                </a:extLst>
              </p:cNvPr>
              <p:cNvSpPr txBox="1"/>
              <p:nvPr/>
            </p:nvSpPr>
            <p:spPr>
              <a:xfrm>
                <a:off x="5791199" y="4704219"/>
                <a:ext cx="48900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𝜑</m:t>
                    </m:r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acc>
                      <m:accPr>
                        <m:chr m:val="⃗"/>
                        <m:ctrlPr>
                          <a:rPr kumimoji="0" lang="fr-FR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fr-FR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𝑣</m:t>
                        </m:r>
                      </m:e>
                    </m:acc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lang="fr-FR" sz="2000" dirty="0"/>
                  <a:t> est la fonction distribution des vitesse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EEEC30-2199-4839-8E69-EE9F31FA6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9" y="4704219"/>
                <a:ext cx="4890052" cy="400110"/>
              </a:xfrm>
              <a:prstGeom prst="rect">
                <a:avLst/>
              </a:prstGeom>
              <a:blipFill>
                <a:blip r:embed="rId6"/>
                <a:stretch>
                  <a:fillRect t="-18462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C1EE73-2A63-4A0D-B34A-C51F3B7810F7}"/>
                  </a:ext>
                </a:extLst>
              </p:cNvPr>
              <p:cNvSpPr txBox="1"/>
              <p:nvPr/>
            </p:nvSpPr>
            <p:spPr>
              <a:xfrm>
                <a:off x="755374" y="5565913"/>
                <a:ext cx="103109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La distribution des vitesse est homogène et isotrope, donc </a:t>
                </a:r>
                <a14:m>
                  <m:oMath xmlns:m="http://schemas.openxmlformats.org/officeDocument/2006/math">
                    <m:r>
                      <a:rPr kumimoji="0" lang="fr-F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𝜑</m:t>
                    </m:r>
                  </m:oMath>
                </a14:m>
                <a:r>
                  <a:rPr lang="fr-FR" sz="2000" dirty="0"/>
                  <a:t> ne dépend que de la norme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fr-FR" sz="20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C1EE73-2A63-4A0D-B34A-C51F3B78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74" y="5565913"/>
                <a:ext cx="10310964" cy="400110"/>
              </a:xfrm>
              <a:prstGeom prst="rect">
                <a:avLst/>
              </a:prstGeom>
              <a:blipFill>
                <a:blip r:embed="rId7"/>
                <a:stretch>
                  <a:fillRect l="-532" t="-18182" r="-1538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5E8D2D-D35D-42CC-938E-72A302A18D7F}"/>
                  </a:ext>
                </a:extLst>
              </p:cNvPr>
              <p:cNvSpPr txBox="1"/>
              <p:nvPr/>
            </p:nvSpPr>
            <p:spPr>
              <a:xfrm>
                <a:off x="4532243" y="6082073"/>
                <a:ext cx="18022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fr-F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5E8D2D-D35D-42CC-938E-72A302A18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243" y="6082073"/>
                <a:ext cx="1802296" cy="461665"/>
              </a:xfrm>
              <a:prstGeom prst="rect">
                <a:avLst/>
              </a:prstGeom>
              <a:blipFill>
                <a:blip r:embed="rId8"/>
                <a:stretch>
                  <a:fillRect r="-1689" b="-18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8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B66F40-583A-44A4-BD20-1A8303D2FAC2}"/>
                  </a:ext>
                </a:extLst>
              </p:cNvPr>
              <p:cNvSpPr txBox="1"/>
              <p:nvPr/>
            </p:nvSpPr>
            <p:spPr>
              <a:xfrm>
                <a:off x="371061" y="371061"/>
                <a:ext cx="10482469" cy="2591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La norme de la vitesse est associé à l’énergie cinétique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Donc la distribution correspond à la distribution de l’énergie cinétique par rapport au particules en agitation thermique.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Le facteur de </a:t>
                </a:r>
                <a:r>
                  <a:rPr lang="fr-FR" sz="2000" dirty="0" err="1"/>
                  <a:t>Boltzman</a:t>
                </a:r>
                <a:r>
                  <a:rPr lang="fr-FR" sz="2000" dirty="0"/>
                  <a:t> de cette distribution 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sSup>
                              <m:sSupPr>
                                <m:ctrlP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sup>
                    </m:sSup>
                  </m:oMath>
                </a14:m>
                <a:r>
                  <a:rPr lang="fr-FR" sz="20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B66F40-583A-44A4-BD20-1A8303D2F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1" y="371061"/>
                <a:ext cx="10482469" cy="2591543"/>
              </a:xfrm>
              <a:prstGeom prst="rect">
                <a:avLst/>
              </a:prstGeom>
              <a:blipFill>
                <a:blip r:embed="rId2"/>
                <a:stretch>
                  <a:fillRect l="-524" b="-35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D479A-0594-4E1B-8F5B-011CB9115045}"/>
                  </a:ext>
                </a:extLst>
              </p:cNvPr>
              <p:cNvSpPr txBox="1"/>
              <p:nvPr/>
            </p:nvSpPr>
            <p:spPr>
              <a:xfrm>
                <a:off x="1861929" y="3131907"/>
                <a:ext cx="2405270" cy="856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d>
                        <m:d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sSup>
                                <m:sSup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D479A-0594-4E1B-8F5B-011CB9115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29" y="3131907"/>
                <a:ext cx="2405270" cy="8568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5F290D-7521-4B13-A8EC-249D5DBE0942}"/>
                  </a:ext>
                </a:extLst>
              </p:cNvPr>
              <p:cNvSpPr txBox="1"/>
              <p:nvPr/>
            </p:nvSpPr>
            <p:spPr>
              <a:xfrm>
                <a:off x="5088834" y="3442260"/>
                <a:ext cx="6042992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𝑨</m:t>
                    </m:r>
                  </m:oMath>
                </a14:m>
                <a:r>
                  <a:rPr lang="fr-FR" dirty="0"/>
                  <a:t> est une constante de normalisation qui peut dépendre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5F290D-7521-4B13-A8EC-249D5DBE0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834" y="3442260"/>
                <a:ext cx="6042992" cy="453137"/>
              </a:xfrm>
              <a:prstGeom prst="rect">
                <a:avLst/>
              </a:prstGeom>
              <a:blipFill>
                <a:blip r:embed="rId4"/>
                <a:stretch>
                  <a:fillRect l="-303" r="-706" b="-202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6B4485-F196-4A22-8A78-227F83A1BDCF}"/>
                  </a:ext>
                </a:extLst>
              </p:cNvPr>
              <p:cNvSpPr txBox="1"/>
              <p:nvPr/>
            </p:nvSpPr>
            <p:spPr>
              <a:xfrm>
                <a:off x="371061" y="4585252"/>
                <a:ext cx="1976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Cherchons </a:t>
                </a:r>
                <a14:m>
                  <m:oMath xmlns:m="http://schemas.openxmlformats.org/officeDocument/2006/math"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𝑨</m:t>
                    </m:r>
                  </m:oMath>
                </a14:m>
                <a:r>
                  <a:rPr lang="fr-FR" sz="2000" dirty="0"/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6B4485-F196-4A22-8A78-227F83A1B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1" y="4585252"/>
                <a:ext cx="1976247" cy="400110"/>
              </a:xfrm>
              <a:prstGeom prst="rect">
                <a:avLst/>
              </a:prstGeom>
              <a:blipFill>
                <a:blip r:embed="rId5"/>
                <a:stretch>
                  <a:fillRect l="-2778" t="-7576" r="-2160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EF0695-F48E-42D9-96E6-959FAEA3C296}"/>
                  </a:ext>
                </a:extLst>
              </p:cNvPr>
              <p:cNvSpPr txBox="1"/>
              <p:nvPr/>
            </p:nvSpPr>
            <p:spPr>
              <a:xfrm>
                <a:off x="371061" y="5181759"/>
                <a:ext cx="2623282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Cherchons </a:t>
                </a:r>
                <a14:m>
                  <m:oMath xmlns:m="http://schemas.openxmlformats.org/officeDocument/2006/math">
                    <m:r>
                      <a:rPr lang="fr-FR" sz="2400" b="1" i="1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⃗"/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fr-FR" sz="2400" b="1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sz="2000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EF0695-F48E-42D9-96E6-959FAEA3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1" y="5181759"/>
                <a:ext cx="2623282" cy="453137"/>
              </a:xfrm>
              <a:prstGeom prst="rect">
                <a:avLst/>
              </a:prstGeom>
              <a:blipFill>
                <a:blip r:embed="rId6"/>
                <a:stretch>
                  <a:fillRect l="-2093" r="-1395" b="-243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25A172-C7AA-4ADA-8D34-DF7DB61A4468}"/>
                  </a:ext>
                </a:extLst>
              </p:cNvPr>
              <p:cNvSpPr txBox="1"/>
              <p:nvPr/>
            </p:nvSpPr>
            <p:spPr>
              <a:xfrm>
                <a:off x="371061" y="5831293"/>
                <a:ext cx="2770695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Cherchons </a:t>
                </a:r>
                <a14:m>
                  <m:oMath xmlns:m="http://schemas.openxmlformats.org/officeDocument/2006/math">
                    <m:r>
                      <a:rPr kumimoji="0" lang="fr-FR" sz="2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&lt;</m:t>
                    </m:r>
                    <m:sSup>
                      <m:sSupPr>
                        <m:ctrlP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𝒗</m:t>
                        </m:r>
                      </m:e>
                      <m:sup>
                        <m: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</m:t>
                    </m:r>
                  </m:oMath>
                </a14:m>
                <a:r>
                  <a:rPr lang="fr-FR" sz="20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25A172-C7AA-4ADA-8D34-DF7DB61A4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61" y="5831293"/>
                <a:ext cx="2770695" cy="470000"/>
              </a:xfrm>
              <a:prstGeom prst="rect">
                <a:avLst/>
              </a:prstGeom>
              <a:blipFill>
                <a:blip r:embed="rId7"/>
                <a:stretch>
                  <a:fillRect l="-1982" r="-1322" b="-220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04EB52-6F63-4708-B82A-CAD2BD80C27E}"/>
                  </a:ext>
                </a:extLst>
              </p:cNvPr>
              <p:cNvSpPr txBox="1"/>
              <p:nvPr/>
            </p:nvSpPr>
            <p:spPr>
              <a:xfrm>
                <a:off x="291549" y="246344"/>
                <a:ext cx="11635408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800" b="1" i="1" u="sng" strike="noStrike" baseline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TE1BBEEA8t00"/>
                  </a:rPr>
                  <a:t>3 – Calcul de la pression cinétique d’un gaz parfait en équilibre:</a:t>
                </a:r>
              </a:p>
              <a:p>
                <a:pPr algn="just"/>
                <a:endParaRPr lang="fr-FR" sz="2000" b="0" i="0" u="none" strike="noStrike" baseline="0" dirty="0">
                  <a:solidFill>
                    <a:srgbClr val="000000"/>
                  </a:solidFill>
                  <a:latin typeface="TTE1BBEEA8t00"/>
                </a:endParaRPr>
              </a:p>
              <a:p>
                <a:pPr algn="just"/>
                <a:endParaRPr lang="fr-FR" sz="2400" b="0" i="0" u="none" strike="noStrike" baseline="0" dirty="0">
                  <a:solidFill>
                    <a:srgbClr val="000000"/>
                  </a:solidFill>
                  <a:latin typeface="TTE1BBEEA8t0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33A0t00"/>
                  </a:rPr>
                  <a:t> </a:t>
                </a: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Les particules ne peuvent se diriger que dans trois directions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𝑶𝒙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𝑶𝒚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𝒆𝒕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𝑶𝒛</m:t>
                    </m:r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 et donc six sens.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fr-FR" sz="2400" dirty="0">
                  <a:solidFill>
                    <a:srgbClr val="000000"/>
                  </a:solidFill>
                  <a:latin typeface="TTE1BBEEA8t0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fr-FR" sz="2400" dirty="0">
                  <a:solidFill>
                    <a:srgbClr val="000000"/>
                  </a:solidFill>
                  <a:latin typeface="TTE1BBEEA8t0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La pression cinétique </a:t>
                </a:r>
                <a14:m>
                  <m:oMath xmlns:m="http://schemas.openxmlformats.org/officeDocument/2006/math">
                    <m:r>
                      <a:rPr lang="fr-FR" sz="2400" b="1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 résulte des chocs incessants des particules contre la paroi.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fr-FR" sz="2400" dirty="0">
                  <a:solidFill>
                    <a:srgbClr val="000000"/>
                  </a:solidFill>
                  <a:latin typeface="TTE1BBEEA8t0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fr-FR" sz="2400" dirty="0">
                  <a:solidFill>
                    <a:srgbClr val="000000"/>
                  </a:solidFill>
                  <a:latin typeface="TTE1BBEEA8t0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A l’échelle particulaire, ces </a:t>
                </a:r>
                <a:r>
                  <a:rPr lang="fr-FR" sz="2400" b="1" i="1" u="sng" strike="noStrike" baseline="0" dirty="0">
                    <a:solidFill>
                      <a:srgbClr val="3333C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TE1BBEEA8t00"/>
                  </a:rPr>
                  <a:t>chocs sont élastiques </a:t>
                </a:r>
                <a:r>
                  <a:rPr lang="fr-FR" sz="2400" b="0" i="0" u="none" strike="noStrike" baseline="0" dirty="0">
                    <a:solidFill>
                      <a:srgbClr val="000000"/>
                    </a:solidFill>
                    <a:latin typeface="TTE1BBEEA8t00"/>
                  </a:rPr>
                  <a:t>(conservations de la quantité de mouvement et de l’énergie cinétique).</a:t>
                </a:r>
                <a:endParaRPr lang="fr-F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04EB52-6F63-4708-B82A-CAD2BD80C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9" y="246344"/>
                <a:ext cx="11635408" cy="4524315"/>
              </a:xfrm>
              <a:prstGeom prst="rect">
                <a:avLst/>
              </a:prstGeom>
              <a:blipFill>
                <a:blip r:embed="rId2"/>
                <a:stretch>
                  <a:fillRect l="-1152" t="-1346" r="-786" b="-20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81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F272CE-AA38-4E7F-ADFB-EFCC026D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722" y="282988"/>
            <a:ext cx="2237426" cy="1786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432731-2983-4540-9919-E9381AA9D6B0}"/>
              </a:ext>
            </a:extLst>
          </p:cNvPr>
          <p:cNvSpPr txBox="1"/>
          <p:nvPr/>
        </p:nvSpPr>
        <p:spPr>
          <a:xfrm>
            <a:off x="318052" y="282988"/>
            <a:ext cx="689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Une particule du gaz quand elle frappe la paroi (S), elle lui communique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5F3D8A-E367-4113-87C3-B8C7AEA1ECCC}"/>
                  </a:ext>
                </a:extLst>
              </p:cNvPr>
              <p:cNvSpPr txBox="1"/>
              <p:nvPr/>
            </p:nvSpPr>
            <p:spPr>
              <a:xfrm>
                <a:off x="1252330" y="806797"/>
                <a:ext cx="18891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⃗"/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5F3D8A-E367-4113-87C3-B8C7AEA1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330" y="806797"/>
                <a:ext cx="1889107" cy="369332"/>
              </a:xfrm>
              <a:prstGeom prst="rect">
                <a:avLst/>
              </a:prstGeom>
              <a:blipFill>
                <a:blip r:embed="rId3"/>
                <a:stretch>
                  <a:fillRect l="-3226" t="-36066" r="-323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D69A77-63E0-4555-8C65-3C38DF34364D}"/>
                  </a:ext>
                </a:extLst>
              </p:cNvPr>
              <p:cNvSpPr txBox="1"/>
              <p:nvPr/>
            </p:nvSpPr>
            <p:spPr>
              <a:xfrm>
                <a:off x="318052" y="1444487"/>
                <a:ext cx="7021794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𝓚</m:t>
                    </m:r>
                  </m:oMath>
                </a14:m>
                <a:r>
                  <a:rPr lang="fr-FR" dirty="0"/>
                  <a:t> le nombre de particules qui frappent la surface  par unité de temps.</a:t>
                </a:r>
              </a:p>
              <a:p>
                <a:endParaRPr lang="fr-FR" dirty="0"/>
              </a:p>
              <a:p>
                <a:r>
                  <a:rPr lang="fr-FR" dirty="0"/>
                  <a:t>Alors la force exercée par le gaz sur la paroi est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D69A77-63E0-4555-8C65-3C38DF343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52" y="1444487"/>
                <a:ext cx="7021794" cy="946991"/>
              </a:xfrm>
              <a:prstGeom prst="rect">
                <a:avLst/>
              </a:prstGeom>
              <a:blipFill>
                <a:blip r:embed="rId4"/>
                <a:stretch>
                  <a:fillRect l="-694" t="-1290" r="-87" b="-96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0F5712-02BC-4A3F-8BFE-5004C3A56BAA}"/>
                  </a:ext>
                </a:extLst>
              </p:cNvPr>
              <p:cNvSpPr txBox="1"/>
              <p:nvPr/>
            </p:nvSpPr>
            <p:spPr>
              <a:xfrm>
                <a:off x="2087217" y="2452792"/>
                <a:ext cx="3145412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⃗"/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0F5712-02BC-4A3F-8BFE-5004C3A56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217" y="2452792"/>
                <a:ext cx="3145412" cy="414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AFCF0D-3DD1-4973-A21C-83151B87A9AB}"/>
                  </a:ext>
                </a:extLst>
              </p:cNvPr>
              <p:cNvSpPr txBox="1"/>
              <p:nvPr/>
            </p:nvSpPr>
            <p:spPr>
              <a:xfrm>
                <a:off x="840584" y="3253029"/>
                <a:ext cx="9098546" cy="676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𝓚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𝒏𝒐𝒎𝒃𝒓𝒆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𝒅𝒆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𝒑𝒂𝒓𝒕𝒊𝒄𝒖𝒍𝒆𝒔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𝒂𝒓𝒓𝒊𝒗𝒂𝒏𝒕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𝒔𝒖𝒓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𝑺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𝒆𝒏𝒕𝒓𝒆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𝒕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𝒆𝒕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𝒕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𝒅𝒕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𝒅𝒕</m:t>
                          </m:r>
                        </m:den>
                      </m:f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e>
                        <m:sup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𝑺</m:t>
                      </m:r>
                      <m:r>
                        <a:rPr lang="fr-FR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fr-FR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AFCF0D-3DD1-4973-A21C-83151B87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84" y="3253029"/>
                <a:ext cx="9098546" cy="676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C8DE7A-E07F-410F-BF24-9DDD799AC7C7}"/>
                  </a:ext>
                </a:extLst>
              </p:cNvPr>
              <p:cNvSpPr txBox="1"/>
              <p:nvPr/>
            </p:nvSpPr>
            <p:spPr>
              <a:xfrm>
                <a:off x="606340" y="4302062"/>
                <a:ext cx="1023678" cy="690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C8DE7A-E07F-410F-BF24-9DDD799AC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40" y="4302062"/>
                <a:ext cx="1023678" cy="6901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EEE60A-C96E-4610-962C-2C2D02491397}"/>
                  </a:ext>
                </a:extLst>
              </p:cNvPr>
              <p:cNvSpPr txBox="1"/>
              <p:nvPr/>
            </p:nvSpPr>
            <p:spPr>
              <a:xfrm>
                <a:off x="3828949" y="4377409"/>
                <a:ext cx="2334742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EEE60A-C96E-4610-962C-2C2D02491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949" y="4377409"/>
                <a:ext cx="2334742" cy="4140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6382CA-10D9-4CCC-8E43-72AAF054409A}"/>
                  </a:ext>
                </a:extLst>
              </p:cNvPr>
              <p:cNvSpPr txBox="1"/>
              <p:nvPr/>
            </p:nvSpPr>
            <p:spPr>
              <a:xfrm>
                <a:off x="1110385" y="5840530"/>
                <a:ext cx="3030958" cy="690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fr-FR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fr-FR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6382CA-10D9-4CCC-8E43-72AAF0544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85" y="5840530"/>
                <a:ext cx="3030958" cy="6901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D1F6BD0-C175-49F9-94E2-FE6E4A3D9C00}"/>
              </a:ext>
            </a:extLst>
          </p:cNvPr>
          <p:cNvSpPr txBox="1"/>
          <p:nvPr/>
        </p:nvSpPr>
        <p:spPr>
          <a:xfrm>
            <a:off x="4390769" y="5985536"/>
            <a:ext cx="1998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On identifie avec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D0272-2F16-48FE-BC67-9D0243726C46}"/>
                  </a:ext>
                </a:extLst>
              </p:cNvPr>
              <p:cNvSpPr txBox="1"/>
              <p:nvPr/>
            </p:nvSpPr>
            <p:spPr>
              <a:xfrm>
                <a:off x="7194840" y="5932381"/>
                <a:ext cx="1711638" cy="506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𝑭</m:t>
                          </m:r>
                        </m:e>
                      </m:acc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𝑷𝑺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D0272-2F16-48FE-BC67-9D024372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840" y="5932381"/>
                <a:ext cx="1711638" cy="5064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B51CB54-110D-43A0-9348-4D8B5F628CF9}"/>
              </a:ext>
            </a:extLst>
          </p:cNvPr>
          <p:cNvSpPr txBox="1"/>
          <p:nvPr/>
        </p:nvSpPr>
        <p:spPr>
          <a:xfrm>
            <a:off x="339772" y="5413513"/>
            <a:ext cx="185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 force moyenne</a:t>
            </a:r>
          </a:p>
        </p:txBody>
      </p:sp>
    </p:spTree>
    <p:extLst>
      <p:ext uri="{BB962C8B-B14F-4D97-AF65-F5344CB8AC3E}">
        <p14:creationId xmlns:p14="http://schemas.microsoft.com/office/powerpoint/2010/main" val="29898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2FAC1-5799-4E54-8FD3-6DB8E4C4AF8F}"/>
                  </a:ext>
                </a:extLst>
              </p:cNvPr>
              <p:cNvSpPr txBox="1"/>
              <p:nvPr/>
            </p:nvSpPr>
            <p:spPr>
              <a:xfrm>
                <a:off x="1020416" y="246246"/>
                <a:ext cx="2663687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fr-FR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2FAC1-5799-4E54-8FD3-6DB8E4C4A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16" y="246246"/>
                <a:ext cx="2663687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218D6A2-BEAC-469D-8987-2EDB5BFF969A}"/>
              </a:ext>
            </a:extLst>
          </p:cNvPr>
          <p:cNvSpPr txBox="1"/>
          <p:nvPr/>
        </p:nvSpPr>
        <p:spPr>
          <a:xfrm>
            <a:off x="784623" y="1961321"/>
            <a:ext cx="2710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L’isotropie entraine que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5C774-CABE-49D6-91A3-51EC2EC737A8}"/>
                  </a:ext>
                </a:extLst>
              </p:cNvPr>
              <p:cNvSpPr txBox="1"/>
              <p:nvPr/>
            </p:nvSpPr>
            <p:spPr>
              <a:xfrm>
                <a:off x="2189354" y="1226632"/>
                <a:ext cx="3906646" cy="350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 =&lt;</m:t>
                      </m:r>
                      <m:sSubSup>
                        <m:sSub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&gt;+&lt;</m:t>
                      </m:r>
                      <m:sSubSup>
                        <m:sSubSup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&gt;+&lt;</m:t>
                      </m:r>
                      <m:sSubSup>
                        <m:sSubSup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  <m:sup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55C774-CABE-49D6-91A3-51EC2EC73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354" y="1226632"/>
                <a:ext cx="3906646" cy="350032"/>
              </a:xfrm>
              <a:prstGeom prst="rect">
                <a:avLst/>
              </a:prstGeom>
              <a:blipFill>
                <a:blip r:embed="rId3"/>
                <a:stretch>
                  <a:fillRect l="-780" r="-780" b="-206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2158078-F097-4B0E-B8F0-48FE08F4A47A}"/>
              </a:ext>
            </a:extLst>
          </p:cNvPr>
          <p:cNvSpPr txBox="1"/>
          <p:nvPr/>
        </p:nvSpPr>
        <p:spPr>
          <a:xfrm>
            <a:off x="848139" y="1201593"/>
            <a:ext cx="994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Comme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7B2E1E-BA1B-416F-A398-EE9A4031A6DA}"/>
                  </a:ext>
                </a:extLst>
              </p:cNvPr>
              <p:cNvSpPr txBox="1"/>
              <p:nvPr/>
            </p:nvSpPr>
            <p:spPr>
              <a:xfrm>
                <a:off x="3495365" y="1961321"/>
                <a:ext cx="3313043" cy="442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&gt; =&lt;</m:t>
                      </m:r>
                      <m:sSubSup>
                        <m:sSubSupPr>
                          <m:ctrlP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  <m:sup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&gt; =&lt;</m:t>
                      </m:r>
                      <m:sSubSup>
                        <m:sSubSupPr>
                          <m:ctrlP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  <m:sup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7B2E1E-BA1B-416F-A398-EE9A4031A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365" y="1961321"/>
                <a:ext cx="3313043" cy="442365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DC6AF1C2-A757-4256-A96B-E52427E4AD29}"/>
              </a:ext>
            </a:extLst>
          </p:cNvPr>
          <p:cNvSpPr/>
          <p:nvPr/>
        </p:nvSpPr>
        <p:spPr>
          <a:xfrm>
            <a:off x="6970643" y="2082475"/>
            <a:ext cx="861392" cy="2000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5F3F24-AC66-40F4-89C5-CC6DC229B5DC}"/>
                  </a:ext>
                </a:extLst>
              </p:cNvPr>
              <p:cNvSpPr txBox="1"/>
              <p:nvPr/>
            </p:nvSpPr>
            <p:spPr>
              <a:xfrm>
                <a:off x="7832035" y="1937039"/>
                <a:ext cx="271074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&gt; =</m:t>
                      </m:r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Sup>
                        <m:sSubSupPr>
                          <m:ctrlPr>
                            <a:rPr lang="fr-FR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>
                          <m:r>
                            <a:rPr lang="fr-FR" sz="20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FR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5F3F24-AC66-40F4-89C5-CC6DC229B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35" y="1937039"/>
                <a:ext cx="2710742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A54305-7FAD-46BF-902A-36C279ACA987}"/>
                  </a:ext>
                </a:extLst>
              </p:cNvPr>
              <p:cNvSpPr txBox="1"/>
              <p:nvPr/>
            </p:nvSpPr>
            <p:spPr>
              <a:xfrm>
                <a:off x="1225824" y="2645196"/>
                <a:ext cx="2663687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A54305-7FAD-46BF-902A-36C279AC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24" y="2645196"/>
                <a:ext cx="2663687" cy="7837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B4063-653F-4022-9D31-6588538E1931}"/>
                  </a:ext>
                </a:extLst>
              </p:cNvPr>
              <p:cNvSpPr txBox="1"/>
              <p:nvPr/>
            </p:nvSpPr>
            <p:spPr>
              <a:xfrm>
                <a:off x="4161183" y="2788343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𝑵</m:t>
                    </m:r>
                  </m:oMath>
                </a14:m>
                <a:r>
                  <a:rPr lang="fr-FR" dirty="0"/>
                  <a:t> le nombre de particules contenues dans le volume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6B4063-653F-4022-9D31-6588538E1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183" y="2788343"/>
                <a:ext cx="6096000" cy="461665"/>
              </a:xfrm>
              <a:prstGeom prst="rect">
                <a:avLst/>
              </a:prstGeom>
              <a:blipFill>
                <a:blip r:embed="rId7"/>
                <a:stretch>
                  <a:fillRect l="-300"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0629-088E-4795-9E1B-7A6EDE6AFD5F}"/>
                  </a:ext>
                </a:extLst>
              </p:cNvPr>
              <p:cNvSpPr txBox="1"/>
              <p:nvPr/>
            </p:nvSpPr>
            <p:spPr>
              <a:xfrm>
                <a:off x="4161182" y="3201481"/>
                <a:ext cx="49828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𝒎</m:t>
                    </m:r>
                  </m:oMath>
                </a14:m>
                <a:r>
                  <a:rPr lang="fr-FR" dirty="0"/>
                  <a:t> la masse d’une molécule du gaz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0629-088E-4795-9E1B-7A6EDE6A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182" y="3201481"/>
                <a:ext cx="4982817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FBD8B-85D6-45A3-9CA0-2030A8A7CB03}"/>
                  </a:ext>
                </a:extLst>
              </p:cNvPr>
              <p:cNvSpPr txBox="1"/>
              <p:nvPr/>
            </p:nvSpPr>
            <p:spPr>
              <a:xfrm>
                <a:off x="4061791" y="3812803"/>
                <a:ext cx="5817704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&lt;</m:t>
                    </m:r>
                    <m:sSup>
                      <m:sSupPr>
                        <m:ctrlP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𝒗</m:t>
                        </m:r>
                      </m:e>
                      <m:sup>
                        <m:r>
                          <a:rPr kumimoji="0" lang="fr-FR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0" lang="fr-FR" sz="2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</m:t>
                    </m:r>
                  </m:oMath>
                </a14:m>
                <a:r>
                  <a:rPr lang="fr-FR" dirty="0"/>
                  <a:t> la vitesse quadratique moyenne des particules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0FBD8B-85D6-45A3-9CA0-2030A8A7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791" y="3812803"/>
                <a:ext cx="5817704" cy="47000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3CD361-BE0F-4040-B062-1B1B3DCE289D}"/>
                  </a:ext>
                </a:extLst>
              </p:cNvPr>
              <p:cNvSpPr txBox="1"/>
              <p:nvPr/>
            </p:nvSpPr>
            <p:spPr>
              <a:xfrm>
                <a:off x="3495365" y="5403041"/>
                <a:ext cx="2663687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3CD361-BE0F-4040-B062-1B1B3DCE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365" y="5403041"/>
                <a:ext cx="2663687" cy="7837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C18E7A8-F8A1-4835-BB08-247D91ED9E7E}"/>
              </a:ext>
            </a:extLst>
          </p:cNvPr>
          <p:cNvSpPr txBox="1"/>
          <p:nvPr/>
        </p:nvSpPr>
        <p:spPr>
          <a:xfrm>
            <a:off x="531605" y="4642867"/>
            <a:ext cx="6560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Soit l’équation d’état du gaz à partir des lois de la mécanique :</a:t>
            </a:r>
          </a:p>
        </p:txBody>
      </p:sp>
    </p:spTree>
    <p:extLst>
      <p:ext uri="{BB962C8B-B14F-4D97-AF65-F5344CB8AC3E}">
        <p14:creationId xmlns:p14="http://schemas.microsoft.com/office/powerpoint/2010/main" val="1632248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73BA-E420-4A6B-B6D6-84E32495EA4F}"/>
              </a:ext>
            </a:extLst>
          </p:cNvPr>
          <p:cNvSpPr txBox="1"/>
          <p:nvPr/>
        </p:nvSpPr>
        <p:spPr>
          <a:xfrm>
            <a:off x="463826" y="384313"/>
            <a:ext cx="8155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/>
              <a:t>En comparant à l’équation d’état obtenue par une étude macroscopique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B460F5-56DA-4955-8E17-C21590E28DAE}"/>
                  </a:ext>
                </a:extLst>
              </p:cNvPr>
              <p:cNvSpPr txBox="1"/>
              <p:nvPr/>
            </p:nvSpPr>
            <p:spPr>
              <a:xfrm>
                <a:off x="2918349" y="1741122"/>
                <a:ext cx="2663687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B460F5-56DA-4955-8E17-C21590E28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349" y="1741122"/>
                <a:ext cx="2663687" cy="7837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DB9C45-C732-4921-B7A7-D34058EFDAA5}"/>
                  </a:ext>
                </a:extLst>
              </p:cNvPr>
              <p:cNvSpPr txBox="1"/>
              <p:nvPr/>
            </p:nvSpPr>
            <p:spPr>
              <a:xfrm>
                <a:off x="5294243" y="689862"/>
                <a:ext cx="4208442" cy="844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𝑹𝑻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𝑵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DB9C45-C732-4921-B7A7-D34058EFD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243" y="689862"/>
                <a:ext cx="4208442" cy="844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C610520-3C59-4171-8A35-B8061FE4DB6E}"/>
              </a:ext>
            </a:extLst>
          </p:cNvPr>
          <p:cNvSpPr txBox="1"/>
          <p:nvPr/>
        </p:nvSpPr>
        <p:spPr>
          <a:xfrm>
            <a:off x="463826" y="2008911"/>
            <a:ext cx="2167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En identifiant à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9EEA43-8F8A-4BC9-98B9-919FE616C4DD}"/>
                  </a:ext>
                </a:extLst>
              </p:cNvPr>
              <p:cNvSpPr txBox="1"/>
              <p:nvPr/>
            </p:nvSpPr>
            <p:spPr>
              <a:xfrm>
                <a:off x="4734777" y="2860742"/>
                <a:ext cx="2663687" cy="7813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9EEA43-8F8A-4BC9-98B9-919FE616C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777" y="2860742"/>
                <a:ext cx="2663687" cy="781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A2F69AA-783C-4505-9DF1-5EEC4643AFF3}"/>
              </a:ext>
            </a:extLst>
          </p:cNvPr>
          <p:cNvSpPr txBox="1"/>
          <p:nvPr/>
        </p:nvSpPr>
        <p:spPr>
          <a:xfrm>
            <a:off x="463826" y="4062122"/>
            <a:ext cx="8194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La température a donc une interprétation cinétique (agitation thermique)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794C21-E5E0-4A16-99B1-B12E9B7E472A}"/>
                  </a:ext>
                </a:extLst>
              </p:cNvPr>
              <p:cNvSpPr txBox="1"/>
              <p:nvPr/>
            </p:nvSpPr>
            <p:spPr>
              <a:xfrm>
                <a:off x="5456143" y="4462232"/>
                <a:ext cx="4363718" cy="9033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794C21-E5E0-4A16-99B1-B12E9B7E4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143" y="4462232"/>
                <a:ext cx="4363718" cy="903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F47D62-9D5E-4626-81EA-F4760C5AF77A}"/>
              </a:ext>
            </a:extLst>
          </p:cNvPr>
          <p:cNvSpPr txBox="1"/>
          <p:nvPr/>
        </p:nvSpPr>
        <p:spPr>
          <a:xfrm>
            <a:off x="463826" y="5953577"/>
            <a:ext cx="9308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Pour un gaz parfait la vitesse quadratique ne dépend que de la température.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46199-9A49-40A2-A458-DC39E7C6CF78}"/>
              </a:ext>
            </a:extLst>
          </p:cNvPr>
          <p:cNvSpPr txBox="1"/>
          <p:nvPr/>
        </p:nvSpPr>
        <p:spPr>
          <a:xfrm>
            <a:off x="463826" y="3025412"/>
            <a:ext cx="3904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La vitesse quadratique moyenne</a:t>
            </a:r>
          </a:p>
        </p:txBody>
      </p:sp>
    </p:spTree>
    <p:extLst>
      <p:ext uri="{BB962C8B-B14F-4D97-AF65-F5344CB8AC3E}">
        <p14:creationId xmlns:p14="http://schemas.microsoft.com/office/powerpoint/2010/main" val="194436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EDBB35-1BEC-4537-B11D-8A170484614D}"/>
              </a:ext>
            </a:extLst>
          </p:cNvPr>
          <p:cNvSpPr txBox="1"/>
          <p:nvPr/>
        </p:nvSpPr>
        <p:spPr>
          <a:xfrm>
            <a:off x="583096" y="331304"/>
            <a:ext cx="461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L’énergie cinétique d’une particule est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B737B1-5938-41A5-8D57-0B5BEEC41D15}"/>
                  </a:ext>
                </a:extLst>
              </p:cNvPr>
              <p:cNvSpPr txBox="1"/>
              <p:nvPr/>
            </p:nvSpPr>
            <p:spPr>
              <a:xfrm>
                <a:off x="5254487" y="227878"/>
                <a:ext cx="137672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B737B1-5938-41A5-8D57-0B5BEEC41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487" y="227878"/>
                <a:ext cx="1376723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D66E208-6DE5-41D5-B5E7-AE51F40BB705}"/>
              </a:ext>
            </a:extLst>
          </p:cNvPr>
          <p:cNvSpPr txBox="1"/>
          <p:nvPr/>
        </p:nvSpPr>
        <p:spPr>
          <a:xfrm>
            <a:off x="583096" y="1530626"/>
            <a:ext cx="5644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L’énergie cinétique moyenne d’une particule est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81AAA-A274-421E-96E0-ED4B4547E5BB}"/>
                  </a:ext>
                </a:extLst>
              </p:cNvPr>
              <p:cNvSpPr txBox="1"/>
              <p:nvPr/>
            </p:nvSpPr>
            <p:spPr>
              <a:xfrm>
                <a:off x="6447183" y="1442589"/>
                <a:ext cx="248721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81AAA-A274-421E-96E0-ED4B4547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183" y="1442589"/>
                <a:ext cx="2487219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D5B7D-DFF9-488F-9709-BB66ECB76D00}"/>
                  </a:ext>
                </a:extLst>
              </p:cNvPr>
              <p:cNvSpPr txBox="1"/>
              <p:nvPr/>
            </p:nvSpPr>
            <p:spPr>
              <a:xfrm>
                <a:off x="3563968" y="2336859"/>
                <a:ext cx="2663687" cy="78617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D5B7D-DFF9-488F-9709-BB66ECB76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968" y="2336859"/>
                <a:ext cx="2663687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F038BF-1027-41E6-86F5-66F2E73155A0}"/>
                  </a:ext>
                </a:extLst>
              </p:cNvPr>
              <p:cNvSpPr txBox="1"/>
              <p:nvPr/>
            </p:nvSpPr>
            <p:spPr>
              <a:xfrm>
                <a:off x="801756" y="3584713"/>
                <a:ext cx="339445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𝟑𝟏𝟒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𝒎𝒐𝒍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F038BF-1027-41E6-86F5-66F2E7315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6" y="3584713"/>
                <a:ext cx="3394454" cy="377667"/>
              </a:xfrm>
              <a:prstGeom prst="rect">
                <a:avLst/>
              </a:prstGeom>
              <a:blipFill>
                <a:blip r:embed="rId5"/>
                <a:stretch>
                  <a:fillRect l="-1799" t="-1613" r="-719" b="-290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4F0BE4-63E4-4F6F-94AD-C9731888E58F}"/>
                  </a:ext>
                </a:extLst>
              </p:cNvPr>
              <p:cNvSpPr txBox="1"/>
              <p:nvPr/>
            </p:nvSpPr>
            <p:spPr>
              <a:xfrm>
                <a:off x="5897687" y="3492380"/>
                <a:ext cx="4196210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𝑲</m:t>
                          </m:r>
                        </m:e>
                        <m:sub>
                          <m:r>
                            <a:rPr kumimoji="0" lang="fr-FR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𝑩</m:t>
                          </m:r>
                        </m:sub>
                      </m:sSub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𝟑𝟖𝟎𝟔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𝟏𝟎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𝟐𝟑</m:t>
                          </m:r>
                        </m:sup>
                      </m:sSup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𝑱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sSup>
                        <m:sSupPr>
                          <m:ctrlP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𝑲</m:t>
                          </m:r>
                        </m:e>
                        <m:sup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fr-FR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4F0BE4-63E4-4F6F-94AD-C9731888E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687" y="3492380"/>
                <a:ext cx="4196210" cy="470000"/>
              </a:xfrm>
              <a:prstGeom prst="rect">
                <a:avLst/>
              </a:prstGeom>
              <a:blipFill>
                <a:blip r:embed="rId6"/>
                <a:stretch>
                  <a:fillRect b="-129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1D1DDF-0B29-4950-B4D4-5744A5B2917C}"/>
                  </a:ext>
                </a:extLst>
              </p:cNvPr>
              <p:cNvSpPr txBox="1"/>
              <p:nvPr/>
            </p:nvSpPr>
            <p:spPr>
              <a:xfrm>
                <a:off x="801756" y="4392260"/>
                <a:ext cx="336874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𝟎𝟐𝟐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p>
                      </m:sSup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𝒎𝒐𝒍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1D1DDF-0B29-4950-B4D4-5744A5B29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6" y="4392260"/>
                <a:ext cx="3368743" cy="377667"/>
              </a:xfrm>
              <a:prstGeom prst="rect">
                <a:avLst/>
              </a:prstGeom>
              <a:blipFill>
                <a:blip r:embed="rId7"/>
                <a:stretch>
                  <a:fillRect l="-1812" t="-1639" r="-725" b="-180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24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3">
            <a:extLst>
              <a:ext uri="{FF2B5EF4-FFF2-40B4-BE49-F238E27FC236}">
                <a16:creationId xmlns:a16="http://schemas.microsoft.com/office/drawing/2014/main" id="{B5E922CA-DB8A-4764-8C17-C5D59E5D2687}"/>
              </a:ext>
            </a:extLst>
          </p:cNvPr>
          <p:cNvSpPr txBox="1"/>
          <p:nvPr/>
        </p:nvSpPr>
        <p:spPr>
          <a:xfrm>
            <a:off x="554917" y="167644"/>
            <a:ext cx="4259884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5. Energie interne d’un GPM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30371-BB15-48CE-A14D-3C6FFECFE2B8}"/>
              </a:ext>
            </a:extLst>
          </p:cNvPr>
          <p:cNvSpPr txBox="1"/>
          <p:nvPr/>
        </p:nvSpPr>
        <p:spPr>
          <a:xfrm>
            <a:off x="554917" y="914401"/>
            <a:ext cx="892423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L’énergie interne d’un gaz parfait est son </a:t>
            </a:r>
            <a:r>
              <a:rPr lang="fr-FR" sz="2000" b="1" i="1" u="sng" dirty="0"/>
              <a:t>énergie microscopique</a:t>
            </a:r>
            <a:r>
              <a:rPr lang="fr-FR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Les particules sont sans interaction, donc cette énergie est sous forme cinétique.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Pour un gaz parfait monoatomique, on prend l’énergie interne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68A78D-501E-414E-80A1-59917587D622}"/>
                  </a:ext>
                </a:extLst>
              </p:cNvPr>
              <p:cNvSpPr txBox="1"/>
              <p:nvPr/>
            </p:nvSpPr>
            <p:spPr>
              <a:xfrm>
                <a:off x="3412434" y="2707599"/>
                <a:ext cx="4270336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fr-FR" sz="2000" b="1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𝑵</m:t>
                      </m:r>
                      <m:sSub>
                        <m:sSub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𝒏𝑹</m:t>
                      </m:r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68A78D-501E-414E-80A1-59917587D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4" y="2707599"/>
                <a:ext cx="4270336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384C1E-5B80-4C3C-A87F-47AE48AA823D}"/>
                  </a:ext>
                </a:extLst>
              </p:cNvPr>
              <p:cNvSpPr txBox="1"/>
              <p:nvPr/>
            </p:nvSpPr>
            <p:spPr>
              <a:xfrm>
                <a:off x="554917" y="3534661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kumimoji="0" lang="fr-FR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𝑼</m:t>
                    </m:r>
                    <m:d>
                      <m:dPr>
                        <m:ctrlPr>
                          <a:rPr kumimoji="0" lang="fr-FR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fr-FR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𝑻</m:t>
                        </m:r>
                      </m:e>
                    </m:d>
                  </m:oMath>
                </a14:m>
                <a:r>
                  <a:rPr lang="fr-FR" dirty="0"/>
                  <a:t> est une fonction d’état qui ne dépend que de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384C1E-5B80-4C3C-A87F-47AE48AA8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17" y="3534661"/>
                <a:ext cx="6096000" cy="400110"/>
              </a:xfrm>
              <a:prstGeom prst="rect">
                <a:avLst/>
              </a:prstGeom>
              <a:blipFill>
                <a:blip r:embed="rId3"/>
                <a:stretch>
                  <a:fillRect l="-900" t="-6154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1A3D441-F4B7-4426-9A7A-1263EE5ED268}"/>
              </a:ext>
            </a:extLst>
          </p:cNvPr>
          <p:cNvSpPr txBox="1"/>
          <p:nvPr/>
        </p:nvSpPr>
        <p:spPr>
          <a:xfrm>
            <a:off x="554917" y="4569872"/>
            <a:ext cx="10510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Les particules sont considérées comme ponctuelles. Le chiffre </a:t>
            </a:r>
            <a:r>
              <a:rPr lang="fr-FR" sz="2400" b="1" dirty="0"/>
              <a:t>3</a:t>
            </a:r>
            <a:r>
              <a:rPr lang="fr-FR" sz="2000" dirty="0"/>
              <a:t> signifie le nombre de degré de liberté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DC8925-5A1B-4F42-A5CB-996766CE4FC7}"/>
                  </a:ext>
                </a:extLst>
              </p:cNvPr>
              <p:cNvSpPr txBox="1"/>
              <p:nvPr/>
            </p:nvSpPr>
            <p:spPr>
              <a:xfrm>
                <a:off x="554917" y="5552792"/>
                <a:ext cx="10787269" cy="843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Equipartition de l’énergie thermique par rapport aux degrés de liberté.  A chaque degré de liberté de mouvement correspond une énergie cinétique moyenne égale à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fr-FR" sz="20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fr-FR" sz="20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DC8925-5A1B-4F42-A5CB-996766CE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17" y="5552792"/>
                <a:ext cx="10787269" cy="843244"/>
              </a:xfrm>
              <a:prstGeom prst="rect">
                <a:avLst/>
              </a:prstGeom>
              <a:blipFill>
                <a:blip r:embed="rId4"/>
                <a:stretch>
                  <a:fillRect l="-508" t="-4348" b="-50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934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ZoneTexte 5"/>
          <p:cNvSpPr txBox="1"/>
          <p:nvPr/>
        </p:nvSpPr>
        <p:spPr>
          <a:xfrm>
            <a:off x="554917" y="245007"/>
            <a:ext cx="2824479" cy="5105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6. Généralisation</a:t>
            </a:r>
          </a:p>
        </p:txBody>
      </p:sp>
      <p:sp>
        <p:nvSpPr>
          <p:cNvPr id="1048618" name="ZoneTexte 6"/>
          <p:cNvSpPr txBox="1"/>
          <p:nvPr/>
        </p:nvSpPr>
        <p:spPr>
          <a:xfrm>
            <a:off x="554917" y="918386"/>
            <a:ext cx="3106876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6.1 Gaz parfait </a:t>
            </a:r>
            <a:r>
              <a:rPr lang="fr-MA" sz="2400" dirty="0" err="1">
                <a:latin typeface="AR BLANCA" panose="02000000000000000000" pitchFamily="2" charset="0"/>
              </a:rPr>
              <a:t>polyatomique</a:t>
            </a:r>
            <a:endParaRPr lang="fr-MA" sz="2400" dirty="0">
              <a:latin typeface="AR BLANCA" panose="02000000000000000000" pitchFamily="2" charset="0"/>
            </a:endParaRPr>
          </a:p>
        </p:txBody>
      </p:sp>
      <p:pic>
        <p:nvPicPr>
          <p:cNvPr id="2097171" name="Picture 2" descr="Résultat de recherche d'images pour &quot;degrés de libertés du mouvement d'une molécule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42302" y="245007"/>
            <a:ext cx="6294781" cy="189061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5FAD77-A5D5-469F-BD72-FC58AE77FC82}"/>
              </a:ext>
            </a:extLst>
          </p:cNvPr>
          <p:cNvSpPr txBox="1"/>
          <p:nvPr/>
        </p:nvSpPr>
        <p:spPr>
          <a:xfrm>
            <a:off x="554917" y="2270159"/>
            <a:ext cx="50758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Molécules considérées comme ponctuelles.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On peut considérer qu’on a toujours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14BBF6-03E2-41F1-89B7-5C20EDCE979D}"/>
                  </a:ext>
                </a:extLst>
              </p:cNvPr>
              <p:cNvSpPr txBox="1"/>
              <p:nvPr/>
            </p:nvSpPr>
            <p:spPr>
              <a:xfrm>
                <a:off x="5104957" y="2711170"/>
                <a:ext cx="2663687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fr-FR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14BBF6-03E2-41F1-89B7-5C20EDCE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957" y="2711170"/>
                <a:ext cx="2663687" cy="7837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D75A8E-54DC-4AF0-BC36-CCDF7E07187D}"/>
              </a:ext>
            </a:extLst>
          </p:cNvPr>
          <p:cNvSpPr txBox="1"/>
          <p:nvPr/>
        </p:nvSpPr>
        <p:spPr>
          <a:xfrm>
            <a:off x="8113883" y="2916490"/>
            <a:ext cx="375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2251AE-4506-4AD8-BD00-8B50D22CDB40}"/>
                  </a:ext>
                </a:extLst>
              </p:cNvPr>
              <p:cNvSpPr txBox="1"/>
              <p:nvPr/>
            </p:nvSpPr>
            <p:spPr>
              <a:xfrm>
                <a:off x="8489692" y="2870323"/>
                <a:ext cx="26636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fr-FR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2251AE-4506-4AD8-BD00-8B50D22CD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692" y="2870323"/>
                <a:ext cx="266368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D7A4311-D79A-4495-9891-57502DE51169}"/>
              </a:ext>
            </a:extLst>
          </p:cNvPr>
          <p:cNvSpPr txBox="1"/>
          <p:nvPr/>
        </p:nvSpPr>
        <p:spPr>
          <a:xfrm>
            <a:off x="554917" y="3726833"/>
            <a:ext cx="894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Comme le gaz est polyatomique, le nombre de degré de liberté est supérieur à 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D27F61-C101-4226-B5FC-8EAED24254A4}"/>
                  </a:ext>
                </a:extLst>
              </p:cNvPr>
              <p:cNvSpPr txBox="1"/>
              <p:nvPr/>
            </p:nvSpPr>
            <p:spPr>
              <a:xfrm>
                <a:off x="3977457" y="4135625"/>
                <a:ext cx="165327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𝒏𝑹</m:t>
                      </m:r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D27F61-C101-4226-B5FC-8EAED242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457" y="4135625"/>
                <a:ext cx="1653273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AA4D3F4-918A-4E7B-89FA-FAE04B41D0A0}"/>
              </a:ext>
            </a:extLst>
          </p:cNvPr>
          <p:cNvSpPr txBox="1"/>
          <p:nvPr/>
        </p:nvSpPr>
        <p:spPr>
          <a:xfrm>
            <a:off x="768626" y="5141843"/>
            <a:ext cx="4530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On admet que pour le gaz diatomique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93C96B-DCD2-4F64-A63D-772A83DCEE2F}"/>
                  </a:ext>
                </a:extLst>
              </p:cNvPr>
              <p:cNvSpPr txBox="1"/>
              <p:nvPr/>
            </p:nvSpPr>
            <p:spPr>
              <a:xfrm>
                <a:off x="5452331" y="5007640"/>
                <a:ext cx="1968937" cy="66851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𝑼</m:t>
                      </m:r>
                      <m:d>
                        <m:dPr>
                          <m:ctrlP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</m:d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𝟓</m:t>
                          </m:r>
                        </m:num>
                        <m:den>
                          <m:r>
                            <a:rPr kumimoji="0" lang="fr-FR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fr-FR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𝒏𝑹</m:t>
                      </m:r>
                      <m:r>
                        <a:rPr kumimoji="0" lang="fr-FR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𝑻</m:t>
                      </m:r>
                    </m:oMath>
                  </m:oMathPara>
                </a14:m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93C96B-DCD2-4F64-A63D-772A83DCE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331" y="5007640"/>
                <a:ext cx="1968937" cy="668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ZoneTexte 8"/>
          <p:cNvSpPr txBox="1"/>
          <p:nvPr/>
        </p:nvSpPr>
        <p:spPr>
          <a:xfrm>
            <a:off x="824247" y="287440"/>
            <a:ext cx="2650790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latin typeface="AR BLANCA" panose="02000000000000000000" pitchFamily="2" charset="0"/>
              </a:rPr>
              <a:t>6.2 Cas d’un fluide réel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10E42-18CE-4346-8E54-50F836B794B3}"/>
                  </a:ext>
                </a:extLst>
              </p:cNvPr>
              <p:cNvSpPr txBox="1"/>
              <p:nvPr/>
            </p:nvSpPr>
            <p:spPr>
              <a:xfrm>
                <a:off x="483469" y="1152939"/>
                <a:ext cx="11496496" cy="5245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Pour un fluide réel les interactions entre interviennent.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L’énergie interne contient un terme d’énergie potentielle interne en plus de l’énergie cinétique interne.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L’énergie interne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𝒎𝒊𝒄𝒓𝒐𝒔𝒄𝒐𝒑𝒊𝒒𝒖𝒆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𝒎𝒊𝒄𝒓𝒐𝒔𝒄𝒐𝒑𝒊𝒒𝒖𝒆</m:t>
                        </m:r>
                      </m:sub>
                    </m:sSub>
                  </m:oMath>
                </a14:m>
                <a:r>
                  <a:rPr lang="fr-FR" sz="20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L’énergie potentielle microscopique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𝒎𝒊𝒄𝒓𝒐𝒔𝒄𝒐𝒑𝒊𝒒𝒖𝒆</m:t>
                        </m:r>
                      </m:sub>
                    </m:sSub>
                  </m:oMath>
                </a14:m>
                <a:r>
                  <a:rPr lang="fr-FR" sz="2000" dirty="0"/>
                  <a:t> dépend de la distance entre les particules donc du volume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fr-FR" sz="20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Alors pour un fluide réel l’énergie interne </a:t>
                </a:r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est fonction de la température et du volume.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Remarque sur les termes que contient l’énergie interne.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10E42-18CE-4346-8E54-50F836B79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69" y="1152939"/>
                <a:ext cx="11496496" cy="5245218"/>
              </a:xfrm>
              <a:prstGeom prst="rect">
                <a:avLst/>
              </a:prstGeom>
              <a:blipFill>
                <a:blip r:embed="rId2"/>
                <a:stretch>
                  <a:fillRect l="-477" t="-581" b="-10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AF0DAF2-0BDA-4544-870A-DC7B22AAE558}"/>
              </a:ext>
            </a:extLst>
          </p:cNvPr>
          <p:cNvSpPr txBox="1"/>
          <p:nvPr/>
        </p:nvSpPr>
        <p:spPr>
          <a:xfrm>
            <a:off x="554540" y="230971"/>
            <a:ext cx="3587585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6.3 U est une fonction d’état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B019D-11D9-40F7-A7DA-9F6516C7471C}"/>
              </a:ext>
            </a:extLst>
          </p:cNvPr>
          <p:cNvSpPr txBox="1"/>
          <p:nvPr/>
        </p:nvSpPr>
        <p:spPr>
          <a:xfrm>
            <a:off x="554540" y="901148"/>
            <a:ext cx="113744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/>
              <a:t>Propriétés de U : </a:t>
            </a:r>
            <a:endParaRPr lang="fr-FR" sz="2400" dirty="0"/>
          </a:p>
          <a:p>
            <a:endParaRPr lang="fr-FR" sz="2400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U est une fonction d’état. Sa variation ne dépend pas de la nature de la transformation.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BA872-2B38-4763-8A14-A4AA3452C021}"/>
                  </a:ext>
                </a:extLst>
              </p:cNvPr>
              <p:cNvSpPr txBox="1"/>
              <p:nvPr/>
            </p:nvSpPr>
            <p:spPr>
              <a:xfrm>
                <a:off x="4142125" y="2283755"/>
                <a:ext cx="3008709" cy="404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𝒇𝒊𝒏𝒂𝒍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𝒊𝒏𝒊𝒕𝒊𝒂𝒍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BA872-2B38-4763-8A14-A4AA3452C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125" y="2283755"/>
                <a:ext cx="3008709" cy="404341"/>
              </a:xfrm>
              <a:prstGeom prst="rect">
                <a:avLst/>
              </a:prstGeom>
              <a:blipFill>
                <a:blip r:embed="rId2"/>
                <a:stretch>
                  <a:fillRect l="-1822" r="-810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649F36E-9DD3-4633-99AF-00E53398CAF9}"/>
              </a:ext>
            </a:extLst>
          </p:cNvPr>
          <p:cNvSpPr txBox="1"/>
          <p:nvPr/>
        </p:nvSpPr>
        <p:spPr>
          <a:xfrm>
            <a:off x="554540" y="2870374"/>
            <a:ext cx="476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Pour une transformation cyclique.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0FE4AA-92B7-481D-8220-75EFD39C611B}"/>
                  </a:ext>
                </a:extLst>
              </p:cNvPr>
              <p:cNvSpPr txBox="1"/>
              <p:nvPr/>
            </p:nvSpPr>
            <p:spPr>
              <a:xfrm>
                <a:off x="5646479" y="2927698"/>
                <a:ext cx="1556965" cy="4031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𝒄𝒚𝒄𝒍𝒆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0FE4AA-92B7-481D-8220-75EFD39C6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479" y="2927698"/>
                <a:ext cx="1556965" cy="403187"/>
              </a:xfrm>
              <a:prstGeom prst="rect">
                <a:avLst/>
              </a:prstGeom>
              <a:blipFill>
                <a:blip r:embed="rId3"/>
                <a:stretch>
                  <a:fillRect l="-3906" r="-4297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DD1F909-DC5E-4016-9AAE-F0A1C8F8DE06}"/>
              </a:ext>
            </a:extLst>
          </p:cNvPr>
          <p:cNvSpPr txBox="1"/>
          <p:nvPr/>
        </p:nvSpPr>
        <p:spPr>
          <a:xfrm>
            <a:off x="554540" y="3725949"/>
            <a:ext cx="10923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/>
              <a:t>Pour une transformation élémentaire entre deux états d’équilibre infiniment voisin. On note la variation élémentaire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6CB3BB-0B96-441A-B995-34C29D6DD0A5}"/>
                  </a:ext>
                </a:extLst>
              </p:cNvPr>
              <p:cNvSpPr txBox="1"/>
              <p:nvPr/>
            </p:nvSpPr>
            <p:spPr>
              <a:xfrm>
                <a:off x="5646479" y="4141447"/>
                <a:ext cx="492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𝒅𝑼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6CB3BB-0B96-441A-B995-34C29D6DD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479" y="4141447"/>
                <a:ext cx="492122" cy="369332"/>
              </a:xfrm>
              <a:prstGeom prst="rect">
                <a:avLst/>
              </a:prstGeom>
              <a:blipFill>
                <a:blip r:embed="rId4"/>
                <a:stretch>
                  <a:fillRect l="-14815" r="-14815" b="-81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E32846-1E21-4680-8485-4C1B3174053B}"/>
                  </a:ext>
                </a:extLst>
              </p:cNvPr>
              <p:cNvSpPr txBox="1"/>
              <p:nvPr/>
            </p:nvSpPr>
            <p:spPr>
              <a:xfrm>
                <a:off x="4094195" y="4748938"/>
                <a:ext cx="2147575" cy="845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𝒊𝒏𝒊𝒕𝒊𝒂𝒍</m:t>
                          </m:r>
                        </m:sub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𝒇𝒊𝒏𝒂𝒍</m:t>
                          </m:r>
                        </m:sup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𝒅𝑼</m:t>
                          </m:r>
                        </m:e>
                      </m:nary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E32846-1E21-4680-8485-4C1B31740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195" y="4748938"/>
                <a:ext cx="2147575" cy="8452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B290D-B514-40AA-A393-12356A77AFDA}"/>
                  </a:ext>
                </a:extLst>
              </p:cNvPr>
              <p:cNvSpPr txBox="1"/>
              <p:nvPr/>
            </p:nvSpPr>
            <p:spPr>
              <a:xfrm>
                <a:off x="554540" y="5786226"/>
                <a:ext cx="11141591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400" dirty="0"/>
                  <a:t>L’énergie interne est additive ou extensive. Pour deux système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400" dirty="0"/>
                  <a:t> 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400" dirty="0"/>
                  <a:t> l’énergie interne du système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2400" dirty="0"/>
                  <a:t> est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l-G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sSub>
                          <m:sSub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sSub>
                          <m:sSub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endParaRPr lang="fr-FR" sz="24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B290D-B514-40AA-A393-12356A77A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40" y="5786226"/>
                <a:ext cx="11141591" cy="862737"/>
              </a:xfrm>
              <a:prstGeom prst="rect">
                <a:avLst/>
              </a:prstGeom>
              <a:blipFill>
                <a:blip r:embed="rId6"/>
                <a:stretch>
                  <a:fillRect l="-766" t="-5634" b="-119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839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5">
            <a:extLst>
              <a:ext uri="{FF2B5EF4-FFF2-40B4-BE49-F238E27FC236}">
                <a16:creationId xmlns:a16="http://schemas.microsoft.com/office/drawing/2014/main" id="{052C5EFD-751E-4540-B24C-6AFDC83F8EC1}"/>
              </a:ext>
            </a:extLst>
          </p:cNvPr>
          <p:cNvSpPr txBox="1"/>
          <p:nvPr/>
        </p:nvSpPr>
        <p:spPr>
          <a:xfrm>
            <a:off x="283520" y="164662"/>
            <a:ext cx="5588389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7. Capacité thermique à volume constant</a:t>
            </a: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DEA0D481-27B7-446F-A616-BD79DB2C17FD}"/>
              </a:ext>
            </a:extLst>
          </p:cNvPr>
          <p:cNvSpPr txBox="1"/>
          <p:nvPr/>
        </p:nvSpPr>
        <p:spPr>
          <a:xfrm>
            <a:off x="283520" y="850824"/>
            <a:ext cx="1568827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7.1 Définition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E5E22F-1DD5-4669-BB1A-3BD05C579BAE}"/>
                  </a:ext>
                </a:extLst>
              </p:cNvPr>
              <p:cNvSpPr txBox="1"/>
              <p:nvPr/>
            </p:nvSpPr>
            <p:spPr>
              <a:xfrm>
                <a:off x="424070" y="1330682"/>
                <a:ext cx="5140061" cy="543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dirty="0"/>
                  <a:t>On a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, donc 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𝒅𝑼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fr-F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endParaRPr lang="fr-FR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E5E22F-1DD5-4669-BB1A-3BD05C57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70" y="1330682"/>
                <a:ext cx="5140061" cy="543547"/>
              </a:xfrm>
              <a:prstGeom prst="rect">
                <a:avLst/>
              </a:prstGeom>
              <a:blipFill>
                <a:blip r:embed="rId2"/>
                <a:stretch>
                  <a:fillRect l="-830" b="-33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9D76D2-115B-46EA-8F68-8414FC1D9DA8}"/>
                  </a:ext>
                </a:extLst>
              </p:cNvPr>
              <p:cNvSpPr txBox="1"/>
              <p:nvPr/>
            </p:nvSpPr>
            <p:spPr>
              <a:xfrm>
                <a:off x="424070" y="2066944"/>
                <a:ext cx="10032875" cy="543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dirty="0"/>
                  <a:t>On 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fr-FR" b="1" dirty="0"/>
                  <a:t> </a:t>
                </a:r>
                <a:r>
                  <a:rPr lang="fr-FR" dirty="0"/>
                  <a:t>qu’on appelle capacité calorifique ou thermique du système à volume constant.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9D76D2-115B-46EA-8F68-8414FC1D9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70" y="2066944"/>
                <a:ext cx="10032875" cy="543547"/>
              </a:xfrm>
              <a:prstGeom prst="rect">
                <a:avLst/>
              </a:prstGeom>
              <a:blipFill>
                <a:blip r:embed="rId3"/>
                <a:stretch>
                  <a:fillRect l="-426" b="-33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1F87F8-376A-45CA-9118-CE07D27F3D46}"/>
                  </a:ext>
                </a:extLst>
              </p:cNvPr>
              <p:cNvSpPr txBox="1"/>
              <p:nvPr/>
            </p:nvSpPr>
            <p:spPr>
              <a:xfrm>
                <a:off x="4639457" y="3160169"/>
                <a:ext cx="12324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1F87F8-376A-45CA-9118-CE07D27F3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457" y="3160169"/>
                <a:ext cx="1232452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4EF072-7E02-4258-AAA6-9804AF746E77}"/>
                  </a:ext>
                </a:extLst>
              </p:cNvPr>
              <p:cNvSpPr txBox="1"/>
              <p:nvPr/>
            </p:nvSpPr>
            <p:spPr>
              <a:xfrm>
                <a:off x="424070" y="2831403"/>
                <a:ext cx="111583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dirty="0"/>
                  <a:t>La capacité calorifique ou thermique du système à volume constant est aussi une variable extensive, elle dépend en général de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dirty="0"/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4EF072-7E02-4258-AAA6-9804AF746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70" y="2831403"/>
                <a:ext cx="11158330" cy="646331"/>
              </a:xfrm>
              <a:prstGeom prst="rect">
                <a:avLst/>
              </a:prstGeom>
              <a:blipFill>
                <a:blip r:embed="rId5"/>
                <a:stretch>
                  <a:fillRect l="-383" t="-4717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A3A5E3-6FA7-455A-96C0-B2CDDC1990D3}"/>
                  </a:ext>
                </a:extLst>
              </p:cNvPr>
              <p:cNvSpPr txBox="1"/>
              <p:nvPr/>
            </p:nvSpPr>
            <p:spPr>
              <a:xfrm>
                <a:off x="283520" y="3806500"/>
                <a:ext cx="12031778" cy="2277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dirty="0"/>
                  <a:t>Pour un corps homogène, on définit les grandeurs intensives suivantes 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fr-FR" dirty="0"/>
                  <a:t>Capacité thermique massique à volume constant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num>
                      <m:den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fr-FR" dirty="0"/>
                  <a:t> , où 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fr-FR" dirty="0"/>
                  <a:t> est la masse du système. </a:t>
                </a:r>
              </a:p>
              <a:p>
                <a:r>
                  <a:rPr lang="fr-FR" b="1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fr-FR" dirty="0"/>
                  <a:t> en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𝐾𝑔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fr-FR" dirty="0"/>
                  <a:t>Capacité thermique molaire à volume constant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num>
                      <m:den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fr-FR" dirty="0"/>
                  <a:t> , où 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fr-FR" dirty="0"/>
                  <a:t> est la masse du système. </a:t>
                </a:r>
              </a:p>
              <a:p>
                <a:r>
                  <a:rPr lang="fr-FR" b="1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fr-FR" dirty="0"/>
                  <a:t> en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A3A5E3-6FA7-455A-96C0-B2CDDC199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20" y="3806500"/>
                <a:ext cx="12031778" cy="2277547"/>
              </a:xfrm>
              <a:prstGeom prst="rect">
                <a:avLst/>
              </a:prstGeom>
              <a:blipFill>
                <a:blip r:embed="rId6"/>
                <a:stretch>
                  <a:fillRect l="-355" t="-1337" b="-347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86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02CC8-023F-4BB4-8D0E-5F80666738E0}"/>
              </a:ext>
            </a:extLst>
          </p:cNvPr>
          <p:cNvSpPr txBox="1"/>
          <p:nvPr/>
        </p:nvSpPr>
        <p:spPr>
          <a:xfrm>
            <a:off x="569843" y="291548"/>
            <a:ext cx="4159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Pour un gaz parfait monoatomique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5D438-B822-48BB-9266-05831A4B98F4}"/>
                  </a:ext>
                </a:extLst>
              </p:cNvPr>
              <p:cNvSpPr txBox="1"/>
              <p:nvPr/>
            </p:nvSpPr>
            <p:spPr>
              <a:xfrm>
                <a:off x="4861952" y="203511"/>
                <a:ext cx="165327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𝒏𝑹𝑻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5D438-B822-48BB-9266-05831A4B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952" y="203511"/>
                <a:ext cx="1653273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C618F7C-5DA5-47EF-92BA-584FF8A9F0FC}"/>
              </a:ext>
            </a:extLst>
          </p:cNvPr>
          <p:cNvSpPr txBox="1"/>
          <p:nvPr/>
        </p:nvSpPr>
        <p:spPr>
          <a:xfrm>
            <a:off x="715617" y="1113183"/>
            <a:ext cx="5835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La capacité thermique d’un gaz parfait monoatomique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1E16D1-4872-48C7-AD3E-C67A6F86815C}"/>
                  </a:ext>
                </a:extLst>
              </p:cNvPr>
              <p:cNvSpPr txBox="1"/>
              <p:nvPr/>
            </p:nvSpPr>
            <p:spPr>
              <a:xfrm>
                <a:off x="6551382" y="978980"/>
                <a:ext cx="1508966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𝒏𝑹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1E16D1-4872-48C7-AD3E-C67A6F868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382" y="978980"/>
                <a:ext cx="1508966" cy="668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3350D34-25F0-4E56-94EA-99BC2FC1F0C2}"/>
              </a:ext>
            </a:extLst>
          </p:cNvPr>
          <p:cNvSpPr txBox="1"/>
          <p:nvPr/>
        </p:nvSpPr>
        <p:spPr>
          <a:xfrm>
            <a:off x="715617" y="2339009"/>
            <a:ext cx="6632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La capacité thermique molaire d’un gaz parfait monoatomique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8B730F-AD59-437F-A35E-9275571C0F02}"/>
                  </a:ext>
                </a:extLst>
              </p:cNvPr>
              <p:cNvSpPr txBox="1"/>
              <p:nvPr/>
            </p:nvSpPr>
            <p:spPr>
              <a:xfrm>
                <a:off x="7404808" y="2138954"/>
                <a:ext cx="1508966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000" b="1" i="1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8B730F-AD59-437F-A35E-9275571C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808" y="2138954"/>
                <a:ext cx="1508966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46A2E86-CC40-4433-8887-D9536DA49C95}"/>
              </a:ext>
            </a:extLst>
          </p:cNvPr>
          <p:cNvSpPr txBox="1"/>
          <p:nvPr/>
        </p:nvSpPr>
        <p:spPr>
          <a:xfrm>
            <a:off x="772543" y="3364780"/>
            <a:ext cx="6880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La capacité thermique massique d’un gaz parfait monoatomique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FA1401-2DD4-4644-819B-F79CDAE718CE}"/>
                  </a:ext>
                </a:extLst>
              </p:cNvPr>
              <p:cNvSpPr txBox="1"/>
              <p:nvPr/>
            </p:nvSpPr>
            <p:spPr>
              <a:xfrm>
                <a:off x="7653466" y="3230577"/>
                <a:ext cx="1508966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den>
                      </m:f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FA1401-2DD4-4644-819B-F79CDAE71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466" y="3230577"/>
                <a:ext cx="1508966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188B2-9E5F-42E9-B803-35D3DC3D9ECF}"/>
                  </a:ext>
                </a:extLst>
              </p:cNvPr>
              <p:cNvSpPr txBox="1"/>
              <p:nvPr/>
            </p:nvSpPr>
            <p:spPr>
              <a:xfrm>
                <a:off x="4729443" y="395286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fr-FR" sz="1800" dirty="0"/>
                  <a:t>Où </a:t>
                </a:r>
                <a14:m>
                  <m:oMath xmlns:m="http://schemas.openxmlformats.org/officeDocument/2006/math">
                    <m:r>
                      <a:rPr lang="fr-FR" sz="18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fr-FR" dirty="0"/>
                  <a:t> la masse molaire du gaz.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8188B2-9E5F-42E9-B803-35D3DC3D9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443" y="3952868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8544F77-29B6-4445-9522-89EB26AAB657}"/>
              </a:ext>
            </a:extLst>
          </p:cNvPr>
          <p:cNvSpPr txBox="1"/>
          <p:nvPr/>
        </p:nvSpPr>
        <p:spPr>
          <a:xfrm>
            <a:off x="772543" y="458525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543589-5116-422E-8844-0384F294AD4C}"/>
                  </a:ext>
                </a:extLst>
              </p:cNvPr>
              <p:cNvSpPr txBox="1"/>
              <p:nvPr/>
            </p:nvSpPr>
            <p:spPr>
              <a:xfrm>
                <a:off x="2124533" y="4590702"/>
                <a:ext cx="1508966" cy="72776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543589-5116-422E-8844-0384F294A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533" y="4590702"/>
                <a:ext cx="1508966" cy="7277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8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2B4C116-24BC-4E33-B037-A3434397ABB1}"/>
              </a:ext>
            </a:extLst>
          </p:cNvPr>
          <p:cNvSpPr txBox="1"/>
          <p:nvPr/>
        </p:nvSpPr>
        <p:spPr>
          <a:xfrm>
            <a:off x="410816" y="132002"/>
            <a:ext cx="2396810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7.2 Cas des gaz réels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977AE-4E86-4E24-879F-F1BBE39929C6}"/>
              </a:ext>
            </a:extLst>
          </p:cNvPr>
          <p:cNvSpPr txBox="1"/>
          <p:nvPr/>
        </p:nvSpPr>
        <p:spPr>
          <a:xfrm>
            <a:off x="322660" y="615217"/>
            <a:ext cx="8759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/>
              <a:t>On considère le modèle dit de Van Der Waals. L’équation d’état est de la forme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3B876F-3A5C-458B-858C-D18CB672D296}"/>
                  </a:ext>
                </a:extLst>
              </p:cNvPr>
              <p:cNvSpPr txBox="1"/>
              <p:nvPr/>
            </p:nvSpPr>
            <p:spPr>
              <a:xfrm>
                <a:off x="3573278" y="1158518"/>
                <a:ext cx="3675878" cy="83734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𝑛𝑏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3B876F-3A5C-458B-858C-D18CB672D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278" y="1158518"/>
                <a:ext cx="3675878" cy="837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A6045A-9FF8-4EAD-8681-FB864F5CC6EA}"/>
                  </a:ext>
                </a:extLst>
              </p:cNvPr>
              <p:cNvSpPr txBox="1"/>
              <p:nvPr/>
            </p:nvSpPr>
            <p:spPr>
              <a:xfrm>
                <a:off x="942772" y="2095117"/>
                <a:ext cx="5869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fr-FR" sz="2000" dirty="0"/>
                  <a:t> et 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fr-FR" sz="2000" dirty="0"/>
                  <a:t> sont deux constantes caractéristiques du gaz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A6045A-9FF8-4EAD-8681-FB864F5CC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72" y="2095117"/>
                <a:ext cx="5869427" cy="400110"/>
              </a:xfrm>
              <a:prstGeom prst="rect">
                <a:avLst/>
              </a:prstGeom>
              <a:blipFill>
                <a:blip r:embed="rId3"/>
                <a:stretch>
                  <a:fillRect l="-936" t="-9231" r="-208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6DACD-0E85-4ECE-8105-C204823BDA50}"/>
                  </a:ext>
                </a:extLst>
              </p:cNvPr>
              <p:cNvSpPr txBox="1"/>
              <p:nvPr/>
            </p:nvSpPr>
            <p:spPr>
              <a:xfrm>
                <a:off x="942772" y="2784143"/>
                <a:ext cx="73069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</a:rPr>
                      <m:t>𝒏𝒃</m:t>
                    </m:r>
                  </m:oMath>
                </a14:m>
                <a:r>
                  <a:rPr lang="fr-FR" sz="2000" dirty="0"/>
                  <a:t> est le covolume, </a:t>
                </a:r>
                <a:r>
                  <a:rPr lang="fr-FR" sz="2000" b="0" i="0" dirty="0">
                    <a:solidFill>
                      <a:srgbClr val="0A0A0A"/>
                    </a:solidFill>
                    <a:effectLst/>
                    <a:latin typeface="Google Sans"/>
                  </a:rPr>
                  <a:t>représente le volume propre des molécules.</a:t>
                </a:r>
                <a:r>
                  <a:rPr lang="fr-FR" sz="2000" dirty="0"/>
                  <a:t> 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6DACD-0E85-4ECE-8105-C204823B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72" y="2784143"/>
                <a:ext cx="7306937" cy="400110"/>
              </a:xfrm>
              <a:prstGeom prst="rect">
                <a:avLst/>
              </a:prstGeom>
              <a:blipFill>
                <a:blip r:embed="rId4"/>
                <a:stretch>
                  <a:fillRect l="-751" t="-9231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766AFC-E361-4722-90D4-C192F10CAEAD}"/>
                  </a:ext>
                </a:extLst>
              </p:cNvPr>
              <p:cNvSpPr txBox="1"/>
              <p:nvPr/>
            </p:nvSpPr>
            <p:spPr>
              <a:xfrm>
                <a:off x="942772" y="3273114"/>
                <a:ext cx="77922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2000" b="1" i="1" dirty="0" smtClean="0">
                        <a:solidFill>
                          <a:srgbClr val="0A0A0A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fr-FR" sz="2000" b="0" i="0" dirty="0">
                    <a:solidFill>
                      <a:srgbClr val="0A0A0A"/>
                    </a:solidFill>
                    <a:effectLst/>
                    <a:latin typeface="Google Sans"/>
                  </a:rPr>
                  <a:t> mesure l'attraction entre molécules (pression de cohésion).</a:t>
                </a:r>
                <a:endParaRPr lang="fr-FR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766AFC-E361-4722-90D4-C192F10CA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72" y="3273114"/>
                <a:ext cx="7792278" cy="400110"/>
              </a:xfrm>
              <a:prstGeom prst="rect">
                <a:avLst/>
              </a:prstGeom>
              <a:blipFill>
                <a:blip r:embed="rId5"/>
                <a:stretch>
                  <a:fillRect l="-704" t="-9091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4B88AB91-A230-495E-98FB-FE51621AA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772" y="3734982"/>
                <a:ext cx="10546864" cy="6800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Le terme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fr-FR" altLang="fr-FR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corrige la pression (réduite par les attractions). Il est appelé aussi pression interne. </a:t>
                </a:r>
              </a:p>
            </p:txBody>
          </p:sp>
        </mc:Choice>
        <mc:Fallback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4B88AB91-A230-495E-98FB-FE51621AA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772" y="3734982"/>
                <a:ext cx="10546864" cy="680058"/>
              </a:xfrm>
              <a:prstGeom prst="rect">
                <a:avLst/>
              </a:prstGeom>
              <a:blipFill>
                <a:blip r:embed="rId6"/>
                <a:stretch>
                  <a:fillRect l="-40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C12550D-0416-4A02-9AFF-E25984C5E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42962" y="4932919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A53208-E90C-4F1D-93E5-FC2491AA888C}"/>
              </a:ext>
            </a:extLst>
          </p:cNvPr>
          <p:cNvSpPr txBox="1"/>
          <p:nvPr/>
        </p:nvSpPr>
        <p:spPr>
          <a:xfrm>
            <a:off x="322660" y="4574598"/>
            <a:ext cx="492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Energie interne du gaz de Van Der Waals 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DCB7EF-6800-413E-AA1D-664A2A15D0C4}"/>
                  </a:ext>
                </a:extLst>
              </p:cNvPr>
              <p:cNvSpPr txBox="1"/>
              <p:nvPr/>
            </p:nvSpPr>
            <p:spPr>
              <a:xfrm>
                <a:off x="5275101" y="4476798"/>
                <a:ext cx="3348096" cy="74924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𝑮𝑷</m:t>
                          </m:r>
                        </m:sub>
                      </m:sSub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DCB7EF-6800-413E-AA1D-664A2A15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01" y="4476798"/>
                <a:ext cx="3348096" cy="7492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B0FCC-5BB2-4DB4-952A-A129DB6E508F}"/>
                  </a:ext>
                </a:extLst>
              </p:cNvPr>
              <p:cNvSpPr txBox="1"/>
              <p:nvPr/>
            </p:nvSpPr>
            <p:spPr>
              <a:xfrm>
                <a:off x="1319301" y="5003351"/>
                <a:ext cx="2976649" cy="749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sSup>
                            <m:sSup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p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B0FCC-5BB2-4DB4-952A-A129DB6E5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01" y="5003351"/>
                <a:ext cx="2976649" cy="7492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716CD-F325-4DF8-81A9-81CE659740A6}"/>
                  </a:ext>
                </a:extLst>
              </p:cNvPr>
              <p:cNvSpPr txBox="1"/>
              <p:nvPr/>
            </p:nvSpPr>
            <p:spPr>
              <a:xfrm>
                <a:off x="410816" y="5992769"/>
                <a:ext cx="7728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 sz="2000" dirty="0"/>
                  <a:t>Quand </a:t>
                </a:r>
                <a14:m>
                  <m:oMath xmlns:m="http://schemas.openxmlformats.org/officeDocument/2006/math"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fr-FR" sz="2000" dirty="0"/>
                  <a:t>, alors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fr-F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𝑮𝑷</m:t>
                        </m:r>
                      </m:sub>
                    </m:sSub>
                    <m:d>
                      <m:dPr>
                        <m:ctrlPr>
                          <a:rPr lang="fr-F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fr-FR" sz="2000" dirty="0"/>
                  <a:t> Le gaz réel tend vers un </a:t>
                </a:r>
                <a:r>
                  <a:rPr lang="fr-FR" sz="2000"/>
                  <a:t>gaz parfait.</a:t>
                </a:r>
                <a:endParaRPr lang="fr-FR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716CD-F325-4DF8-81A9-81CE6597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6" y="5992769"/>
                <a:ext cx="7728911" cy="400110"/>
              </a:xfrm>
              <a:prstGeom prst="rect">
                <a:avLst/>
              </a:prstGeom>
              <a:blipFill>
                <a:blip r:embed="rId10"/>
                <a:stretch>
                  <a:fillRect l="-710" t="-7576" r="-868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915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ZoneTexte 3"/>
          <p:cNvSpPr txBox="1"/>
          <p:nvPr/>
        </p:nvSpPr>
        <p:spPr>
          <a:xfrm>
            <a:off x="850006" y="373487"/>
            <a:ext cx="2583179" cy="3962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7.2 Cas des gaz réels</a:t>
            </a:r>
          </a:p>
        </p:txBody>
      </p:sp>
      <p:pic>
        <p:nvPicPr>
          <p:cNvPr id="2097181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1371600"/>
            <a:ext cx="10506075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1829</Words>
  <Application>Microsoft Office PowerPoint</Application>
  <PresentationFormat>Widescreen</PresentationFormat>
  <Paragraphs>221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 BLANCA</vt:lpstr>
      <vt:lpstr>Arial</vt:lpstr>
      <vt:lpstr>Calibri</vt:lpstr>
      <vt:lpstr>Calibri Light</vt:lpstr>
      <vt:lpstr>Cambria Math</vt:lpstr>
      <vt:lpstr>Google Sans</vt:lpstr>
      <vt:lpstr>Times New Roman</vt:lpstr>
      <vt:lpstr>TTE1BB33A0t00</vt:lpstr>
      <vt:lpstr>TTE1BBEEA8t00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Ossama Azagrouze</dc:creator>
  <cp:lastModifiedBy>Ossama Azagrouze</cp:lastModifiedBy>
  <cp:revision>33</cp:revision>
  <dcterms:created xsi:type="dcterms:W3CDTF">2016-05-01T18:23:10Z</dcterms:created>
  <dcterms:modified xsi:type="dcterms:W3CDTF">2026-01-29T08:57:28Z</dcterms:modified>
</cp:coreProperties>
</file>