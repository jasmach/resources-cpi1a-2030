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64"/>
  </p:notesMasterIdLst>
  <p:handoutMasterIdLst>
    <p:handoutMasterId r:id="rId65"/>
  </p:handoutMasterIdLst>
  <p:sldIdLst>
    <p:sldId id="257" r:id="rId2"/>
    <p:sldId id="258" r:id="rId3"/>
    <p:sldId id="307" r:id="rId4"/>
    <p:sldId id="259" r:id="rId5"/>
    <p:sldId id="297" r:id="rId6"/>
    <p:sldId id="260" r:id="rId7"/>
    <p:sldId id="298" r:id="rId8"/>
    <p:sldId id="261" r:id="rId9"/>
    <p:sldId id="299" r:id="rId10"/>
    <p:sldId id="262" r:id="rId11"/>
    <p:sldId id="300" r:id="rId12"/>
    <p:sldId id="263" r:id="rId13"/>
    <p:sldId id="264" r:id="rId14"/>
    <p:sldId id="301" r:id="rId15"/>
    <p:sldId id="302" r:id="rId16"/>
    <p:sldId id="304" r:id="rId17"/>
    <p:sldId id="265" r:id="rId18"/>
    <p:sldId id="266" r:id="rId19"/>
    <p:sldId id="303" r:id="rId20"/>
    <p:sldId id="305" r:id="rId21"/>
    <p:sldId id="267" r:id="rId22"/>
    <p:sldId id="268" r:id="rId23"/>
    <p:sldId id="310" r:id="rId24"/>
    <p:sldId id="270" r:id="rId25"/>
    <p:sldId id="308" r:id="rId26"/>
    <p:sldId id="311" r:id="rId27"/>
    <p:sldId id="271" r:id="rId28"/>
    <p:sldId id="312" r:id="rId29"/>
    <p:sldId id="313" r:id="rId30"/>
    <p:sldId id="272" r:id="rId31"/>
    <p:sldId id="314" r:id="rId32"/>
    <p:sldId id="273" r:id="rId33"/>
    <p:sldId id="274" r:id="rId34"/>
    <p:sldId id="275" r:id="rId35"/>
    <p:sldId id="276" r:id="rId36"/>
    <p:sldId id="337" r:id="rId37"/>
    <p:sldId id="338" r:id="rId38"/>
    <p:sldId id="316" r:id="rId39"/>
    <p:sldId id="278" r:id="rId40"/>
    <p:sldId id="277" r:id="rId41"/>
    <p:sldId id="296" r:id="rId42"/>
    <p:sldId id="279" r:id="rId43"/>
    <p:sldId id="280" r:id="rId44"/>
    <p:sldId id="281" r:id="rId45"/>
    <p:sldId id="335" r:id="rId46"/>
    <p:sldId id="336" r:id="rId47"/>
    <p:sldId id="339" r:id="rId48"/>
    <p:sldId id="317" r:id="rId49"/>
    <p:sldId id="320" r:id="rId50"/>
    <p:sldId id="318" r:id="rId51"/>
    <p:sldId id="319" r:id="rId52"/>
    <p:sldId id="321" r:id="rId53"/>
    <p:sldId id="322" r:id="rId54"/>
    <p:sldId id="334" r:id="rId55"/>
    <p:sldId id="323" r:id="rId56"/>
    <p:sldId id="324" r:id="rId57"/>
    <p:sldId id="325" r:id="rId58"/>
    <p:sldId id="326" r:id="rId59"/>
    <p:sldId id="327" r:id="rId60"/>
    <p:sldId id="328" r:id="rId61"/>
    <p:sldId id="329" r:id="rId62"/>
    <p:sldId id="295" r:id="rId63"/>
  </p:sldIdLst>
  <p:sldSz cx="12192000" cy="6858000"/>
  <p:notesSz cx="7099300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18" autoAdjust="0"/>
    <p:restoredTop sz="94660"/>
  </p:normalViewPr>
  <p:slideViewPr>
    <p:cSldViewPr snapToGrid="0">
      <p:cViewPr varScale="1">
        <p:scale>
          <a:sx n="71" d="100"/>
          <a:sy n="71" d="100"/>
        </p:scale>
        <p:origin x="55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16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C006DCBF-20F5-45A1-9E51-0A1E782A7DD1}" type="datetimeFigureOut">
              <a:rPr lang="fr-FR" smtClean="0"/>
              <a:pPr/>
              <a:t>08/10/2024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9DA7F3BE-7A2E-4D6C-A897-2D09C15DE7E6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2050" name="Picture 2" descr="RÃ©sultat de recherche d'images pour &quot;universitÃ© mohammed vi polytechnique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2218531" cy="2398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827008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54105C8C-2FD2-4B49-8B75-F69C3D874956}" type="datetimeFigureOut">
              <a:rPr lang="fr-FR" smtClean="0"/>
              <a:pPr/>
              <a:t>08/10/2024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90A39670-0FE6-4376-8B90-8E6026A470B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564814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E26E8E-FF08-4538-8BEE-794BD1D13949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59526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A39670-0FE6-4376-8B90-8E6026A470BC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9451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438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376-B19C-488D-ABEB-03C7E6E9E3E0}" type="datetimeFigureOut">
              <a:rPr lang="en-US" smtClean="0"/>
              <a:pPr/>
              <a:t>10/8/2024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2721" y="0"/>
            <a:ext cx="1459523" cy="1459523"/>
          </a:xfrm>
          <a:prstGeom prst="rect">
            <a:avLst/>
          </a:prstGeom>
        </p:spPr>
      </p:pic>
      <p:pic>
        <p:nvPicPr>
          <p:cNvPr id="8" name="Picture 2" descr="RÃ©sultat de recherche d'images pour &quot;universitÃ© mohammed vi polytechnique&quot;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73" t="14699" r="7356" b="11935"/>
          <a:stretch/>
        </p:blipFill>
        <p:spPr bwMode="auto">
          <a:xfrm>
            <a:off x="0" y="0"/>
            <a:ext cx="1739590" cy="157232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4056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98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5977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0043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9274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FR"/>
              <a:t>Administration système LINUX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3712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Administration système LINUX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84D86B2-A351-4942-86B0-4445DAD130E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8133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4403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3824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26198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fr-FR"/>
              <a:t>Administration système LINUX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84D86B2-A351-4942-86B0-4445DAD130EE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9089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674" r:id="rId12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Ã©sultat de recherche d'images pour &quot;universitÃ© mohammed vi polytechnique&quot;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73" t="14699" r="7356" b="11935"/>
          <a:stretch/>
        </p:blipFill>
        <p:spPr bwMode="auto">
          <a:xfrm>
            <a:off x="365946" y="128486"/>
            <a:ext cx="1739590" cy="157232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3749247" y="6459785"/>
            <a:ext cx="4822804" cy="365125"/>
          </a:xfrm>
        </p:spPr>
        <p:txBody>
          <a:bodyPr/>
          <a:lstStyle/>
          <a:p>
            <a:r>
              <a:rPr lang="fr-FR" sz="1100"/>
              <a:t>Administration système LINUX</a:t>
            </a:r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EA0A8-2D3D-4FB2-BB73-526B55F2947D}" type="slidenum">
              <a:rPr lang="fr-FR" smtClean="0">
                <a:solidFill>
                  <a:schemeClr val="accent2">
                    <a:lumMod val="50000"/>
                  </a:schemeClr>
                </a:solidFill>
              </a:rPr>
              <a:pPr/>
              <a:t>1</a:t>
            </a:fld>
            <a:endParaRPr lang="fr-FR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365946" y="6492306"/>
            <a:ext cx="174967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Réda BOUCHIKHI</a:t>
            </a:r>
          </a:p>
        </p:txBody>
      </p:sp>
      <p:sp>
        <p:nvSpPr>
          <p:cNvPr id="11" name="Titre 1"/>
          <p:cNvSpPr txBox="1">
            <a:spLocks/>
          </p:cNvSpPr>
          <p:nvPr/>
        </p:nvSpPr>
        <p:spPr>
          <a:xfrm>
            <a:off x="2477690" y="1700808"/>
            <a:ext cx="7239000" cy="44391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Système d’exploitation </a:t>
            </a:r>
          </a:p>
          <a:p>
            <a:r>
              <a:rPr lang="fr-FR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LINUX</a:t>
            </a:r>
            <a:br>
              <a:rPr lang="fr-FR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fr-FR" dirty="0"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lang="fr-FR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fr-FR" dirty="0"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lang="fr-FR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fr-FR" dirty="0"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lang="fr-FR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endParaRPr lang="fr-FR" sz="26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36955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08528" y="264017"/>
            <a:ext cx="2658859" cy="1325563"/>
          </a:xfrm>
        </p:spPr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54083" y="1845733"/>
            <a:ext cx="10058400" cy="447700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b="1" dirty="0"/>
              <a:t>Partie 1 : Linux</a:t>
            </a:r>
          </a:p>
          <a:p>
            <a:pPr marL="749808" lvl="1" indent="-457200"/>
            <a:r>
              <a:rPr lang="fr-FR" dirty="0"/>
              <a:t>Rappel Système d’exploitation – C’est quoi LINUX ?</a:t>
            </a:r>
          </a:p>
          <a:p>
            <a:pPr marL="749808" lvl="1" indent="-457200"/>
            <a:r>
              <a:rPr lang="fr-FR" dirty="0"/>
              <a:t>Naissance de Linux </a:t>
            </a:r>
          </a:p>
          <a:p>
            <a:pPr marL="749808" lvl="1" indent="-457200"/>
            <a:r>
              <a:rPr lang="fr-FR" dirty="0"/>
              <a:t>Différentes distributions</a:t>
            </a:r>
          </a:p>
          <a:p>
            <a:pPr marL="0" lvl="1" indent="0">
              <a:spcBef>
                <a:spcPts val="1200"/>
              </a:spcBef>
              <a:spcAft>
                <a:spcPts val="200"/>
              </a:spcAft>
              <a:buSzPct val="100000"/>
              <a:buNone/>
            </a:pPr>
            <a:r>
              <a:rPr lang="fr-FR" sz="2000" b="1" dirty="0"/>
              <a:t>Partie 2 : Gestionnaire de bureau Linux</a:t>
            </a:r>
          </a:p>
          <a:p>
            <a:pPr marL="749808" lvl="1" indent="-457200">
              <a:buSzPct val="100000"/>
            </a:pPr>
            <a:r>
              <a:rPr lang="fr-FR" sz="1900" dirty="0"/>
              <a:t>Les deux visages de Linux : Console et graphique</a:t>
            </a:r>
          </a:p>
          <a:p>
            <a:pPr marL="749808" lvl="1" indent="-457200"/>
            <a:r>
              <a:rPr lang="fr-FR" dirty="0"/>
              <a:t>Gestionnaires de bureau</a:t>
            </a:r>
          </a:p>
          <a:p>
            <a:pPr marL="0" lvl="1" indent="0">
              <a:spcBef>
                <a:spcPts val="1200"/>
              </a:spcBef>
              <a:spcAft>
                <a:spcPts val="200"/>
              </a:spcAft>
              <a:buSzPct val="100000"/>
              <a:buNone/>
            </a:pPr>
            <a:r>
              <a:rPr lang="fr-FR" sz="2100" b="1" dirty="0"/>
              <a:t>Partie 3 : Console</a:t>
            </a:r>
          </a:p>
          <a:p>
            <a:pPr marL="749808" lvl="1" indent="-457200"/>
            <a:r>
              <a:rPr lang="fr-FR" dirty="0"/>
              <a:t>Manipuler la console </a:t>
            </a:r>
          </a:p>
          <a:p>
            <a:pPr marL="749808" lvl="1" indent="-457200"/>
            <a:r>
              <a:rPr lang="fr-FR" dirty="0"/>
              <a:t>La console en mode graphique</a:t>
            </a:r>
          </a:p>
          <a:p>
            <a:pPr marL="0" lvl="1" indent="0">
              <a:spcBef>
                <a:spcPts val="1200"/>
              </a:spcBef>
              <a:spcAft>
                <a:spcPts val="200"/>
              </a:spcAft>
              <a:buSzPct val="100000"/>
              <a:buNone/>
            </a:pPr>
            <a:r>
              <a:rPr lang="fr-FR" sz="2100" b="1" dirty="0"/>
              <a:t>Partie 4 : Commandes Linux </a:t>
            </a:r>
          </a:p>
          <a:p>
            <a:pPr marL="749808" lvl="1" indent="-457200"/>
            <a:r>
              <a:rPr lang="fr-FR" sz="1900" dirty="0"/>
              <a:t>L’invite de commande : Console</a:t>
            </a:r>
          </a:p>
          <a:p>
            <a:pPr marL="749808" lvl="1" indent="-457200"/>
            <a:r>
              <a:rPr lang="fr-FR" sz="1900" dirty="0"/>
              <a:t>Commandes et paramètres</a:t>
            </a:r>
          </a:p>
          <a:p>
            <a:pPr marL="749808" lvl="1" indent="-457200"/>
            <a:r>
              <a:rPr lang="fr-FR" sz="1900" dirty="0"/>
              <a:t>Entrer une commande </a:t>
            </a:r>
          </a:p>
          <a:p>
            <a:pPr marL="749808" lvl="1" indent="-457200"/>
            <a:r>
              <a:rPr lang="fr-FR" sz="1900" dirty="0"/>
              <a:t>La structure des dossiers et fichiers</a:t>
            </a:r>
          </a:p>
          <a:p>
            <a:pPr marL="749808" lvl="1" indent="-457200">
              <a:buSzPct val="100000"/>
            </a:pPr>
            <a:r>
              <a:rPr lang="fr-FR" sz="1900" dirty="0"/>
              <a:t>Manipuler les fichiers et les dossiers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fr-FR" b="1" dirty="0"/>
          </a:p>
          <a:p>
            <a:pPr lvl="1">
              <a:buFont typeface="Wingdings" panose="05000000000000000000" pitchFamily="2" charset="2"/>
              <a:buChar char="q"/>
            </a:pPr>
            <a:endParaRPr lang="fr-FR" b="1" dirty="0"/>
          </a:p>
          <a:p>
            <a:pPr>
              <a:buFont typeface="Wingdings" panose="05000000000000000000" pitchFamily="2" charset="2"/>
              <a:buChar char="q"/>
            </a:pPr>
            <a:endParaRPr lang="fr-FR" dirty="0"/>
          </a:p>
          <a:p>
            <a:pPr>
              <a:buFont typeface="Wingdings" panose="05000000000000000000" pitchFamily="2" charset="2"/>
              <a:buChar char="q"/>
            </a:pP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89D53-DC7C-4E27-9789-0128C34E7BAC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8121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/>
              <a:t>Partie 1 : Linux</a:t>
            </a:r>
            <a:br>
              <a:rPr lang="fr-FR" b="1" dirty="0"/>
            </a:b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81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72650" y="286383"/>
            <a:ext cx="8307659" cy="1450757"/>
          </a:xfrm>
        </p:spPr>
        <p:txBody>
          <a:bodyPr/>
          <a:lstStyle/>
          <a:p>
            <a:r>
              <a:rPr lang="fr-FR" dirty="0"/>
              <a:t>1. Rappel Système d’exploitation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 </a:t>
            </a:r>
            <a:r>
              <a:rPr lang="fr-FR" b="1" dirty="0"/>
              <a:t>système d'exploitation</a:t>
            </a:r>
            <a:r>
              <a:rPr lang="fr-FR" dirty="0"/>
              <a:t> est l'outil qui fait le lien entre votre machine et vos programmes.</a:t>
            </a:r>
          </a:p>
          <a:p>
            <a:r>
              <a:rPr lang="fr-FR" dirty="0"/>
              <a:t>Il gère la mémoire de l’ordinateur et la répartir entre tous les programmes.</a:t>
            </a:r>
          </a:p>
          <a:p>
            <a:endParaRPr lang="fr-FR" dirty="0"/>
          </a:p>
          <a:p>
            <a:r>
              <a:rPr lang="fr-FR" dirty="0"/>
              <a:t>l'ordre de démarrage : 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/>
              <a:t>écran de boot ; démarrage de l’ordinateur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/>
              <a:t>démarrage du système d'exploitation (Windows) ;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/>
              <a:t>lancement des programmes (jeux, Internet, mail…).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89D53-DC7C-4E27-9789-0128C34E7BAC}" type="slidenum">
              <a:rPr lang="fr-FR" smtClean="0"/>
              <a:pPr/>
              <a:t>4</a:t>
            </a:fld>
            <a:endParaRPr lang="fr-FR"/>
          </a:p>
        </p:txBody>
      </p:sp>
      <p:pic>
        <p:nvPicPr>
          <p:cNvPr id="4098" name="Picture 2" descr="DÃ©marrage de l'ordinateu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520" y="2738691"/>
            <a:ext cx="1888690" cy="3503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6336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810979" y="325241"/>
            <a:ext cx="6630363" cy="1233103"/>
          </a:xfrm>
        </p:spPr>
        <p:txBody>
          <a:bodyPr>
            <a:normAutofit fontScale="90000"/>
          </a:bodyPr>
          <a:lstStyle/>
          <a:p>
            <a:r>
              <a:rPr lang="fr-FR" b="1" dirty="0"/>
              <a:t>Démarrage du système d'exploitation (Windows) </a:t>
            </a:r>
          </a:p>
        </p:txBody>
      </p:sp>
      <p:pic>
        <p:nvPicPr>
          <p:cNvPr id="1026" name="Picture 2" descr="DÃ©marrage de Windows 7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44346" y="1846263"/>
            <a:ext cx="5363633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39251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         C’est quoi LINUX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Linux est système d’exploitation ( </a:t>
            </a:r>
            <a:r>
              <a:rPr lang="fr-FR" b="1" dirty="0"/>
              <a:t>gratuit</a:t>
            </a:r>
            <a:r>
              <a:rPr lang="fr-FR" dirty="0"/>
              <a:t> );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Réputé pour sa </a:t>
            </a:r>
            <a:r>
              <a:rPr lang="fr-FR" b="1" dirty="0"/>
              <a:t>sécurité</a:t>
            </a:r>
            <a:r>
              <a:rPr lang="fr-FR" dirty="0"/>
              <a:t> et pour ses </a:t>
            </a:r>
            <a:r>
              <a:rPr lang="fr-FR" b="1" dirty="0"/>
              <a:t>mises à jour </a:t>
            </a:r>
            <a:r>
              <a:rPr lang="fr-FR" dirty="0"/>
              <a:t>plus fréquentes que Windows.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Linux a la particularité d'être </a:t>
            </a:r>
            <a:r>
              <a:rPr lang="fr-FR" b="1" dirty="0"/>
              <a:t>libre</a:t>
            </a:r>
            <a:r>
              <a:rPr lang="fr-FR" dirty="0"/>
              <a:t>, c'est-à-dire que son code source est ouvert : tout le monde peut le consulter. 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89D53-DC7C-4E27-9789-0128C34E7BAC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29794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96980" y="2617679"/>
            <a:ext cx="9182637" cy="1450757"/>
          </a:xfrm>
        </p:spPr>
        <p:txBody>
          <a:bodyPr>
            <a:normAutofit/>
          </a:bodyPr>
          <a:lstStyle/>
          <a:p>
            <a:r>
              <a:rPr lang="fr-FR" b="1" dirty="0"/>
              <a:t>Peut-on faire cohabiter deux OS sur son ordinateur ?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1325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                           </a:t>
            </a:r>
            <a:r>
              <a:rPr lang="fr-FR" dirty="0"/>
              <a:t>Boot Loader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71239" y="2155180"/>
            <a:ext cx="5274528" cy="4023360"/>
          </a:xfrm>
        </p:spPr>
        <p:txBody>
          <a:bodyPr/>
          <a:lstStyle/>
          <a:p>
            <a:r>
              <a:rPr lang="fr-FR" dirty="0"/>
              <a:t>Vous pouvez très bien avoir deux OS (ou plus !) installés sur votre ordinateur.</a:t>
            </a:r>
          </a:p>
          <a:p>
            <a:endParaRPr lang="fr-FR" dirty="0"/>
          </a:p>
          <a:p>
            <a:r>
              <a:rPr lang="fr-FR" dirty="0"/>
              <a:t>Dans ce cas, juste après l'écran de boot, vous aurez un programme appelé </a:t>
            </a:r>
            <a:r>
              <a:rPr lang="fr-FR" b="1" dirty="0"/>
              <a:t>Boot Loader </a:t>
            </a:r>
            <a:r>
              <a:rPr lang="fr-FR" dirty="0"/>
              <a:t>qui s'affichera pour que vous puissiez faire votre choix. Le </a:t>
            </a:r>
            <a:r>
              <a:rPr lang="fr-FR" i="1" dirty="0"/>
              <a:t>boot loader</a:t>
            </a:r>
            <a:r>
              <a:rPr lang="fr-FR" dirty="0"/>
              <a:t> dont nous parlerons ici porte le doux nom de </a:t>
            </a:r>
            <a:r>
              <a:rPr lang="fr-FR" b="1" dirty="0"/>
              <a:t>GRUB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8</a:t>
            </a:fld>
            <a:endParaRPr lang="fr-FR" dirty="0"/>
          </a:p>
        </p:txBody>
      </p:sp>
      <p:pic>
        <p:nvPicPr>
          <p:cNvPr id="5122" name="Picture 2" descr="DÃ©marrage de l'ordinateur avec un boot load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0894" y="1844598"/>
            <a:ext cx="3912579" cy="4444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2009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22738" y="286603"/>
            <a:ext cx="9532942" cy="1450757"/>
          </a:xfrm>
        </p:spPr>
        <p:txBody>
          <a:bodyPr/>
          <a:lstStyle/>
          <a:p>
            <a:r>
              <a:rPr lang="fr-FR" dirty="0"/>
              <a:t>Programmes sous LINUX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2562896"/>
            <a:ext cx="10058400" cy="3306198"/>
          </a:xfrm>
        </p:spPr>
        <p:txBody>
          <a:bodyPr/>
          <a:lstStyle/>
          <a:p>
            <a:r>
              <a:rPr lang="fr-FR" dirty="0"/>
              <a:t>les programmes sous Linux ont d'énormes avantages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Ils sont </a:t>
            </a:r>
            <a:r>
              <a:rPr lang="fr-FR" b="1" dirty="0"/>
              <a:t>gratuits</a:t>
            </a:r>
            <a:r>
              <a:rPr lang="fr-FR" dirty="0"/>
              <a:t> : vous verrez que sous Linux, presque tous les programmes sont gratuits 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Les logiciels sont </a:t>
            </a:r>
            <a:r>
              <a:rPr lang="fr-FR" b="1" dirty="0"/>
              <a:t>souvent mis à jour</a:t>
            </a:r>
            <a:r>
              <a:rPr lang="fr-FR" dirty="0"/>
              <a:t> et ce toujours gratuitement !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Certains de ces logiciels sont </a:t>
            </a:r>
            <a:r>
              <a:rPr lang="fr-FR" b="1" dirty="0"/>
              <a:t>meilleurs</a:t>
            </a:r>
            <a:r>
              <a:rPr lang="fr-FR" dirty="0"/>
              <a:t> que ceux que l'on trouve sous Windows. 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44956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               La naissance de Linux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845734"/>
            <a:ext cx="10477686" cy="437664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FR" b="1" dirty="0"/>
              <a:t>L'informatique en 1981</a:t>
            </a:r>
            <a:r>
              <a:rPr lang="fr-FR" dirty="0"/>
              <a:t> : Microsoft vient de sortir son premier OS : </a:t>
            </a:r>
            <a:r>
              <a:rPr lang="fr-FR" b="1" dirty="0"/>
              <a:t>MS-DOS</a:t>
            </a:r>
            <a:r>
              <a:rPr lang="fr-FR" dirty="0"/>
              <a:t>.</a:t>
            </a:r>
          </a:p>
          <a:p>
            <a:r>
              <a:rPr lang="fr-FR" dirty="0"/>
              <a:t>Il y avait d'autres OS mais bien moins connus du grand public. Celui qui était considéré comme le meilleur s'appelait « </a:t>
            </a:r>
            <a:r>
              <a:rPr lang="fr-FR" b="1" dirty="0"/>
              <a:t>Unix</a:t>
            </a:r>
            <a:r>
              <a:rPr lang="fr-FR" dirty="0"/>
              <a:t> » : ses origines remontent à 1969 !</a:t>
            </a:r>
          </a:p>
          <a:p>
            <a:endParaRPr lang="fr-FR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En 1984, que </a:t>
            </a:r>
            <a:r>
              <a:rPr lang="fr-FR" b="1" dirty="0"/>
              <a:t>Richard </a:t>
            </a:r>
            <a:r>
              <a:rPr lang="fr-FR" b="1" dirty="0" err="1"/>
              <a:t>Stallman</a:t>
            </a:r>
            <a:r>
              <a:rPr lang="fr-FR" b="1" dirty="0"/>
              <a:t> </a:t>
            </a:r>
            <a:r>
              <a:rPr lang="fr-FR" dirty="0"/>
              <a:t>créa le </a:t>
            </a:r>
            <a:r>
              <a:rPr lang="fr-FR" b="1" dirty="0"/>
              <a:t>projet GNU </a:t>
            </a:r>
            <a:r>
              <a:rPr lang="fr-FR" dirty="0"/>
              <a:t>: un nouveau système d'exploitation </a:t>
            </a:r>
            <a:r>
              <a:rPr lang="fr-FR" b="1" dirty="0"/>
              <a:t>libre </a:t>
            </a:r>
            <a:r>
              <a:rPr lang="fr-FR" dirty="0"/>
              <a:t>fonctionnant comme Unix -&gt; un programme qu'on a le droit de copier, modifier et redistribuer.</a:t>
            </a:r>
          </a:p>
          <a:p>
            <a:pPr>
              <a:buFont typeface="Wingdings" panose="05000000000000000000" pitchFamily="2" charset="2"/>
              <a:buChar char="§"/>
            </a:pPr>
            <a:endParaRPr lang="fr-FR" dirty="0"/>
          </a:p>
          <a:p>
            <a:pPr>
              <a:buFont typeface="Wingdings" panose="05000000000000000000" pitchFamily="2" charset="2"/>
              <a:buChar char="§"/>
            </a:pPr>
            <a:endParaRPr lang="fr-FR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En 1991, </a:t>
            </a:r>
            <a:r>
              <a:rPr lang="fr-FR" b="1" dirty="0"/>
              <a:t>Linus </a:t>
            </a:r>
            <a:r>
              <a:rPr lang="fr-FR" b="1" dirty="0" err="1"/>
              <a:t>Torvalds</a:t>
            </a:r>
            <a:r>
              <a:rPr lang="fr-FR" dirty="0"/>
              <a:t>, un étudiant de l'Université de Helsinki entreprend de créer sur son temps libre son propre système d'exploitation LINUX.</a:t>
            </a:r>
          </a:p>
          <a:p>
            <a:pPr>
              <a:buFont typeface="Wingdings" panose="05000000000000000000" pitchFamily="2" charset="2"/>
              <a:buChar char="§"/>
            </a:pPr>
            <a:endParaRPr lang="fr-FR" b="1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10</a:t>
            </a:fld>
            <a:endParaRPr lang="fr-FR" dirty="0"/>
          </a:p>
        </p:txBody>
      </p:sp>
      <p:pic>
        <p:nvPicPr>
          <p:cNvPr id="2050" name="Picture 2" descr="Le gnou, emblÃªme de GN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5537" y="4034057"/>
            <a:ext cx="995538" cy="995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4141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22748" y="286603"/>
            <a:ext cx="7832931" cy="1450757"/>
          </a:xfrm>
        </p:spPr>
        <p:txBody>
          <a:bodyPr/>
          <a:lstStyle/>
          <a:p>
            <a:r>
              <a:rPr lang="fr-FR" dirty="0"/>
              <a:t>La naissance de Linux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b="1" dirty="0"/>
          </a:p>
          <a:p>
            <a:r>
              <a:rPr lang="fr-FR" b="1" dirty="0"/>
              <a:t>GNU et Linux </a:t>
            </a:r>
            <a:r>
              <a:rPr lang="fr-FR" dirty="0"/>
              <a:t>étaient deux projets complémentaires : tandis que Richard </a:t>
            </a:r>
            <a:r>
              <a:rPr lang="fr-FR" dirty="0" err="1"/>
              <a:t>Stallman</a:t>
            </a:r>
            <a:r>
              <a:rPr lang="fr-FR" dirty="0"/>
              <a:t> créait les programmes de base (programme de copie de fichier, de suppression de fichier, éditeur de texte), </a:t>
            </a:r>
            <a:r>
              <a:rPr lang="fr-FR" b="1" dirty="0"/>
              <a:t>Linus</a:t>
            </a:r>
            <a:r>
              <a:rPr lang="fr-FR" dirty="0"/>
              <a:t> s'était lancé dans la création du « cœur » d'un système d'exploitation : le noyau.</a:t>
            </a:r>
          </a:p>
          <a:p>
            <a:r>
              <a:rPr lang="fr-FR" dirty="0"/>
              <a:t>Théoriquement, on doit donc parler de </a:t>
            </a:r>
            <a:r>
              <a:rPr lang="fr-FR" b="1" dirty="0" smtClean="0">
                <a:solidFill>
                  <a:srgbClr val="FF0000"/>
                </a:solidFill>
              </a:rPr>
              <a:t>GNU/Linux</a:t>
            </a:r>
            <a:r>
              <a:rPr lang="fr-FR" dirty="0"/>
              <a:t>. C'est toutefois un peu difficile à écrire et prononcer, et par abus de langage, on dit souvent juste « Linux ».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0668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40924" y="286603"/>
            <a:ext cx="7405352" cy="1450757"/>
          </a:xfrm>
        </p:spPr>
        <p:txBody>
          <a:bodyPr/>
          <a:lstStyle/>
          <a:p>
            <a:r>
              <a:rPr lang="fr-FR" dirty="0"/>
              <a:t>Schéma : Naissance de </a:t>
            </a:r>
            <a:r>
              <a:rPr lang="fr-FR" dirty="0" smtClean="0"/>
              <a:t>Linux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12</a:t>
            </a:fld>
            <a:endParaRPr lang="fr-FR" dirty="0"/>
          </a:p>
        </p:txBody>
      </p:sp>
      <p:pic>
        <p:nvPicPr>
          <p:cNvPr id="6146" name="Picture 2" descr="Origine des systÃ¨mes d'exploit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114" y="2024743"/>
            <a:ext cx="6749143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646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             </a:t>
            </a:r>
            <a:r>
              <a:rPr lang="fr-FR" dirty="0"/>
              <a:t>Les distributions de Linux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</a:t>
            </a:r>
            <a:r>
              <a:rPr lang="fr-FR" b="1" dirty="0"/>
              <a:t>distribution</a:t>
            </a:r>
            <a:r>
              <a:rPr lang="fr-FR" dirty="0"/>
              <a:t> est en quelque sorte l'emballage de Linux. Le cœur, lui, reste le même sur toutes les distributions.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13</a:t>
            </a:fld>
            <a:endParaRPr lang="fr-FR" dirty="0"/>
          </a:p>
        </p:txBody>
      </p:sp>
      <p:sp>
        <p:nvSpPr>
          <p:cNvPr id="7" name="Espace réservé du contenu 2"/>
          <p:cNvSpPr txBox="1">
            <a:spLocks/>
          </p:cNvSpPr>
          <p:nvPr/>
        </p:nvSpPr>
        <p:spPr>
          <a:xfrm>
            <a:off x="1186031" y="2603425"/>
            <a:ext cx="6193563" cy="369434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fr-FR" b="1" dirty="0"/>
              <a:t>Debian : </a:t>
            </a:r>
            <a:r>
              <a:rPr lang="fr-FR" dirty="0"/>
              <a:t>la seule distribution « Open Source » et gratuite, les autres distributions sont gérées par des entreprises .</a:t>
            </a:r>
          </a:p>
          <a:p>
            <a:pPr>
              <a:buFont typeface="Wingdings" panose="05000000000000000000" pitchFamily="2" charset="2"/>
              <a:buChar char="§"/>
            </a:pPr>
            <a:endParaRPr lang="fr-FR" dirty="0"/>
          </a:p>
          <a:p>
            <a:pPr>
              <a:buFont typeface="Wingdings" panose="05000000000000000000" pitchFamily="2" charset="2"/>
              <a:buChar char="§"/>
            </a:pPr>
            <a:endParaRPr lang="fr-FR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b="1" dirty="0"/>
              <a:t>Ubuntu</a:t>
            </a:r>
            <a:r>
              <a:rPr lang="fr-FR" dirty="0"/>
              <a:t> : C'est la distribution qui a créé la surprise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Ouvert au </a:t>
            </a:r>
            <a:r>
              <a:rPr lang="fr-FR" b="1" dirty="0"/>
              <a:t>grand public, </a:t>
            </a:r>
            <a:r>
              <a:rPr lang="en-US" dirty="0" err="1"/>
              <a:t>Leur</a:t>
            </a:r>
            <a:r>
              <a:rPr lang="en-US" dirty="0"/>
              <a:t> slogan </a:t>
            </a:r>
            <a:r>
              <a:rPr lang="en-US" dirty="0" err="1"/>
              <a:t>est</a:t>
            </a:r>
            <a:r>
              <a:rPr lang="en-US" dirty="0"/>
              <a:t> </a:t>
            </a:r>
            <a:r>
              <a:rPr lang="en-US" i="1" dirty="0"/>
              <a:t>« Linux for human beings »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/>
              <a:t>Les mises à jour sont fréquentes</a:t>
            </a:r>
            <a:endParaRPr lang="fr-FR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Il y a beaucoup d'utilisateurs, donc </a:t>
            </a:r>
            <a:r>
              <a:rPr lang="fr-FR" b="1" dirty="0"/>
              <a:t>beaucoup de gens pour vous aider</a:t>
            </a:r>
            <a:r>
              <a:rPr lang="fr-FR" dirty="0"/>
              <a:t> si vous avez des questions</a:t>
            </a:r>
          </a:p>
        </p:txBody>
      </p:sp>
      <p:pic>
        <p:nvPicPr>
          <p:cNvPr id="3074" name="Picture 2" descr="Logo de Debia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8989" y="2580668"/>
            <a:ext cx="896350" cy="1170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Logo dâUbunt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7335" y="4485687"/>
            <a:ext cx="1165476" cy="1181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necteur droit 5"/>
          <p:cNvCxnSpPr/>
          <p:nvPr/>
        </p:nvCxnSpPr>
        <p:spPr>
          <a:xfrm flipV="1">
            <a:off x="1186031" y="3958651"/>
            <a:ext cx="9969649" cy="40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614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923504" y="286603"/>
            <a:ext cx="6426558" cy="1450757"/>
          </a:xfrm>
        </p:spPr>
        <p:txBody>
          <a:bodyPr/>
          <a:lstStyle/>
          <a:p>
            <a:r>
              <a:rPr lang="fr-FR" dirty="0"/>
              <a:t>Schéma :Les distributions de Linux</a:t>
            </a:r>
          </a:p>
        </p:txBody>
      </p:sp>
      <p:pic>
        <p:nvPicPr>
          <p:cNvPr id="4" name="Picture 2" descr="Les distributions de Linux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01988" y="2262188"/>
            <a:ext cx="5848350" cy="319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87033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125014" y="286603"/>
            <a:ext cx="9030666" cy="1450757"/>
          </a:xfrm>
        </p:spPr>
        <p:txBody>
          <a:bodyPr/>
          <a:lstStyle/>
          <a:p>
            <a:r>
              <a:rPr lang="fr-FR" dirty="0"/>
              <a:t>En résumé : Partie 1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Le </a:t>
            </a:r>
            <a:r>
              <a:rPr lang="fr-FR" b="1" dirty="0"/>
              <a:t>système d'exploitation</a:t>
            </a:r>
            <a:r>
              <a:rPr lang="fr-FR" dirty="0"/>
              <a:t> est l'outil qui fait le lien entre votre machine et vos programmes.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b="1" dirty="0"/>
              <a:t>Windows, Mac OS et Linux </a:t>
            </a:r>
            <a:r>
              <a:rPr lang="fr-FR" dirty="0"/>
              <a:t>sont les systèmes d'exploitation les plus connus.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Linux a la particularité d'être </a:t>
            </a:r>
            <a:r>
              <a:rPr lang="fr-FR" b="1" dirty="0"/>
              <a:t>libre</a:t>
            </a:r>
            <a:r>
              <a:rPr lang="fr-FR" dirty="0"/>
              <a:t>, c'est-à-dire que son code source (sa recette de fabrication) est ouvert : tout le monde peut le consulter. Par opposition, le code source qui a permis de concevoir Windows et Mac OS est fermé, on dit que ce sont des systèmes d'exploitation propriétaires.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Il existe de nombreuses variantes de Linux, que l'on appelle </a:t>
            </a:r>
            <a:r>
              <a:rPr lang="fr-FR" b="1" dirty="0"/>
              <a:t>distributions</a:t>
            </a:r>
            <a:r>
              <a:rPr lang="fr-FR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b="1" dirty="0"/>
              <a:t>Ubuntu</a:t>
            </a:r>
            <a:r>
              <a:rPr lang="fr-FR" dirty="0"/>
              <a:t> est une des distributions les plus populaires à l'heure actuelle. C'est celle que nous utiliserons tout au long de cet ouvrage. Il s'agit d'un dérivé de la distribution </a:t>
            </a:r>
            <a:r>
              <a:rPr lang="fr-FR" b="1" dirty="0"/>
              <a:t>Debian.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0426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/>
              <a:t>Partie 2 : Gestionnaire de bureau Linux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5688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15920" y="286603"/>
            <a:ext cx="9339759" cy="1450757"/>
          </a:xfrm>
        </p:spPr>
        <p:txBody>
          <a:bodyPr/>
          <a:lstStyle/>
          <a:p>
            <a:r>
              <a:rPr lang="fr-FR" b="1" dirty="0"/>
              <a:t>Partie 2 : Les deux visages de Linux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845734"/>
            <a:ext cx="4812866" cy="4023360"/>
          </a:xfrm>
        </p:spPr>
        <p:txBody>
          <a:bodyPr/>
          <a:lstStyle/>
          <a:p>
            <a:r>
              <a:rPr lang="fr-FR" b="1" u="sng" dirty="0"/>
              <a:t>En mode console : </a:t>
            </a:r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17</a:t>
            </a:fld>
            <a:endParaRPr lang="fr-FR" dirty="0"/>
          </a:p>
        </p:txBody>
      </p:sp>
      <p:pic>
        <p:nvPicPr>
          <p:cNvPr id="8194" name="Picture 2" descr="Le mode console. Oui oui, il sâagit bien d'un Linux du XXIe siÃ¨cle !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734" y="2297151"/>
            <a:ext cx="4995746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contenu 2"/>
          <p:cNvSpPr txBox="1">
            <a:spLocks/>
          </p:cNvSpPr>
          <p:nvPr/>
        </p:nvSpPr>
        <p:spPr>
          <a:xfrm>
            <a:off x="6260294" y="1845734"/>
            <a:ext cx="4812866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u="sng" dirty="0"/>
              <a:t>En mode graphique : </a:t>
            </a:r>
          </a:p>
          <a:p>
            <a:endParaRPr lang="fr-FR" dirty="0"/>
          </a:p>
        </p:txBody>
      </p:sp>
      <p:pic>
        <p:nvPicPr>
          <p:cNvPr id="8196" name="Picture 4" descr="Ubuntu, basÃ© sur Un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3308" y="2297151"/>
            <a:ext cx="508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4969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20776" y="246805"/>
            <a:ext cx="7462092" cy="1450757"/>
          </a:xfrm>
        </p:spPr>
        <p:txBody>
          <a:bodyPr>
            <a:normAutofit/>
          </a:bodyPr>
          <a:lstStyle/>
          <a:p>
            <a:r>
              <a:rPr lang="fr-FR" sz="4000" dirty="0"/>
              <a:t>Mode graphique : Principaux gestionnaires de bureau</a:t>
            </a:r>
          </a:p>
        </p:txBody>
      </p:sp>
      <p:pic>
        <p:nvPicPr>
          <p:cNvPr id="9218" name="Picture 2" descr="Origine des principaux gestionnaires de bureau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2485" y="1828800"/>
            <a:ext cx="4582164" cy="2623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18</a:t>
            </a:fld>
            <a:endParaRPr lang="fr-FR" dirty="0"/>
          </a:p>
        </p:txBody>
      </p:sp>
      <p:pic>
        <p:nvPicPr>
          <p:cNvPr id="9220" name="Picture 4" descr="Ubuntu, basÃ© sur Un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2570" y="4452364"/>
            <a:ext cx="2520718" cy="1890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Kubuntu, basÃ© sur KD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3375" y="4452364"/>
            <a:ext cx="2961186" cy="1890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 descr="Xubuntu, basÃ© sur XFC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8091" y="4451210"/>
            <a:ext cx="3076438" cy="1891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340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2125014" y="286603"/>
            <a:ext cx="9030666" cy="1450757"/>
          </a:xfrm>
        </p:spPr>
        <p:txBody>
          <a:bodyPr/>
          <a:lstStyle/>
          <a:p>
            <a:r>
              <a:rPr lang="fr-FR" dirty="0"/>
              <a:t>En résumé : Partie 2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endParaRPr lang="fr-FR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Linux peut être utilisé de deux façons différentes : en mode console ou en mode graphique.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dirty="0"/>
              <a:t>Le </a:t>
            </a:r>
            <a:r>
              <a:rPr lang="fr-FR" b="1" dirty="0"/>
              <a:t>mode console</a:t>
            </a:r>
            <a:r>
              <a:rPr lang="fr-FR" dirty="0"/>
              <a:t> est puissant mais plus délicat à apprivoiser. Les débutants préfèrent l'éviter au début.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dirty="0"/>
              <a:t>Le </a:t>
            </a:r>
            <a:r>
              <a:rPr lang="fr-FR" b="1" dirty="0"/>
              <a:t>mode graphique</a:t>
            </a:r>
            <a:r>
              <a:rPr lang="fr-FR" dirty="0"/>
              <a:t> est similaire à ce que vous connaissez sous Windows et Mac OS : on y manipule des fenêtres avec une souris.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Il existe plusieurs distributions de Linux.</a:t>
            </a:r>
            <a:endParaRPr lang="fr-FR" dirty="0" smtClean="0"/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19</a:t>
            </a:fld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1495373" y="3035673"/>
            <a:ext cx="8835390" cy="101566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6000" dirty="0"/>
              <a:t>https://distrosea.com</a:t>
            </a:r>
            <a:r>
              <a:rPr lang="fr-FR" sz="6000" dirty="0" smtClean="0"/>
              <a:t>/</a:t>
            </a:r>
            <a:endParaRPr lang="fr-FR" sz="6000" dirty="0"/>
          </a:p>
        </p:txBody>
      </p:sp>
      <p:sp>
        <p:nvSpPr>
          <p:cNvPr id="7" name="ZoneTexte 6"/>
          <p:cNvSpPr txBox="1"/>
          <p:nvPr/>
        </p:nvSpPr>
        <p:spPr>
          <a:xfrm>
            <a:off x="365708" y="5148776"/>
            <a:ext cx="11094720" cy="101566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6000" dirty="0"/>
              <a:t>https</a:t>
            </a:r>
            <a:r>
              <a:rPr lang="fr-FR" sz="6000" dirty="0" smtClean="0"/>
              <a:t>://terminaltemple.com</a:t>
            </a:r>
            <a:r>
              <a:rPr lang="fr-FR" sz="6000" dirty="0" smtClean="0"/>
              <a:t>/</a:t>
            </a:r>
            <a:endParaRPr lang="fr-FR" sz="6000" dirty="0"/>
          </a:p>
        </p:txBody>
      </p:sp>
    </p:spTree>
    <p:extLst>
      <p:ext uri="{BB962C8B-B14F-4D97-AF65-F5344CB8AC3E}">
        <p14:creationId xmlns:p14="http://schemas.microsoft.com/office/powerpoint/2010/main" val="2448108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/>
              <a:t>Partie 3 : Console</a:t>
            </a:r>
            <a:br>
              <a:rPr lang="fr-FR" b="1" dirty="0"/>
            </a:b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8279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83472" y="286603"/>
            <a:ext cx="9572207" cy="1450757"/>
          </a:xfrm>
        </p:spPr>
        <p:txBody>
          <a:bodyPr/>
          <a:lstStyle/>
          <a:p>
            <a:r>
              <a:rPr lang="fr-FR" dirty="0"/>
              <a:t>Manipuler la console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Pourquoi avoir inventé la console ?</a:t>
            </a:r>
          </a:p>
          <a:p>
            <a:r>
              <a:rPr lang="fr-FR" b="1" dirty="0"/>
              <a:t>Parce qu’il y avait le choix </a:t>
            </a:r>
            <a:r>
              <a:rPr lang="fr-FR" dirty="0"/>
              <a:t>! Les débuts de l'informatique et de la console remontent aux débuts des années 70, à une époque où un écran 2 couleurs était un luxe inimaginable et où la puissance de calcul de ces ordinateurs était cent fois plus faible que celle de la calculatrice.</a:t>
            </a:r>
          </a:p>
          <a:p>
            <a:endParaRPr lang="fr-FR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Pourquoi ne pas avoir supprimé la console ? </a:t>
            </a:r>
          </a:p>
          <a:p>
            <a:r>
              <a:rPr lang="fr-FR" dirty="0"/>
              <a:t>Quand on sait s'en servir, on va </a:t>
            </a:r>
            <a:r>
              <a:rPr lang="fr-FR" b="1" dirty="0"/>
              <a:t>beaucoup</a:t>
            </a:r>
            <a:r>
              <a:rPr lang="fr-FR" dirty="0"/>
              <a:t> plus vite avec la console qu'avec l'interface graphique. Ainsi à un moment qu'il y a des choses que seule la console peut faire et qu'il serait de toute façon vraiment inutile de recourir à une interface graphique pour les effectuer.</a:t>
            </a:r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35939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07940" y="286603"/>
            <a:ext cx="8947739" cy="1450757"/>
          </a:xfrm>
        </p:spPr>
        <p:txBody>
          <a:bodyPr/>
          <a:lstStyle/>
          <a:p>
            <a:r>
              <a:rPr lang="fr-FR" dirty="0"/>
              <a:t>La console en mode graphique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845734"/>
            <a:ext cx="7277352" cy="280088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Sous </a:t>
            </a:r>
            <a:r>
              <a:rPr lang="fr-FR" dirty="0" err="1"/>
              <a:t>Unity</a:t>
            </a:r>
            <a:r>
              <a:rPr lang="fr-FR" dirty="0"/>
              <a:t>, rendez-vous dans le lanceur et recherchez «Terminal» 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La console de </a:t>
            </a:r>
            <a:r>
              <a:rPr lang="fr-FR" dirty="0" err="1"/>
              <a:t>Unity</a:t>
            </a:r>
            <a:r>
              <a:rPr lang="fr-FR" dirty="0"/>
              <a:t> sur la figure suivante.</a:t>
            </a:r>
          </a:p>
          <a:p>
            <a:pPr>
              <a:buFont typeface="Wingdings" panose="05000000000000000000" pitchFamily="2" charset="2"/>
              <a:buChar char="§"/>
            </a:pP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22</a:t>
            </a:fld>
            <a:endParaRPr lang="fr-FR" dirty="0"/>
          </a:p>
        </p:txBody>
      </p:sp>
      <p:pic>
        <p:nvPicPr>
          <p:cNvPr id="10242" name="Picture 2" descr="Lancer le Terminal sous Unit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1816" y="2241178"/>
            <a:ext cx="3423966" cy="1384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Terminal de Un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548" y="4021598"/>
            <a:ext cx="3758502" cy="2405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119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/>
              <a:t>Partie 4 : Commandes Linux 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4623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gradFill>
            <a:gsLst>
              <a:gs pos="0">
                <a:schemeClr val="bg1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fr-FR" sz="2400" b="1" dirty="0" err="1"/>
              <a:t>user@mycomputer</a:t>
            </a:r>
            <a:r>
              <a:rPr lang="fr-FR" sz="2400" b="1" dirty="0"/>
              <a:t>:~$</a:t>
            </a:r>
          </a:p>
          <a:p>
            <a:r>
              <a:rPr lang="fr-FR" b="1" dirty="0"/>
              <a:t>user</a:t>
            </a:r>
            <a:r>
              <a:rPr lang="fr-FR" dirty="0"/>
              <a:t> : le premier élément est votre pseudonyme.</a:t>
            </a:r>
          </a:p>
          <a:p>
            <a:r>
              <a:rPr lang="fr-FR" b="1" dirty="0"/>
              <a:t>@</a:t>
            </a:r>
            <a:r>
              <a:rPr lang="fr-FR" dirty="0"/>
              <a:t> : c'est le symbole « at » qui signifie « chez ». </a:t>
            </a:r>
          </a:p>
          <a:p>
            <a:r>
              <a:rPr lang="fr-FR" b="1" dirty="0" err="1"/>
              <a:t>mycomputer</a:t>
            </a:r>
            <a:r>
              <a:rPr lang="fr-FR" dirty="0"/>
              <a:t> : c'est le nom de l'ordinateur sur lequel vous êtes en train de travailler.</a:t>
            </a:r>
          </a:p>
          <a:p>
            <a:r>
              <a:rPr lang="fr-FR" b="1" dirty="0"/>
              <a:t>~ : </a:t>
            </a:r>
            <a:r>
              <a:rPr lang="fr-FR" dirty="0"/>
              <a:t>c'est le dossier dans lequel vous vous trouvez actuellement.</a:t>
            </a:r>
          </a:p>
          <a:p>
            <a:r>
              <a:rPr lang="fr-FR" b="1" dirty="0">
                <a:solidFill>
                  <a:srgbClr val="FF0000"/>
                </a:solidFill>
              </a:rPr>
              <a:t>$</a:t>
            </a:r>
            <a:r>
              <a:rPr lang="fr-FR" b="1" dirty="0"/>
              <a:t> : </a:t>
            </a:r>
            <a:r>
              <a:rPr lang="fr-FR" dirty="0"/>
              <a:t>indique le niveau d’autorisation, signifie que vous êtes en train d'utiliser un compte utilisateur « normal ».</a:t>
            </a:r>
            <a:endParaRPr lang="fr-FR" b="1" dirty="0"/>
          </a:p>
          <a:p>
            <a:r>
              <a:rPr lang="fr-FR" b="1" dirty="0">
                <a:solidFill>
                  <a:srgbClr val="FF0000"/>
                </a:solidFill>
              </a:rPr>
              <a:t>#</a:t>
            </a:r>
            <a:r>
              <a:rPr lang="fr-FR" dirty="0">
                <a:solidFill>
                  <a:srgbClr val="FF0000"/>
                </a:solidFill>
              </a:rPr>
              <a:t> </a:t>
            </a:r>
            <a:r>
              <a:rPr lang="fr-FR" dirty="0"/>
              <a:t>signifie que vous êtes en mode super utilisateur. c'est-à-dire que vous êtes connectés sous le pseudonyme « </a:t>
            </a:r>
            <a:r>
              <a:rPr lang="fr-FR" dirty="0" err="1"/>
              <a:t>root</a:t>
            </a:r>
            <a:r>
              <a:rPr lang="fr-FR" dirty="0"/>
              <a:t> ».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24</a:t>
            </a:fld>
            <a:endParaRPr lang="fr-FR" dirty="0"/>
          </a:p>
        </p:txBody>
      </p:sp>
      <p:sp>
        <p:nvSpPr>
          <p:cNvPr id="7" name="Titre 1"/>
          <p:cNvSpPr txBox="1">
            <a:spLocks/>
          </p:cNvSpPr>
          <p:nvPr/>
        </p:nvSpPr>
        <p:spPr>
          <a:xfrm>
            <a:off x="1839950" y="286603"/>
            <a:ext cx="9315729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/>
              <a:t>L'invite de commandes : Console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72104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25</a:t>
            </a:fld>
            <a:endParaRPr lang="fr-FR" dirty="0"/>
          </a:p>
        </p:txBody>
      </p:sp>
      <p:pic>
        <p:nvPicPr>
          <p:cNvPr id="1026" name="Picture 2" descr="Terminal de Unity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6976" y="1894027"/>
            <a:ext cx="6285507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re 1"/>
          <p:cNvSpPr txBox="1">
            <a:spLocks/>
          </p:cNvSpPr>
          <p:nvPr/>
        </p:nvSpPr>
        <p:spPr>
          <a:xfrm>
            <a:off x="1839950" y="286603"/>
            <a:ext cx="9315729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/>
              <a:t>L'invite de commandes : Console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978795" y="2240926"/>
            <a:ext cx="3438659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alt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"/>
              </a:rPr>
              <a:t>Bonjour et bienvenue, vous êtes </a:t>
            </a:r>
            <a:r>
              <a:rPr lang="fr-FR" alt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mateo21</a:t>
            </a:r>
            <a:r>
              <a:rPr lang="fr-FR" alt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"/>
              </a:rPr>
              <a:t> sur la machine </a:t>
            </a:r>
            <a:r>
              <a:rPr lang="fr-FR" alt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mateo21-desktop</a:t>
            </a:r>
            <a:r>
              <a:rPr lang="fr-FR" alt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"/>
              </a:rPr>
              <a:t>. Vous vous trouvez actuellement dans votre dossier </a:t>
            </a:r>
            <a:r>
              <a:rPr lang="fr-FR" alt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home</a:t>
            </a:r>
            <a:r>
              <a:rPr lang="fr-FR" altLang="fr-FR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"/>
              </a:rPr>
              <a:t> et possédez des droits utilisateur limités</a:t>
            </a:r>
            <a:r>
              <a:rPr lang="fr-FR" altLang="fr-FR" sz="16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lang="fr-FR" altLang="fr-FR" sz="2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</a:endParaRPr>
          </a:p>
          <a:p>
            <a:endParaRPr lang="fr-FR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25208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98500" y="286603"/>
            <a:ext cx="8657179" cy="1450757"/>
          </a:xfrm>
        </p:spPr>
        <p:txBody>
          <a:bodyPr/>
          <a:lstStyle/>
          <a:p>
            <a:r>
              <a:rPr lang="fr-FR"/>
              <a:t>Commandes et paramètres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On travaille dans la console en tapant ce qu'on appelle des </a:t>
            </a:r>
            <a:r>
              <a:rPr lang="fr-FR" b="1"/>
              <a:t>commandes</a:t>
            </a:r>
            <a:r>
              <a:rPr lang="fr-FR"/>
              <a:t>. Ces dernières étant nombreuses, vous ne pourrez jamais toutes les connaître… et ce n'est pas le but : le but, c'est que vous sachiez vous servir par cœur de la plupart des commandes « courantes » et, pour les moins courantes, que vous soyez capables d'apprendre à vous en servir en lisant leur </a:t>
            </a:r>
            <a:r>
              <a:rPr lang="fr-FR" b="1"/>
              <a:t>manuel d'utilisation</a:t>
            </a:r>
            <a:r>
              <a:rPr lang="fr-FR"/>
              <a:t>.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74457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88888" y="286603"/>
            <a:ext cx="8066792" cy="1450757"/>
          </a:xfrm>
        </p:spPr>
        <p:txBody>
          <a:bodyPr/>
          <a:lstStyle/>
          <a:p>
            <a:r>
              <a:rPr lang="fr-FR" dirty="0"/>
              <a:t>Entrer une commande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86129" y="2059836"/>
            <a:ext cx="9697100" cy="310854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fr-FR" sz="1800" b="1" dirty="0" err="1"/>
              <a:t>user@mycomputer</a:t>
            </a:r>
            <a:r>
              <a:rPr lang="fr-FR" sz="1800" b="1" dirty="0"/>
              <a:t>:~$ </a:t>
            </a:r>
            <a:r>
              <a:rPr lang="fr-FR" sz="1800" b="1" dirty="0">
                <a:solidFill>
                  <a:srgbClr val="00B050"/>
                </a:solidFill>
              </a:rPr>
              <a:t>commande</a:t>
            </a:r>
            <a:r>
              <a:rPr lang="fr-FR" sz="1800" b="1" dirty="0"/>
              <a:t> </a:t>
            </a:r>
            <a:r>
              <a:rPr lang="fr-FR" sz="1800" b="1" dirty="0">
                <a:solidFill>
                  <a:srgbClr val="FF0000"/>
                </a:solidFill>
              </a:rPr>
              <a:t>paramètre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  <a:tabLst/>
            </a:pPr>
            <a:endParaRPr lang="fr-FR" altLang="fr-FR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  <a:tabLst/>
            </a:pPr>
            <a:r>
              <a:rPr lang="fr-FR" altLang="fr-FR" dirty="0"/>
              <a:t>On rentre des </a:t>
            </a:r>
            <a:r>
              <a:rPr lang="fr-FR" altLang="fr-FR" b="1" dirty="0"/>
              <a:t>commandes</a:t>
            </a:r>
            <a:r>
              <a:rPr lang="fr-FR" altLang="fr-FR" dirty="0"/>
              <a:t> dans la console pour demander à l'ordinateur d'exécuter des actions.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  <a:tabLst/>
            </a:pPr>
            <a:r>
              <a:rPr lang="fr-FR" altLang="fr-FR" dirty="0"/>
              <a:t>Chaque commande peut être complétée de paramètres qui agissent comme des options pour modifier l'action de la commande.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  <a:tabLst/>
            </a:pPr>
            <a:r>
              <a:rPr lang="fr-FR" altLang="fr-FR" dirty="0"/>
              <a:t>Les paramètres sont généralement constitués d'une lettre précédée d'un tiret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fr-FR" dirty="0" err="1">
                <a:solidFill>
                  <a:srgbClr val="FF0000"/>
                </a:solidFill>
              </a:rPr>
              <a:t>A</a:t>
            </a:r>
            <a:r>
              <a:rPr lang="fr-FR" b="1" dirty="0" err="1">
                <a:solidFill>
                  <a:srgbClr val="FF0000"/>
                </a:solidFill>
              </a:rPr>
              <a:t>utocomplétion</a:t>
            </a:r>
            <a:r>
              <a:rPr lang="fr-FR" b="1" dirty="0">
                <a:solidFill>
                  <a:srgbClr val="FF0000"/>
                </a:solidFill>
              </a:rPr>
              <a:t> </a:t>
            </a:r>
            <a:r>
              <a:rPr lang="fr-FR" b="1" dirty="0"/>
              <a:t>: </a:t>
            </a:r>
            <a:r>
              <a:rPr lang="fr-FR" dirty="0"/>
              <a:t>Après avoir saisi les premières lettres d'une commande, on peut compléter son nom à l'aide de la </a:t>
            </a:r>
            <a:r>
              <a:rPr lang="fr-FR" b="1" dirty="0"/>
              <a:t>touche Tabulation </a:t>
            </a:r>
            <a:endParaRPr lang="fr-FR" altLang="fr-FR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27</a:t>
            </a:fld>
            <a:endParaRPr lang="fr-FR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005135" y="4594303"/>
            <a:ext cx="875949" cy="74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866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45476" y="286603"/>
            <a:ext cx="7910204" cy="1450757"/>
          </a:xfrm>
        </p:spPr>
        <p:txBody>
          <a:bodyPr/>
          <a:lstStyle/>
          <a:p>
            <a:r>
              <a:rPr lang="fr-FR"/>
              <a:t>Entrer une commande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mateo21@mateo21-desktop:~$ </a:t>
            </a:r>
            <a:r>
              <a:rPr lang="fr-FR" dirty="0">
                <a:solidFill>
                  <a:srgbClr val="FF0000"/>
                </a:solidFill>
              </a:rPr>
              <a:t>date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fr-FR" dirty="0">
                <a:solidFill>
                  <a:srgbClr val="C00000"/>
                </a:solidFill>
              </a:rPr>
              <a:t>lundi 23 septembre 2019, 8:39:51 (UTC+0100)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La première ligne contient l'invite de commandes suivie de la commande que j'ai tapée.</a:t>
            </a:r>
            <a:br>
              <a:rPr lang="fr-FR" dirty="0"/>
            </a:br>
            <a:r>
              <a:rPr lang="fr-FR" dirty="0"/>
              <a:t>La seconde ligne est la réponse de l'ordinateur à cette commande.</a:t>
            </a:r>
          </a:p>
          <a:p>
            <a:pPr marL="0" indent="0">
              <a:buNone/>
            </a:pPr>
            <a:endParaRPr lang="fr-FR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28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26488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38670" y="286603"/>
            <a:ext cx="6017010" cy="1450757"/>
          </a:xfrm>
        </p:spPr>
        <p:txBody>
          <a:bodyPr/>
          <a:lstStyle/>
          <a:p>
            <a:r>
              <a:rPr lang="fr-FR"/>
              <a:t>Résumé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29</a:t>
            </a:fld>
            <a:endParaRPr lang="fr-FR" dirty="0"/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33582" y="2115909"/>
            <a:ext cx="11566497" cy="33239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fr-FR" altLang="fr-FR"/>
              <a:t>La console affiche une </a:t>
            </a:r>
            <a:r>
              <a:rPr lang="fr-FR" altLang="fr-FR" b="1"/>
              <a:t>invite de commandes </a:t>
            </a:r>
            <a:r>
              <a:rPr lang="fr-FR" altLang="fr-FR"/>
              <a:t>au début de la ligne. Cette invite rappelle votre nom d'utilisateur, le nom de la machine ainsi que le dossier dans lequel vous vous trouvez.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fr-FR" altLang="fr-FR"/>
              <a:t>On rentre </a:t>
            </a:r>
            <a:r>
              <a:rPr lang="fr-FR" altLang="fr-FR" b="1"/>
              <a:t>des commandes</a:t>
            </a:r>
            <a:r>
              <a:rPr lang="fr-FR" altLang="fr-FR"/>
              <a:t> dans la console pour demander à l'ordinateur d'exécuter des actions.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fr-FR" altLang="fr-FR"/>
              <a:t>Chaque commande peut être complétée de </a:t>
            </a:r>
            <a:r>
              <a:rPr lang="fr-FR" altLang="fr-FR" b="1"/>
              <a:t>paramètres</a:t>
            </a:r>
            <a:r>
              <a:rPr lang="fr-FR" altLang="fr-FR"/>
              <a:t> qui agissent comme des options pour modifier l'action de la commande.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fr-FR" altLang="fr-FR" b="1"/>
              <a:t>Les paramètres </a:t>
            </a:r>
            <a:r>
              <a:rPr lang="fr-FR" altLang="fr-FR"/>
              <a:t>sont généralement constitués d'une lettre précédée </a:t>
            </a:r>
            <a:r>
              <a:rPr lang="fr-FR" altLang="fr-FR" b="1"/>
              <a:t>d'un tiret (-a) </a:t>
            </a:r>
            <a:r>
              <a:rPr lang="fr-FR" altLang="fr-FR"/>
              <a:t>ou de plusieurs lettres précédées de </a:t>
            </a:r>
            <a:r>
              <a:rPr lang="fr-FR" altLang="fr-FR" b="1"/>
              <a:t>deux tirets (--all).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fr-FR" altLang="fr-FR"/>
              <a:t>Après avoir saisi les premières lettres d'une commande, on peut compléter son nom à l'aide de la touche </a:t>
            </a:r>
            <a:r>
              <a:rPr lang="fr-FR" altLang="fr-FR" b="1"/>
              <a:t>Tabulation</a:t>
            </a:r>
            <a:r>
              <a:rPr lang="fr-FR" altLang="fr-FR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00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141034" y="286603"/>
            <a:ext cx="8441473" cy="1450757"/>
          </a:xfrm>
        </p:spPr>
        <p:txBody>
          <a:bodyPr/>
          <a:lstStyle/>
          <a:p>
            <a:r>
              <a:rPr lang="fr-FR" b="1" dirty="0"/>
              <a:t>La structure des dossiers et fichiers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b="1" u="sng" dirty="0"/>
              <a:t>Organisation des dossiers : </a:t>
            </a:r>
          </a:p>
          <a:p>
            <a:endParaRPr lang="fr-FR" b="1" u="sng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fr-FR" altLang="fr-FR" dirty="0"/>
              <a:t>Le système qui gère les fichiers sous Linux est un peu déroutant au début, surtout quand on est habitué à celui de Windows. En effet, ici vous ne trouverez pas de</a:t>
            </a:r>
            <a:r>
              <a:rPr lang="fr-FR" altLang="fr-FR" b="1" dirty="0"/>
              <a:t> C:\ D:\ </a:t>
            </a:r>
            <a:r>
              <a:rPr lang="fr-FR" altLang="fr-FR" dirty="0"/>
              <a:t>Les fichiers sont organisés d'une manière complètement différente.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fr-FR" altLang="fr-FR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fr-FR" dirty="0"/>
              <a:t>Dans un système de fichiers, il y a toujours ce qu'on appelle </a:t>
            </a:r>
            <a:r>
              <a:rPr lang="fr-FR" sz="2400" b="1" dirty="0">
                <a:solidFill>
                  <a:srgbClr val="FF0000"/>
                </a:solidFill>
              </a:rPr>
              <a:t>une racine</a:t>
            </a:r>
            <a:r>
              <a:rPr lang="fr-FR" dirty="0"/>
              <a:t>, c'est-à-dire un « </a:t>
            </a:r>
            <a:r>
              <a:rPr lang="fr-FR" b="1" dirty="0"/>
              <a:t>gros dossier de base qui contient tous les autres dossiers et fichiers</a:t>
            </a:r>
            <a:r>
              <a:rPr lang="fr-FR" dirty="0"/>
              <a:t> ».</a:t>
            </a:r>
            <a:endParaRPr lang="fr-FR" altLang="fr-FR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alt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30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49975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21982" y="286603"/>
            <a:ext cx="9133697" cy="1450757"/>
          </a:xfrm>
        </p:spPr>
        <p:txBody>
          <a:bodyPr/>
          <a:lstStyle/>
          <a:p>
            <a:r>
              <a:rPr lang="fr-FR" b="1"/>
              <a:t>La structure des dossiers et fichiers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u="sng"/>
              <a:t>Deux types de fichiers</a:t>
            </a:r>
          </a:p>
          <a:p>
            <a:r>
              <a:rPr lang="fr-FR"/>
              <a:t>il existe deux grands types de fichiers sous Linux 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b="1"/>
              <a:t>les fichiers classiques</a:t>
            </a:r>
            <a:r>
              <a:rPr lang="fr-FR"/>
              <a:t> : ce sont les fichiers que vous connaissez, ça comprend les fichiers texte , les fichiers sons, les programmes….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b="1"/>
              <a:t>les fichiers spéciaux</a:t>
            </a:r>
            <a:r>
              <a:rPr lang="fr-FR"/>
              <a:t> : certains autres fichiers sont spéciaux car ils </a:t>
            </a:r>
            <a:r>
              <a:rPr lang="fr-FR" b="1"/>
              <a:t>représentent </a:t>
            </a:r>
            <a:r>
              <a:rPr lang="fr-FR"/>
              <a:t>quelque chose. Par exemple, votre lecteur CD est un fichier pour Linux.</a:t>
            </a:r>
          </a:p>
          <a:p>
            <a:r>
              <a:rPr lang="fr-FR"/>
              <a:t>Linux considère que </a:t>
            </a:r>
            <a:r>
              <a:rPr lang="fr-FR" b="1"/>
              <a:t>tout est un fichier</a:t>
            </a:r>
            <a:r>
              <a:rPr lang="fr-FR"/>
              <a:t>.</a:t>
            </a:r>
          </a:p>
          <a:p>
            <a:r>
              <a:rPr lang="fr-FR"/>
              <a:t>Sous Linux, </a:t>
            </a:r>
            <a:r>
              <a:rPr lang="fr-FR" b="1"/>
              <a:t>il n'y a qu'une et une seule racine</a:t>
            </a:r>
            <a:r>
              <a:rPr lang="fr-FR"/>
              <a:t> : « / »,  gros dossier de base qui contient tous les autres dossiers et fichiers.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31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31520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943922" y="286603"/>
            <a:ext cx="8211758" cy="1450757"/>
          </a:xfrm>
        </p:spPr>
        <p:txBody>
          <a:bodyPr/>
          <a:lstStyle/>
          <a:p>
            <a:r>
              <a:rPr lang="fr-FR" b="1" dirty="0"/>
              <a:t>Les dossiers de la racine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979549"/>
            <a:ext cx="6998505" cy="4023360"/>
          </a:xfrm>
        </p:spPr>
        <p:txBody>
          <a:bodyPr>
            <a:normAutofit fontScale="92500" lnSpcReduction="20000"/>
          </a:bodyPr>
          <a:lstStyle/>
          <a:p>
            <a:r>
              <a:rPr lang="fr-FR" b="1" dirty="0"/>
              <a:t>bin</a:t>
            </a:r>
            <a:r>
              <a:rPr lang="fr-FR" dirty="0"/>
              <a:t> : contient des programmes (exécutables) susceptibles d'être utilisés par tous les utilisateurs de la machine.</a:t>
            </a:r>
          </a:p>
          <a:p>
            <a:r>
              <a:rPr lang="fr-FR" b="1" dirty="0"/>
              <a:t>boot</a:t>
            </a:r>
            <a:r>
              <a:rPr lang="fr-FR" dirty="0"/>
              <a:t> : fichiers permettant le démarrage de Linux.</a:t>
            </a:r>
          </a:p>
          <a:p>
            <a:r>
              <a:rPr lang="fr-FR" b="1" dirty="0" err="1"/>
              <a:t>dev</a:t>
            </a:r>
            <a:r>
              <a:rPr lang="fr-FR" dirty="0"/>
              <a:t> : fichiers contenant les périphériques. exemple le fichier qui représente le lecteur CD.</a:t>
            </a:r>
          </a:p>
          <a:p>
            <a:r>
              <a:rPr lang="fr-FR" b="1" dirty="0" err="1"/>
              <a:t>etc</a:t>
            </a:r>
            <a:r>
              <a:rPr lang="fr-FR" dirty="0"/>
              <a:t> : fichiers de configuration.</a:t>
            </a:r>
          </a:p>
          <a:p>
            <a:r>
              <a:rPr lang="fr-FR" b="1" dirty="0"/>
              <a:t>home</a:t>
            </a:r>
            <a:r>
              <a:rPr lang="fr-FR" dirty="0"/>
              <a:t> : répertoires personnels des utilisateurs. On en a déjà parlé un peu avant : c'est dans ce dossier que vous placerez vos fichiers personnels Mes documents sous Windows</a:t>
            </a:r>
          </a:p>
          <a:p>
            <a:r>
              <a:rPr lang="fr-FR" altLang="fr-FR" sz="2100" b="1" dirty="0"/>
              <a:t>lib : </a:t>
            </a:r>
            <a:r>
              <a:rPr lang="fr-FR" altLang="fr-FR" sz="2100" dirty="0"/>
              <a:t>dossier contenant les bibliothèques partagées (généralement des fichiers.so) utilisées par les programmes. C'est en fait là qu'on trouve l'équivalent </a:t>
            </a:r>
            <a:r>
              <a:rPr lang="fr-FR" altLang="fr-FR" sz="2100" dirty="0" err="1"/>
              <a:t>des.dllde</a:t>
            </a:r>
            <a:r>
              <a:rPr lang="fr-FR" altLang="fr-FR" sz="2100" dirty="0"/>
              <a:t> Windows. </a:t>
            </a:r>
          </a:p>
          <a:p>
            <a:r>
              <a:rPr lang="fr-FR" sz="2100" b="1" dirty="0"/>
              <a:t>var : </a:t>
            </a:r>
            <a:r>
              <a:rPr lang="fr-FR" sz="2100" dirty="0"/>
              <a:t>ce dossier contient des données « variables », souvent des logs</a:t>
            </a:r>
            <a:endParaRPr lang="fr-FR" altLang="fr-FR" sz="2100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32</a:t>
            </a:fld>
            <a:endParaRPr lang="fr-FR" dirty="0"/>
          </a:p>
        </p:txBody>
      </p:sp>
      <p:pic>
        <p:nvPicPr>
          <p:cNvPr id="14340" name="Picture 4" descr="Organisation des dossiers de Linu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057" y="1845734"/>
            <a:ext cx="3267849" cy="3669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8586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             </a:t>
            </a:r>
            <a:r>
              <a:rPr lang="fr-FR" b="1" dirty="0" err="1"/>
              <a:t>pwd</a:t>
            </a:r>
            <a:r>
              <a:rPr lang="fr-FR" b="1" dirty="0"/>
              <a:t> &amp; </a:t>
            </a:r>
            <a:r>
              <a:rPr lang="fr-FR" b="1" dirty="0" err="1"/>
              <a:t>which</a:t>
            </a:r>
            <a:r>
              <a:rPr lang="fr-FR" b="1" dirty="0"/>
              <a:t> : où suis-je 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79" y="1845734"/>
            <a:ext cx="5169705" cy="4275240"/>
          </a:xfrm>
        </p:spPr>
        <p:txBody>
          <a:bodyPr/>
          <a:lstStyle/>
          <a:p>
            <a:r>
              <a:rPr lang="fr-FR" b="1" dirty="0" err="1">
                <a:solidFill>
                  <a:srgbClr val="FF0000"/>
                </a:solidFill>
              </a:rPr>
              <a:t>Pwd</a:t>
            </a:r>
            <a:r>
              <a:rPr lang="fr-FR" b="1" dirty="0">
                <a:solidFill>
                  <a:srgbClr val="FF0000"/>
                </a:solidFill>
              </a:rPr>
              <a:t> </a:t>
            </a:r>
            <a:r>
              <a:rPr lang="fr-FR" b="1" dirty="0">
                <a:solidFill>
                  <a:schemeClr val="tx1"/>
                </a:solidFill>
              </a:rPr>
              <a:t>: afficher le dossier actuel</a:t>
            </a:r>
            <a:endParaRPr lang="fr-FR" dirty="0">
              <a:solidFill>
                <a:schemeClr val="tx1"/>
              </a:solidFill>
            </a:endParaRPr>
          </a:p>
          <a:p>
            <a:r>
              <a:rPr lang="fr-FR" dirty="0"/>
              <a:t>mateo21@mateo21-desktop:~$ </a:t>
            </a:r>
            <a:r>
              <a:rPr lang="fr-FR" b="1" dirty="0" err="1">
                <a:solidFill>
                  <a:srgbClr val="FF0000"/>
                </a:solidFill>
              </a:rPr>
              <a:t>pwd</a:t>
            </a:r>
            <a:endParaRPr lang="fr-FR" b="1" dirty="0">
              <a:solidFill>
                <a:srgbClr val="FF0000"/>
              </a:solidFill>
            </a:endParaRPr>
          </a:p>
          <a:p>
            <a:r>
              <a:rPr lang="fr-FR" dirty="0"/>
              <a:t> /home/mateo21</a:t>
            </a:r>
          </a:p>
          <a:p>
            <a:endParaRPr lang="fr-FR" dirty="0"/>
          </a:p>
          <a:p>
            <a:r>
              <a:rPr lang="fr-FR" b="1" dirty="0" err="1">
                <a:solidFill>
                  <a:srgbClr val="FF0000"/>
                </a:solidFill>
              </a:rPr>
              <a:t>Which</a:t>
            </a:r>
            <a:r>
              <a:rPr lang="fr-FR" b="1" dirty="0">
                <a:solidFill>
                  <a:srgbClr val="FF0000"/>
                </a:solidFill>
              </a:rPr>
              <a:t> </a:t>
            </a:r>
            <a:r>
              <a:rPr lang="fr-FR" b="1" dirty="0"/>
              <a:t>: connaître l'emplacement d'une commande</a:t>
            </a:r>
          </a:p>
          <a:p>
            <a:r>
              <a:rPr lang="fr-FR" dirty="0"/>
              <a:t>mateo21@mateo21-desktop:~$ </a:t>
            </a:r>
            <a:r>
              <a:rPr lang="fr-FR" dirty="0" err="1"/>
              <a:t>which</a:t>
            </a:r>
            <a:r>
              <a:rPr lang="fr-FR" dirty="0"/>
              <a:t> </a:t>
            </a:r>
            <a:r>
              <a:rPr lang="fr-FR" dirty="0" err="1"/>
              <a:t>pwd</a:t>
            </a:r>
            <a:r>
              <a:rPr lang="fr-FR" dirty="0"/>
              <a:t> </a:t>
            </a:r>
          </a:p>
          <a:p>
            <a:r>
              <a:rPr lang="fr-FR" dirty="0"/>
              <a:t>/bin/</a:t>
            </a:r>
            <a:r>
              <a:rPr lang="fr-FR" dirty="0" err="1"/>
              <a:t>pwd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33</a:t>
            </a:fld>
            <a:endParaRPr lang="fr-FR" dirty="0"/>
          </a:p>
        </p:txBody>
      </p:sp>
      <p:pic>
        <p:nvPicPr>
          <p:cNvPr id="15364" name="Picture 4" descr="Dossier /home/mateo2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4546" y="1987194"/>
            <a:ext cx="3091134" cy="4133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9619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         </a:t>
            </a:r>
            <a:r>
              <a:rPr lang="fr-FR" b="1" dirty="0" err="1"/>
              <a:t>ls</a:t>
            </a:r>
            <a:r>
              <a:rPr lang="fr-FR" b="1" dirty="0"/>
              <a:t> : lister les fichiers et dossiers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845734"/>
            <a:ext cx="4534086" cy="4023360"/>
          </a:xfrm>
        </p:spPr>
        <p:txBody>
          <a:bodyPr/>
          <a:lstStyle/>
          <a:p>
            <a:r>
              <a:rPr lang="fr-FR" b="1"/>
              <a:t>user@MyComputer:~$ </a:t>
            </a:r>
            <a:r>
              <a:rPr lang="fr-FR" b="1" dirty="0" err="1"/>
              <a:t>ls</a:t>
            </a:r>
            <a:endParaRPr lang="fr-FR" b="1" dirty="0"/>
          </a:p>
          <a:p>
            <a:r>
              <a:rPr lang="fr-FR" dirty="0"/>
              <a:t>Bureau  Documents  Images  Modèles  Musique  Public  Téléchargements  Vidéos</a:t>
            </a:r>
          </a:p>
          <a:p>
            <a:r>
              <a:rPr lang="fr-FR" b="1" dirty="0"/>
              <a:t>-a : </a:t>
            </a:r>
            <a:r>
              <a:rPr lang="fr-FR" dirty="0"/>
              <a:t>afficher tous les fichiers et dossiers cachés</a:t>
            </a:r>
          </a:p>
          <a:p>
            <a:r>
              <a:rPr lang="fr-FR" b="1" dirty="0"/>
              <a:t>-l : </a:t>
            </a:r>
            <a:r>
              <a:rPr lang="fr-FR" dirty="0"/>
              <a:t>liste détaillée</a:t>
            </a:r>
          </a:p>
          <a:p>
            <a:r>
              <a:rPr lang="fr-FR" b="1" dirty="0"/>
              <a:t>-</a:t>
            </a:r>
            <a:r>
              <a:rPr lang="fr-FR" b="1" dirty="0" err="1"/>
              <a:t>lh</a:t>
            </a:r>
            <a:r>
              <a:rPr lang="fr-FR" b="1" dirty="0"/>
              <a:t> : </a:t>
            </a:r>
            <a:r>
              <a:rPr lang="fr-FR" dirty="0"/>
              <a:t>afficher la taille en Ko, Mo, Go…</a:t>
            </a:r>
          </a:p>
          <a:p>
            <a:r>
              <a:rPr lang="fr-FR" b="1" dirty="0"/>
              <a:t>-t : </a:t>
            </a:r>
            <a:r>
              <a:rPr lang="fr-FR" dirty="0"/>
              <a:t>trier par date de dernière modification</a:t>
            </a: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34</a:t>
            </a:fld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648" y="1925270"/>
            <a:ext cx="5952381" cy="933333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648" y="3095509"/>
            <a:ext cx="4914286" cy="152381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2648" y="4760270"/>
            <a:ext cx="4657143" cy="14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756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                  cd: changer de dossier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845734"/>
            <a:ext cx="6251374" cy="4023360"/>
          </a:xfrm>
        </p:spPr>
        <p:txBody>
          <a:bodyPr/>
          <a:lstStyle/>
          <a:p>
            <a:r>
              <a:rPr lang="fr-FR" dirty="0"/>
              <a:t>Cd : abréviation de </a:t>
            </a:r>
            <a:r>
              <a:rPr lang="fr-FR" i="1" dirty="0"/>
              <a:t>Change Directory  </a:t>
            </a:r>
            <a:r>
              <a:rPr lang="fr-FR" dirty="0"/>
              <a:t>(changer de dossier).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35</a:t>
            </a:fld>
            <a:endParaRPr lang="fr-FR" dirty="0"/>
          </a:p>
        </p:txBody>
      </p:sp>
      <p:pic>
        <p:nvPicPr>
          <p:cNvPr id="16386" name="Picture 2" descr="Illustration de la commande c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6443" y="1845734"/>
            <a:ext cx="4381500" cy="2695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 descr="Retour au dossier paren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079" y="3529864"/>
            <a:ext cx="4248150" cy="2695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5816" y="5345284"/>
            <a:ext cx="3390476" cy="52381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4050" y="2626428"/>
            <a:ext cx="3285714" cy="5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541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                  cd: changer de dossier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845734"/>
            <a:ext cx="10583858" cy="4023360"/>
          </a:xfrm>
        </p:spPr>
        <p:txBody>
          <a:bodyPr/>
          <a:lstStyle/>
          <a:p>
            <a:r>
              <a:rPr lang="fr-FR" dirty="0"/>
              <a:t>Exemples d'utilisation :</a:t>
            </a:r>
          </a:p>
          <a:p>
            <a:pPr lvl="1"/>
            <a:r>
              <a:rPr lang="fr-FR" sz="2000" b="1" dirty="0"/>
              <a:t>cd</a:t>
            </a:r>
            <a:r>
              <a:rPr lang="fr-FR" sz="2000" dirty="0"/>
              <a:t/>
            </a:r>
            <a:br>
              <a:rPr lang="fr-FR" sz="2000" dirty="0"/>
            </a:br>
            <a:r>
              <a:rPr lang="fr-FR" sz="2000" dirty="0"/>
              <a:t>permet de revenir au répertoire /home/utilisateur (identique à cd ~)</a:t>
            </a:r>
          </a:p>
          <a:p>
            <a:pPr lvl="1"/>
            <a:r>
              <a:rPr lang="fr-FR" sz="2000" b="1" dirty="0"/>
              <a:t>cd -</a:t>
            </a:r>
            <a:r>
              <a:rPr lang="fr-FR" sz="2000" dirty="0"/>
              <a:t/>
            </a:r>
            <a:br>
              <a:rPr lang="fr-FR" sz="2000" dirty="0"/>
            </a:br>
            <a:r>
              <a:rPr lang="fr-FR" sz="2000" dirty="0"/>
              <a:t>permet de revenir au répertoire précédent</a:t>
            </a:r>
          </a:p>
          <a:p>
            <a:pPr lvl="1"/>
            <a:r>
              <a:rPr lang="fr-FR" sz="2000" b="1" dirty="0"/>
              <a:t>cd ..</a:t>
            </a:r>
            <a:r>
              <a:rPr lang="fr-FR" sz="2000" dirty="0"/>
              <a:t/>
            </a:r>
            <a:br>
              <a:rPr lang="fr-FR" sz="2000" dirty="0"/>
            </a:br>
            <a:r>
              <a:rPr lang="fr-FR" sz="2000" dirty="0"/>
              <a:t>permet de remonter au répertoire parent (</a:t>
            </a:r>
            <a:r>
              <a:rPr lang="fr-FR" sz="2000" dirty="0">
                <a:solidFill>
                  <a:srgbClr val="FF0000"/>
                </a:solidFill>
              </a:rPr>
              <a:t>ne pas oublier l'espace contrairement à </a:t>
            </a:r>
            <a:r>
              <a:rPr lang="fr-FR" sz="2000" dirty="0" err="1">
                <a:solidFill>
                  <a:srgbClr val="FF0000"/>
                </a:solidFill>
              </a:rPr>
              <a:t>windows</a:t>
            </a:r>
            <a:r>
              <a:rPr lang="fr-FR" sz="2000" dirty="0"/>
              <a:t>)</a:t>
            </a:r>
          </a:p>
          <a:p>
            <a:pPr lvl="1"/>
            <a:r>
              <a:rPr lang="fr-FR" sz="2000" b="1" dirty="0"/>
              <a:t>cd /</a:t>
            </a:r>
            <a:r>
              <a:rPr lang="fr-FR" sz="2000" dirty="0"/>
              <a:t/>
            </a:r>
            <a:br>
              <a:rPr lang="fr-FR" sz="2000" dirty="0"/>
            </a:br>
            <a:r>
              <a:rPr lang="fr-FR" sz="2000" dirty="0"/>
              <a:t>permet de remonter à la racine de l'ensemble du système de fichiers</a:t>
            </a:r>
          </a:p>
          <a:p>
            <a:pPr lvl="1"/>
            <a:r>
              <a:rPr lang="fr-FR" sz="2000" b="1" dirty="0"/>
              <a:t>cd /</a:t>
            </a:r>
            <a:r>
              <a:rPr lang="fr-FR" sz="2000" b="1" dirty="0" err="1"/>
              <a:t>usr</a:t>
            </a:r>
            <a:r>
              <a:rPr lang="fr-FR" sz="2000" b="1" dirty="0"/>
              <a:t>/bin/ ou </a:t>
            </a:r>
            <a:r>
              <a:rPr lang="fr-FR" sz="2000" b="1" dirty="0" err="1"/>
              <a:t>usr</a:t>
            </a:r>
            <a:r>
              <a:rPr lang="fr-FR" sz="2000" b="1" dirty="0"/>
              <a:t>/bin</a:t>
            </a:r>
            <a:r>
              <a:rPr lang="fr-FR" sz="2000" dirty="0"/>
              <a:t/>
            </a:r>
            <a:br>
              <a:rPr lang="fr-FR" sz="2000" dirty="0"/>
            </a:br>
            <a:r>
              <a:rPr lang="fr-FR" sz="2000" dirty="0"/>
              <a:t>se place dans le répertoire /</a:t>
            </a:r>
            <a:r>
              <a:rPr lang="fr-FR" sz="2000" dirty="0" err="1"/>
              <a:t>usr</a:t>
            </a:r>
            <a:r>
              <a:rPr lang="fr-FR" sz="2000" dirty="0"/>
              <a:t>/bin/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36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53779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                  cd: changer de dossier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845734"/>
            <a:ext cx="10583858" cy="4023360"/>
          </a:xfrm>
        </p:spPr>
        <p:txBody>
          <a:bodyPr/>
          <a:lstStyle/>
          <a:p>
            <a:r>
              <a:rPr lang="fr-FR" b="1" dirty="0" smtClean="0">
                <a:solidFill>
                  <a:srgbClr val="FF0000"/>
                </a:solidFill>
              </a:rPr>
              <a:t>Man</a:t>
            </a:r>
          </a:p>
          <a:p>
            <a:pPr lvl="2"/>
            <a:r>
              <a:rPr lang="fr-FR" sz="2400" dirty="0"/>
              <a:t>Équivalent Windows : help</a:t>
            </a:r>
          </a:p>
          <a:p>
            <a:pPr lvl="2"/>
            <a:r>
              <a:rPr lang="fr-FR" sz="2400" dirty="0"/>
              <a:t>Signification : </a:t>
            </a:r>
            <a:r>
              <a:rPr lang="fr-FR" sz="2400" i="1" dirty="0" err="1"/>
              <a:t>manual</a:t>
            </a:r>
            <a:endParaRPr lang="fr-FR" sz="2400" dirty="0"/>
          </a:p>
          <a:p>
            <a:pPr lvl="2"/>
            <a:r>
              <a:rPr lang="fr-FR" sz="2400" dirty="0"/>
              <a:t>Affiche les pages du manuel système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37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74879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816698" y="286603"/>
            <a:ext cx="6338981" cy="1450757"/>
          </a:xfrm>
        </p:spPr>
        <p:txBody>
          <a:bodyPr>
            <a:normAutofit/>
          </a:bodyPr>
          <a:lstStyle/>
          <a:p>
            <a:r>
              <a:rPr lang="fr-FR" b="1"/>
              <a:t>Résumé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38</a:t>
            </a:fld>
            <a:endParaRPr lang="fr-FR" dirty="0"/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509318" y="2205746"/>
            <a:ext cx="9646362" cy="37856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buFont typeface="Wingdings" panose="05000000000000000000" pitchFamily="2" charset="2"/>
              <a:buChar char="§"/>
              <a:tabLst/>
            </a:pPr>
            <a:r>
              <a:rPr lang="fr-FR" altLang="fr-FR"/>
              <a:t>Sous Linux, tout est organisé sous forme de fichiers. Il n'y a pas de lecteur du type </a:t>
            </a:r>
            <a:r>
              <a:rPr lang="fr-FR" altLang="fr-FR" b="1"/>
              <a:t>C: </a:t>
            </a:r>
            <a:r>
              <a:rPr lang="fr-FR" altLang="fr-FR"/>
              <a:t>comme sous Windows.</a:t>
            </a:r>
          </a:p>
          <a:p>
            <a:pPr marR="0" lvl="0" fontAlgn="base">
              <a:buFont typeface="Wingdings" panose="05000000000000000000" pitchFamily="2" charset="2"/>
              <a:buChar char="§"/>
              <a:tabLst/>
            </a:pPr>
            <a:r>
              <a:rPr lang="fr-FR" altLang="fr-FR"/>
              <a:t>Les dossiers sont imbriqués entre eux à partir du dossier parent principal </a:t>
            </a:r>
            <a:r>
              <a:rPr lang="fr-FR" altLang="fr-FR" b="1"/>
              <a:t>/</a:t>
            </a:r>
            <a:r>
              <a:rPr lang="fr-FR" altLang="fr-FR"/>
              <a:t>. On l'appelle la racine.</a:t>
            </a:r>
          </a:p>
          <a:p>
            <a:pPr marR="0" lvl="0" fontAlgn="base">
              <a:buFont typeface="Wingdings" panose="05000000000000000000" pitchFamily="2" charset="2"/>
              <a:buChar char="§"/>
              <a:tabLst/>
            </a:pPr>
            <a:r>
              <a:rPr lang="fr-FR" altLang="fr-FR"/>
              <a:t>Le dossier dans lequel les utilisateurs stockent leurs documents est/home. Si votre login est </a:t>
            </a:r>
            <a:r>
              <a:rPr lang="fr-FR" altLang="fr-FR" b="1"/>
              <a:t>Reda</a:t>
            </a:r>
            <a:r>
              <a:rPr lang="fr-FR" altLang="fr-FR"/>
              <a:t>, alors votre dossier personnel sera </a:t>
            </a:r>
            <a:r>
              <a:rPr lang="fr-FR" altLang="fr-FR" b="1"/>
              <a:t>/home/Reda.</a:t>
            </a:r>
          </a:p>
          <a:p>
            <a:pPr marR="0" lvl="0" fontAlgn="base">
              <a:buFont typeface="Wingdings" panose="05000000000000000000" pitchFamily="2" charset="2"/>
              <a:buChar char="§"/>
              <a:tabLst/>
            </a:pPr>
            <a:r>
              <a:rPr lang="fr-FR" altLang="fr-FR" b="1"/>
              <a:t>Pwd : </a:t>
            </a:r>
            <a:r>
              <a:rPr lang="fr-FR" altLang="fr-FR"/>
              <a:t>permet de savoir en console dans quel dossier on se situe.</a:t>
            </a:r>
          </a:p>
          <a:p>
            <a:pPr marR="0" lvl="0" fontAlgn="base">
              <a:buFont typeface="Wingdings" panose="05000000000000000000" pitchFamily="2" charset="2"/>
              <a:buChar char="§"/>
              <a:tabLst/>
            </a:pPr>
            <a:r>
              <a:rPr lang="fr-FR" altLang="fr-FR" b="1"/>
              <a:t>Ls  : </a:t>
            </a:r>
            <a:r>
              <a:rPr lang="fr-FR" altLang="fr-FR"/>
              <a:t>affiche la liste des fichiers présents dans le dossier actuel.</a:t>
            </a:r>
          </a:p>
          <a:p>
            <a:pPr marR="0" lvl="0" fontAlgn="base">
              <a:buFont typeface="Wingdings" panose="05000000000000000000" pitchFamily="2" charset="2"/>
              <a:buChar char="§"/>
              <a:tabLst/>
            </a:pPr>
            <a:r>
              <a:rPr lang="fr-FR" altLang="fr-FR" b="1"/>
              <a:t>Cd  : </a:t>
            </a:r>
            <a:r>
              <a:rPr lang="fr-FR" altLang="fr-FR"/>
              <a:t>permet de changer de dossier.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691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39617" y="286603"/>
            <a:ext cx="6891132" cy="1450757"/>
          </a:xfrm>
        </p:spPr>
        <p:txBody>
          <a:bodyPr>
            <a:normAutofit/>
          </a:bodyPr>
          <a:lstStyle/>
          <a:p>
            <a:r>
              <a:rPr lang="fr-FR" b="1" dirty="0" err="1"/>
              <a:t>touch</a:t>
            </a:r>
            <a:r>
              <a:rPr lang="fr-FR" b="1" dirty="0"/>
              <a:t> &amp; </a:t>
            </a:r>
            <a:r>
              <a:rPr lang="fr-FR" b="1" dirty="0" err="1"/>
              <a:t>mkdir</a:t>
            </a:r>
            <a:r>
              <a:rPr lang="fr-FR" b="1" dirty="0"/>
              <a:t> : créer des fichiers et dossiers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2332382"/>
            <a:ext cx="10058400" cy="3536711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La commande</a:t>
            </a:r>
            <a:r>
              <a:rPr lang="fr-FR" b="1" dirty="0"/>
              <a:t> </a:t>
            </a:r>
            <a:r>
              <a:rPr lang="fr-FR" b="1" dirty="0" err="1"/>
              <a:t>touch</a:t>
            </a:r>
            <a:r>
              <a:rPr lang="fr-FR" b="1" dirty="0"/>
              <a:t> </a:t>
            </a:r>
            <a:r>
              <a:rPr lang="fr-FR" dirty="0"/>
              <a:t>permet de créer un fichier vide.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dirty="0"/>
              <a:t>Exemple </a:t>
            </a:r>
            <a:r>
              <a:rPr lang="fr-FR" b="1" dirty="0"/>
              <a:t>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b="1" dirty="0" err="1"/>
              <a:t>user@mycomputer</a:t>
            </a:r>
            <a:r>
              <a:rPr lang="fr-FR" b="1" dirty="0"/>
              <a:t>:~$ </a:t>
            </a:r>
            <a:r>
              <a:rPr lang="fr-FR" b="1" dirty="0" err="1"/>
              <a:t>touch</a:t>
            </a:r>
            <a:r>
              <a:rPr lang="fr-FR" b="1" dirty="0"/>
              <a:t> </a:t>
            </a:r>
            <a:r>
              <a:rPr lang="fr-FR" b="1" dirty="0" err="1"/>
              <a:t>fichiervide</a:t>
            </a:r>
            <a:r>
              <a:rPr lang="fr-FR" b="1" dirty="0"/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La commande </a:t>
            </a:r>
            <a:r>
              <a:rPr lang="fr-FR" b="1" dirty="0" err="1"/>
              <a:t>mkdir</a:t>
            </a:r>
            <a:r>
              <a:rPr lang="fr-FR" b="1" dirty="0"/>
              <a:t> </a:t>
            </a:r>
            <a:r>
              <a:rPr lang="fr-FR" dirty="0"/>
              <a:t>permet de créer un dossier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dirty="0"/>
              <a:t>Exemples 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b="1" dirty="0" err="1"/>
              <a:t>user@mycomputer</a:t>
            </a:r>
            <a:r>
              <a:rPr lang="fr-FR" b="1" dirty="0"/>
              <a:t>:~$ </a:t>
            </a:r>
            <a:r>
              <a:rPr lang="fr-FR" b="1" dirty="0" err="1"/>
              <a:t>mkdir</a:t>
            </a:r>
            <a:r>
              <a:rPr lang="fr-FR" b="1" dirty="0"/>
              <a:t> </a:t>
            </a:r>
            <a:r>
              <a:rPr lang="fr-FR" b="1" dirty="0" err="1"/>
              <a:t>mondossier</a:t>
            </a:r>
            <a:endParaRPr lang="fr-FR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b="1" dirty="0" err="1" smtClean="0"/>
              <a:t>user@mycomputer</a:t>
            </a:r>
            <a:r>
              <a:rPr lang="fr-FR" b="1" dirty="0"/>
              <a:t>:~$ </a:t>
            </a:r>
            <a:r>
              <a:rPr lang="fr-FR" b="1" dirty="0" err="1"/>
              <a:t>mkdir</a:t>
            </a:r>
            <a:r>
              <a:rPr lang="fr-FR" b="1" dirty="0"/>
              <a:t> </a:t>
            </a:r>
            <a:r>
              <a:rPr lang="fr-FR" b="1" dirty="0">
                <a:solidFill>
                  <a:srgbClr val="FF0000"/>
                </a:solidFill>
              </a:rPr>
              <a:t>-p</a:t>
            </a:r>
            <a:r>
              <a:rPr lang="fr-FR" b="1" dirty="0"/>
              <a:t> animaux/</a:t>
            </a:r>
            <a:r>
              <a:rPr lang="fr-FR" b="1" dirty="0" err="1"/>
              <a:t>vertebres</a:t>
            </a:r>
            <a:r>
              <a:rPr lang="fr-FR" b="1" dirty="0"/>
              <a:t>/chat</a:t>
            </a:r>
          </a:p>
          <a:p>
            <a:pPr marL="1271400" lvl="7" indent="0">
              <a:buNone/>
            </a:pP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39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97228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          cat &amp; </a:t>
            </a:r>
            <a:r>
              <a:rPr lang="fr-FR" b="1" dirty="0" err="1"/>
              <a:t>less</a:t>
            </a:r>
            <a:r>
              <a:rPr lang="fr-FR" b="1" dirty="0"/>
              <a:t> : afficher un fichier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La commande</a:t>
            </a:r>
            <a:r>
              <a:rPr lang="fr-FR" b="1" dirty="0"/>
              <a:t> cat </a:t>
            </a:r>
            <a:r>
              <a:rPr lang="fr-FR" dirty="0"/>
              <a:t>permet d'afficher tout le contenu d'un fichier dans la console d'un coup.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dirty="0"/>
              <a:t>On notera quand même le paramètre </a:t>
            </a:r>
            <a:r>
              <a:rPr lang="fr-FR" b="1" dirty="0"/>
              <a:t>–n </a:t>
            </a:r>
            <a:r>
              <a:rPr lang="fr-FR" dirty="0"/>
              <a:t>qui permet d'afficher les numéros de ligne.</a:t>
            </a:r>
          </a:p>
          <a:p>
            <a:pPr marL="201168" lvl="1" indent="0">
              <a:buNone/>
            </a:pPr>
            <a:endParaRPr lang="fr-FR" sz="2000" dirty="0"/>
          </a:p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§"/>
            </a:pPr>
            <a:r>
              <a:rPr lang="fr-FR" sz="2000" dirty="0"/>
              <a:t>La commande </a:t>
            </a:r>
            <a:r>
              <a:rPr lang="fr-FR" sz="2000" b="1" dirty="0" err="1"/>
              <a:t>less</a:t>
            </a:r>
            <a:r>
              <a:rPr lang="fr-FR" sz="2000" dirty="0"/>
              <a:t> permet d’afficher le fichier page par page</a:t>
            </a:r>
          </a:p>
          <a:p>
            <a:pPr marL="274320" lvl="2" indent="-91440"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§"/>
            </a:pPr>
            <a:r>
              <a:rPr lang="fr-FR" altLang="fr-FR" sz="1800" dirty="0"/>
              <a:t>C'est là qu'une autre commande comme </a:t>
            </a:r>
            <a:r>
              <a:rPr lang="fr-FR" altLang="fr-FR" sz="1800" b="1" dirty="0" err="1"/>
              <a:t>less</a:t>
            </a:r>
            <a:r>
              <a:rPr lang="fr-FR" altLang="fr-FR" sz="1800" b="1" dirty="0"/>
              <a:t> </a:t>
            </a:r>
            <a:r>
              <a:rPr lang="fr-FR" altLang="fr-FR" sz="1800" dirty="0"/>
              <a:t>devient vraiment indispensable. La grosse différence entre </a:t>
            </a:r>
            <a:r>
              <a:rPr lang="fr-FR" altLang="fr-FR" sz="1800" b="1" dirty="0" err="1"/>
              <a:t>less</a:t>
            </a:r>
            <a:r>
              <a:rPr lang="fr-FR" altLang="fr-FR" sz="1800" dirty="0"/>
              <a:t> et </a:t>
            </a:r>
            <a:r>
              <a:rPr lang="fr-FR" altLang="fr-FR" sz="1800" b="1" dirty="0"/>
              <a:t>cat</a:t>
            </a:r>
            <a:r>
              <a:rPr lang="fr-FR" altLang="fr-FR" sz="1800" dirty="0"/>
              <a:t>, c'est que</a:t>
            </a:r>
            <a:r>
              <a:rPr lang="fr-FR" altLang="fr-FR" sz="1800" b="1" dirty="0"/>
              <a:t> </a:t>
            </a:r>
            <a:r>
              <a:rPr lang="fr-FR" altLang="fr-FR" sz="1800" b="1" dirty="0" err="1"/>
              <a:t>less</a:t>
            </a:r>
            <a:r>
              <a:rPr lang="fr-FR" altLang="fr-FR" sz="1800" b="1" dirty="0"/>
              <a:t> </a:t>
            </a:r>
            <a:r>
              <a:rPr lang="fr-FR" altLang="fr-FR" sz="1800" dirty="0"/>
              <a:t>affiche progressivement le contenu du fichier, page par page</a:t>
            </a:r>
            <a:endParaRPr lang="fr-FR" sz="1800" dirty="0"/>
          </a:p>
          <a:p>
            <a:pPr marL="201168" lvl="1" indent="0">
              <a:buNone/>
            </a:pPr>
            <a:endParaRPr lang="fr-FR" b="1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40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82722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38400" y="286603"/>
            <a:ext cx="7024914" cy="1450757"/>
          </a:xfrm>
        </p:spPr>
        <p:txBody>
          <a:bodyPr>
            <a:normAutofit/>
          </a:bodyPr>
          <a:lstStyle/>
          <a:p>
            <a:r>
              <a:rPr lang="fr-FR" b="1" dirty="0" err="1"/>
              <a:t>head</a:t>
            </a:r>
            <a:r>
              <a:rPr lang="fr-FR" b="1" dirty="0"/>
              <a:t> &amp; </a:t>
            </a:r>
            <a:r>
              <a:rPr lang="fr-FR" b="1" dirty="0" err="1"/>
              <a:t>tail</a:t>
            </a:r>
            <a:r>
              <a:rPr lang="fr-FR" b="1" dirty="0"/>
              <a:t> : afficher le début et la fin d'un fichier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18186" y="1845734"/>
            <a:ext cx="10537494" cy="402336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La commande </a:t>
            </a:r>
            <a:r>
              <a:rPr lang="fr-FR" b="1" dirty="0" err="1"/>
              <a:t>head</a:t>
            </a:r>
            <a:r>
              <a:rPr lang="fr-FR" dirty="0"/>
              <a:t> affiche seulement les premières lignes du fichier. Elle ne permet pas de se déplacer dans le fichier comme</a:t>
            </a:r>
            <a:r>
              <a:rPr lang="fr-FR" b="1" dirty="0"/>
              <a:t> </a:t>
            </a:r>
            <a:r>
              <a:rPr lang="fr-FR" b="1" dirty="0" err="1"/>
              <a:t>less</a:t>
            </a:r>
            <a:r>
              <a:rPr lang="fr-FR" dirty="0"/>
              <a:t> mais juste de récupérer les premières lignes.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dirty="0"/>
              <a:t>Le paramètre</a:t>
            </a:r>
            <a:r>
              <a:rPr lang="fr-FR" b="1" dirty="0"/>
              <a:t> –n </a:t>
            </a:r>
            <a:r>
              <a:rPr lang="fr-FR" dirty="0"/>
              <a:t>suivi d'un nombre. Il permet d'afficher le nombre de lignes que vous voulez.</a:t>
            </a:r>
          </a:p>
          <a:p>
            <a:pPr marL="201168" lvl="1" indent="0">
              <a:buNone/>
            </a:pPr>
            <a:r>
              <a:rPr lang="fr-FR" dirty="0"/>
              <a:t>Exemple </a:t>
            </a:r>
          </a:p>
          <a:p>
            <a:pPr marL="201168" lvl="1" indent="0">
              <a:buNone/>
            </a:pPr>
            <a:r>
              <a:rPr lang="fr-FR" b="1" dirty="0" err="1"/>
              <a:t>user@mycomputer</a:t>
            </a:r>
            <a:r>
              <a:rPr lang="fr-FR" b="1" dirty="0"/>
              <a:t>:/var/log$ </a:t>
            </a:r>
            <a:r>
              <a:rPr lang="fr-FR" b="1" dirty="0" err="1"/>
              <a:t>head</a:t>
            </a:r>
            <a:r>
              <a:rPr lang="fr-FR" b="1" dirty="0"/>
              <a:t> </a:t>
            </a:r>
            <a:r>
              <a:rPr lang="fr-FR" b="1" dirty="0" err="1"/>
              <a:t>syslog</a:t>
            </a:r>
            <a:endParaRPr lang="fr-FR" b="1" dirty="0"/>
          </a:p>
          <a:p>
            <a:pPr marL="201168" lvl="1" indent="0">
              <a:buNone/>
            </a:pPr>
            <a:r>
              <a:rPr lang="fr-FR" b="1" dirty="0" err="1"/>
              <a:t>user@mycomputer</a:t>
            </a:r>
            <a:r>
              <a:rPr lang="fr-FR" b="1" dirty="0"/>
              <a:t>:/var/log$ </a:t>
            </a:r>
            <a:r>
              <a:rPr lang="fr-FR" b="1" dirty="0" err="1"/>
              <a:t>head</a:t>
            </a:r>
            <a:r>
              <a:rPr lang="fr-FR" b="1" dirty="0"/>
              <a:t> –n 3 </a:t>
            </a:r>
            <a:r>
              <a:rPr lang="fr-FR" b="1" dirty="0" err="1"/>
              <a:t>syslog</a:t>
            </a:r>
            <a:endParaRPr lang="fr-FR" b="1" dirty="0"/>
          </a:p>
          <a:p>
            <a:pPr marL="201168" lvl="1" indent="0">
              <a:buNone/>
            </a:pPr>
            <a:endParaRPr lang="fr-FR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La commande </a:t>
            </a:r>
            <a:r>
              <a:rPr lang="fr-FR" b="1" dirty="0" err="1"/>
              <a:t>tail</a:t>
            </a:r>
            <a:r>
              <a:rPr lang="fr-FR" dirty="0"/>
              <a:t> vous renvoie la fin du fichier, donc les dernières lignes.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dirty="0"/>
              <a:t>Le paramètre</a:t>
            </a:r>
            <a:r>
              <a:rPr lang="fr-FR" b="1" dirty="0"/>
              <a:t> –n </a:t>
            </a:r>
            <a:r>
              <a:rPr lang="fr-FR" dirty="0"/>
              <a:t>suivi d'un nombre. Il permet d'afficher les dernières de lignes que vous voulez.</a:t>
            </a:r>
          </a:p>
          <a:p>
            <a:pPr marL="201168" lvl="1" indent="0">
              <a:buNone/>
            </a:pPr>
            <a:r>
              <a:rPr lang="fr-FR" dirty="0"/>
              <a:t>Exemple </a:t>
            </a:r>
          </a:p>
          <a:p>
            <a:pPr marL="201168" lvl="1" indent="0">
              <a:buNone/>
            </a:pPr>
            <a:r>
              <a:rPr lang="fr-FR" b="1" dirty="0" err="1"/>
              <a:t>user@mycomputer</a:t>
            </a:r>
            <a:r>
              <a:rPr lang="fr-FR" b="1" dirty="0"/>
              <a:t>:/var/log$ </a:t>
            </a:r>
            <a:r>
              <a:rPr lang="fr-FR" b="1" dirty="0" err="1"/>
              <a:t>tail</a:t>
            </a:r>
            <a:r>
              <a:rPr lang="fr-FR" b="1" dirty="0"/>
              <a:t> </a:t>
            </a:r>
            <a:r>
              <a:rPr lang="fr-FR" b="1" dirty="0" err="1"/>
              <a:t>syslog</a:t>
            </a:r>
            <a:endParaRPr lang="fr-FR" b="1" dirty="0"/>
          </a:p>
          <a:p>
            <a:pPr marL="201168" lvl="1" indent="0">
              <a:buNone/>
            </a:pPr>
            <a:r>
              <a:rPr lang="fr-FR" b="1" dirty="0" err="1"/>
              <a:t>user@mycomputer</a:t>
            </a:r>
            <a:r>
              <a:rPr lang="fr-FR" b="1" dirty="0"/>
              <a:t>:/var/log$ </a:t>
            </a:r>
            <a:r>
              <a:rPr lang="fr-FR" b="1" dirty="0" err="1"/>
              <a:t>tail</a:t>
            </a:r>
            <a:r>
              <a:rPr lang="fr-FR" b="1" dirty="0"/>
              <a:t> -n 5 </a:t>
            </a:r>
            <a:r>
              <a:rPr lang="fr-FR" b="1" dirty="0" err="1"/>
              <a:t>syslog</a:t>
            </a:r>
            <a:endParaRPr lang="fr-FR" b="1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41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7586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2592" y="286603"/>
            <a:ext cx="6838681" cy="1450757"/>
          </a:xfrm>
        </p:spPr>
        <p:txBody>
          <a:bodyPr/>
          <a:lstStyle/>
          <a:p>
            <a:r>
              <a:rPr lang="fr-FR" b="1" dirty="0" err="1"/>
              <a:t>cp</a:t>
            </a:r>
            <a:r>
              <a:rPr lang="fr-FR" b="1" dirty="0"/>
              <a:t> &amp; mv : copier et déplacer un fichier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La commande </a:t>
            </a:r>
            <a:r>
              <a:rPr lang="fr-FR" b="1" dirty="0" err="1"/>
              <a:t>cp</a:t>
            </a:r>
            <a:r>
              <a:rPr lang="fr-FR" dirty="0"/>
              <a:t> vous permet comme son nom l'indique de copier un fichier.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dirty="0"/>
              <a:t>Exemples 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b="1" dirty="0" err="1"/>
              <a:t>user@mycomputer</a:t>
            </a:r>
            <a:r>
              <a:rPr lang="fr-FR" b="1" dirty="0"/>
              <a:t>:~$ </a:t>
            </a:r>
            <a:r>
              <a:rPr lang="fr-FR" b="1" dirty="0" err="1"/>
              <a:t>cp</a:t>
            </a:r>
            <a:r>
              <a:rPr lang="fr-FR" b="1" dirty="0"/>
              <a:t>   </a:t>
            </a:r>
            <a:r>
              <a:rPr lang="fr-FR" b="1" dirty="0" err="1"/>
              <a:t>fichiervide</a:t>
            </a:r>
            <a:r>
              <a:rPr lang="fr-FR" b="1" dirty="0"/>
              <a:t>   </a:t>
            </a:r>
            <a:r>
              <a:rPr lang="fr-FR" b="1" dirty="0" err="1"/>
              <a:t>fichiercopie</a:t>
            </a:r>
            <a:endParaRPr lang="fr-FR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b="1" dirty="0" err="1"/>
              <a:t>user@mycomputer</a:t>
            </a:r>
            <a:r>
              <a:rPr lang="fr-FR" b="1" dirty="0"/>
              <a:t>:~$ </a:t>
            </a:r>
            <a:r>
              <a:rPr lang="fr-FR" b="1" dirty="0" err="1"/>
              <a:t>cp</a:t>
            </a:r>
            <a:r>
              <a:rPr lang="fr-FR" b="1" dirty="0"/>
              <a:t> </a:t>
            </a:r>
            <a:r>
              <a:rPr lang="fr-FR" b="1" dirty="0" err="1"/>
              <a:t>fichiervide</a:t>
            </a:r>
            <a:r>
              <a:rPr lang="fr-FR" b="1" dirty="0"/>
              <a:t> </a:t>
            </a:r>
            <a:r>
              <a:rPr lang="fr-FR" b="1" dirty="0" err="1"/>
              <a:t>mondossier</a:t>
            </a:r>
            <a:endParaRPr lang="fr-FR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b="1" dirty="0" err="1"/>
              <a:t>user@mycomputer</a:t>
            </a:r>
            <a:r>
              <a:rPr lang="fr-FR" b="1" dirty="0"/>
              <a:t>:~$ </a:t>
            </a:r>
            <a:r>
              <a:rPr lang="fr-FR" b="1" dirty="0" err="1"/>
              <a:t>cp</a:t>
            </a:r>
            <a:r>
              <a:rPr lang="fr-FR" b="1" dirty="0"/>
              <a:t> </a:t>
            </a:r>
            <a:r>
              <a:rPr lang="fr-FR" b="1" dirty="0" err="1"/>
              <a:t>fichierbidon</a:t>
            </a:r>
            <a:r>
              <a:rPr lang="fr-FR" b="1" dirty="0"/>
              <a:t> </a:t>
            </a:r>
            <a:r>
              <a:rPr lang="fr-FR" b="1" dirty="0" err="1"/>
              <a:t>mondossier</a:t>
            </a:r>
            <a:r>
              <a:rPr lang="fr-FR" b="1" dirty="0"/>
              <a:t>/</a:t>
            </a:r>
            <a:r>
              <a:rPr lang="fr-FR" b="1" dirty="0" err="1"/>
              <a:t>fichiercopie</a:t>
            </a:r>
            <a:endParaRPr lang="fr-FR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b="1" dirty="0" err="1"/>
              <a:t>user@mycomputer</a:t>
            </a:r>
            <a:r>
              <a:rPr lang="fr-FR" b="1" dirty="0"/>
              <a:t>:~$ </a:t>
            </a:r>
            <a:r>
              <a:rPr lang="fr-FR" b="1" dirty="0" err="1"/>
              <a:t>cp</a:t>
            </a:r>
            <a:r>
              <a:rPr lang="fr-FR" b="1" dirty="0"/>
              <a:t> -R animaux </a:t>
            </a:r>
            <a:r>
              <a:rPr lang="fr-FR" b="1" dirty="0" err="1"/>
              <a:t>autresanimaux</a:t>
            </a:r>
            <a:r>
              <a:rPr lang="fr-FR" b="1" dirty="0"/>
              <a:t> </a:t>
            </a:r>
          </a:p>
          <a:p>
            <a:pPr marL="201168" lvl="1" indent="0">
              <a:buNone/>
            </a:pPr>
            <a:r>
              <a:rPr lang="fr-FR" dirty="0"/>
              <a:t>      Avec l’option </a:t>
            </a:r>
            <a:r>
              <a:rPr lang="fr-FR" b="1" dirty="0"/>
              <a:t>–R </a:t>
            </a:r>
            <a:r>
              <a:rPr lang="fr-FR" dirty="0"/>
              <a:t>(en majuscule) vous pouvez copier un dossier, ainsi que tous les sous-dossiers et les fichiers qu'il contient !</a:t>
            </a:r>
          </a:p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§"/>
            </a:pPr>
            <a:r>
              <a:rPr lang="fr-FR" sz="2100" dirty="0"/>
              <a:t>La commande</a:t>
            </a:r>
            <a:r>
              <a:rPr lang="fr-FR" sz="2100" b="1" dirty="0"/>
              <a:t> mv </a:t>
            </a:r>
            <a:r>
              <a:rPr lang="fr-FR" sz="2100" dirty="0"/>
              <a:t>permet de déplacer un fichier ou un dossier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dirty="0"/>
              <a:t>Exemples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b="1" dirty="0" err="1"/>
              <a:t>user@mycomputer</a:t>
            </a:r>
            <a:r>
              <a:rPr lang="fr-FR" b="1" dirty="0"/>
              <a:t>:~$  mv animaux/ </a:t>
            </a:r>
            <a:r>
              <a:rPr lang="fr-FR" b="1" dirty="0" err="1"/>
              <a:t>mondossier</a:t>
            </a:r>
            <a:r>
              <a:rPr lang="fr-FR" b="1" dirty="0"/>
              <a:t>/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b="1" dirty="0" err="1"/>
              <a:t>user@mycomputer</a:t>
            </a:r>
            <a:r>
              <a:rPr lang="fr-FR" b="1" dirty="0"/>
              <a:t>:~$  mv </a:t>
            </a:r>
            <a:r>
              <a:rPr lang="fr-FR" b="1" dirty="0" err="1"/>
              <a:t>fichierbidon</a:t>
            </a:r>
            <a:r>
              <a:rPr lang="fr-FR" b="1" dirty="0"/>
              <a:t> </a:t>
            </a:r>
            <a:r>
              <a:rPr lang="fr-FR" b="1" dirty="0" err="1"/>
              <a:t>mondossier</a:t>
            </a:r>
            <a:r>
              <a:rPr lang="fr-FR" b="1" dirty="0"/>
              <a:t>/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b="1" dirty="0" err="1"/>
              <a:t>user@mycomputer</a:t>
            </a:r>
            <a:r>
              <a:rPr lang="fr-FR" b="1" dirty="0"/>
              <a:t>:~$ mv </a:t>
            </a:r>
            <a:r>
              <a:rPr lang="fr-FR" b="1" dirty="0" err="1"/>
              <a:t>fichierbidon</a:t>
            </a:r>
            <a:r>
              <a:rPr lang="fr-FR" b="1" dirty="0"/>
              <a:t> </a:t>
            </a:r>
            <a:r>
              <a:rPr lang="fr-FR" b="1" dirty="0" err="1"/>
              <a:t>superfichier</a:t>
            </a:r>
            <a:endParaRPr lang="fr-FR" b="1" dirty="0"/>
          </a:p>
          <a:p>
            <a:pPr marL="201168" lvl="1" indent="0">
              <a:buNone/>
            </a:pPr>
            <a:r>
              <a:rPr lang="fr-FR" b="1" dirty="0"/>
              <a:t>       </a:t>
            </a:r>
            <a:r>
              <a:rPr lang="fr-FR" dirty="0"/>
              <a:t>Ici la commande mv permet de faire quelque chose d'assez étonnant : renommer un fichier. 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42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37939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112134" y="286603"/>
            <a:ext cx="9043545" cy="1450757"/>
          </a:xfrm>
        </p:spPr>
        <p:txBody>
          <a:bodyPr/>
          <a:lstStyle/>
          <a:p>
            <a:r>
              <a:rPr lang="fr-FR" b="1" dirty="0" err="1"/>
              <a:t>rm</a:t>
            </a:r>
            <a:r>
              <a:rPr lang="fr-FR" b="1" dirty="0"/>
              <a:t> : supprimer des fichiers et dossiers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La commande </a:t>
            </a:r>
            <a:r>
              <a:rPr lang="fr-FR" b="1" dirty="0" err="1"/>
              <a:t>rm</a:t>
            </a:r>
            <a:r>
              <a:rPr lang="fr-FR" dirty="0"/>
              <a:t> peut supprimer un fichier, plusieurs fichiers et des dossiers.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Il n'y a pas de corbeille en console, la suppression est définitive ; il faut donc être prudent.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b="1" dirty="0"/>
              <a:t>Exemple 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b="1" dirty="0" err="1"/>
              <a:t>rm</a:t>
            </a:r>
            <a:r>
              <a:rPr lang="fr-FR" b="1" dirty="0"/>
              <a:t> </a:t>
            </a:r>
            <a:r>
              <a:rPr lang="fr-FR" b="1" dirty="0" err="1"/>
              <a:t>fichierbidon</a:t>
            </a:r>
            <a:endParaRPr lang="fr-FR" b="1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fr-FR" b="1" dirty="0" err="1"/>
              <a:t>rm</a:t>
            </a:r>
            <a:r>
              <a:rPr lang="fr-FR" b="1" dirty="0"/>
              <a:t> –f : forcer la suppression, </a:t>
            </a:r>
            <a:r>
              <a:rPr lang="fr-FR" dirty="0"/>
              <a:t>ne demande pas de confirmation, même s'il y a un problème potentiel.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b="1" dirty="0" err="1"/>
              <a:t>rm</a:t>
            </a:r>
            <a:r>
              <a:rPr lang="fr-FR" b="1" dirty="0"/>
              <a:t> –r : </a:t>
            </a:r>
            <a:r>
              <a:rPr lang="fr-FR" dirty="0"/>
              <a:t>peut être utilisé pour supprimer un dossier (au lieu d'un fichier) ainsi que tout ce qu'il contient : fichiers et dossiers !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b="1" dirty="0" err="1"/>
              <a:t>rm</a:t>
            </a:r>
            <a:r>
              <a:rPr lang="fr-FR" b="1" dirty="0"/>
              <a:t> –r /</a:t>
            </a:r>
            <a:r>
              <a:rPr lang="fr-FR" b="1" dirty="0" err="1"/>
              <a:t>nomdudossier</a:t>
            </a:r>
            <a:r>
              <a:rPr lang="fr-FR" b="1" dirty="0"/>
              <a:t>/* : </a:t>
            </a:r>
            <a:r>
              <a:rPr lang="fr-FR" dirty="0"/>
              <a:t>vider le dossier</a:t>
            </a:r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43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88836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02286" y="286603"/>
            <a:ext cx="8953393" cy="1450757"/>
          </a:xfrm>
        </p:spPr>
        <p:txBody>
          <a:bodyPr/>
          <a:lstStyle/>
          <a:p>
            <a:r>
              <a:rPr lang="fr-FR" b="1" dirty="0"/>
              <a:t>Ln : créer des liens entre fichiers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8942" y="2030091"/>
            <a:ext cx="10058400" cy="4023360"/>
          </a:xfrm>
        </p:spPr>
        <p:txBody>
          <a:bodyPr>
            <a:normAutofit fontScale="92500" lnSpcReduction="20000"/>
          </a:bodyPr>
          <a:lstStyle/>
          <a:p>
            <a:pPr algn="l"/>
            <a:endParaRPr lang="fr-FR" dirty="0"/>
          </a:p>
          <a:p>
            <a:pPr algn="l"/>
            <a:r>
              <a:rPr lang="fr-FR" dirty="0"/>
              <a:t>La commande </a:t>
            </a:r>
            <a:r>
              <a:rPr lang="fr-FR" b="1" dirty="0"/>
              <a:t>ln</a:t>
            </a:r>
            <a:r>
              <a:rPr lang="fr-FR" dirty="0"/>
              <a:t> : permet de créer des liens entre des fichiers, c'est-à-dire qu'elle permet de </a:t>
            </a:r>
            <a:r>
              <a:rPr lang="fr-FR" b="1" dirty="0"/>
              <a:t>créer des raccourcis</a:t>
            </a:r>
            <a:r>
              <a:rPr lang="fr-FR" dirty="0"/>
              <a:t>. </a:t>
            </a:r>
            <a:r>
              <a:rPr lang="fr-FR" b="0" i="0" dirty="0">
                <a:effectLst/>
                <a:latin typeface="Montserrat"/>
              </a:rPr>
              <a:t>on peut créer deux types de liens 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100" dirty="0"/>
              <a:t>Des liens physiques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100" dirty="0"/>
              <a:t>Des liens symboliques</a:t>
            </a:r>
          </a:p>
          <a:p>
            <a:pPr algn="l"/>
            <a:r>
              <a:rPr lang="fr-FR" b="1" i="0" u="sng" dirty="0">
                <a:effectLst/>
                <a:latin typeface="Montserrat"/>
              </a:rPr>
              <a:t>Le stockage des fichiers</a:t>
            </a:r>
          </a:p>
          <a:p>
            <a:pPr algn="l"/>
            <a:r>
              <a:rPr lang="fr-FR" b="0" i="0" dirty="0">
                <a:effectLst/>
                <a:latin typeface="Montserrat"/>
              </a:rPr>
              <a:t>Sur le disque dur, chaque fichier est grosso-modo séparé en deux parties 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100" dirty="0"/>
              <a:t>son nom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100" dirty="0"/>
              <a:t>son contenu</a:t>
            </a:r>
          </a:p>
          <a:p>
            <a:pPr algn="l"/>
            <a:r>
              <a:rPr lang="fr-FR" b="0" i="0" dirty="0">
                <a:effectLst/>
                <a:latin typeface="Montserrat"/>
              </a:rPr>
              <a:t>La liste des noms de fichiers est stockée à un autre endroit que leur contenu.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 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44</a:t>
            </a:fld>
            <a:endParaRPr lang="fr-F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74558F99-497C-4D1E-84EC-4A0BD597C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9150" y="2820474"/>
            <a:ext cx="3021520" cy="32329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4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4AAC3261-C17C-4452-AE7B-FA66383A4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5304" y="286603"/>
            <a:ext cx="9300376" cy="1450757"/>
          </a:xfrm>
        </p:spPr>
        <p:txBody>
          <a:bodyPr/>
          <a:lstStyle/>
          <a:p>
            <a:r>
              <a:rPr lang="fr-FR" b="1" dirty="0"/>
              <a:t>Ln : créer des liens physiques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0D53D5AF-C72B-4480-8D58-5CD62386A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2400" b="1" i="0" dirty="0">
                <a:effectLst/>
                <a:latin typeface="Montserrat"/>
              </a:rPr>
              <a:t>Créer des liens physiques</a:t>
            </a:r>
            <a:endParaRPr lang="fr-FR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Exemple : </a:t>
            </a:r>
          </a:p>
          <a:p>
            <a:r>
              <a:rPr lang="fr-FR" b="1" dirty="0" err="1"/>
              <a:t>user@mycomputer</a:t>
            </a:r>
            <a:r>
              <a:rPr lang="fr-FR" b="1" dirty="0"/>
              <a:t>:~$ </a:t>
            </a:r>
            <a:r>
              <a:rPr lang="fr-FR" dirty="0" err="1"/>
              <a:t>mkdir</a:t>
            </a:r>
            <a:r>
              <a:rPr lang="fr-FR" dirty="0"/>
              <a:t> tests </a:t>
            </a:r>
          </a:p>
          <a:p>
            <a:r>
              <a:rPr lang="fr-FR" b="1" dirty="0" err="1"/>
              <a:t>user@mycomputer</a:t>
            </a:r>
            <a:r>
              <a:rPr lang="fr-FR" b="1" dirty="0"/>
              <a:t>:~$ </a:t>
            </a:r>
            <a:r>
              <a:rPr lang="fr-FR" dirty="0"/>
              <a:t>cd tests</a:t>
            </a:r>
          </a:p>
          <a:p>
            <a:r>
              <a:rPr lang="fr-FR" b="1" dirty="0" err="1"/>
              <a:t>user@mycomputer</a:t>
            </a:r>
            <a:r>
              <a:rPr lang="fr-FR" b="1" dirty="0"/>
              <a:t>:~$ </a:t>
            </a:r>
            <a:r>
              <a:rPr lang="fr-FR" dirty="0"/>
              <a:t>ln fichier1 fichier2</a:t>
            </a:r>
          </a:p>
          <a:p>
            <a:r>
              <a:rPr lang="fr-FR" b="1" dirty="0" err="1"/>
              <a:t>user@mycomputer</a:t>
            </a:r>
            <a:r>
              <a:rPr lang="fr-FR" b="1" dirty="0"/>
              <a:t>:~$ </a:t>
            </a:r>
            <a:r>
              <a:rPr lang="fr-FR" dirty="0"/>
              <a:t>ls -l</a:t>
            </a:r>
          </a:p>
          <a:p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xmlns="" id="{D7137D51-DA83-4D88-804A-50B5C6BFD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xmlns="" id="{066D4462-5858-453E-9533-599F38FAA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45</a:t>
            </a:fld>
            <a:endParaRPr lang="fr-FR" dirty="0"/>
          </a:p>
        </p:txBody>
      </p:sp>
      <p:pic>
        <p:nvPicPr>
          <p:cNvPr id="7" name="Picture 2" descr="Lien physique">
            <a:extLst>
              <a:ext uri="{FF2B5EF4-FFF2-40B4-BE49-F238E27FC236}">
                <a16:creationId xmlns:a16="http://schemas.microsoft.com/office/drawing/2014/main" xmlns="" id="{1FC162A5-EC5F-4C82-9BD1-EC06454C5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0595" y="2138455"/>
            <a:ext cx="2956787" cy="2210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xmlns="" id="{C396FDED-C2C1-4B3C-B80B-C3DF8B2DB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79" y="4767546"/>
            <a:ext cx="7684999" cy="120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380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4AAC3261-C17C-4452-AE7B-FA66383A4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5304" y="286603"/>
            <a:ext cx="9300376" cy="1450757"/>
          </a:xfrm>
        </p:spPr>
        <p:txBody>
          <a:bodyPr/>
          <a:lstStyle/>
          <a:p>
            <a:r>
              <a:rPr lang="fr-FR" b="1" dirty="0"/>
              <a:t>Ln : créer des liens symboliques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0D53D5AF-C72B-4480-8D58-5CD62386A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2400" b="1" i="0" dirty="0">
                <a:effectLst/>
                <a:latin typeface="Montserrat"/>
              </a:rPr>
              <a:t>Créer des liens </a:t>
            </a:r>
            <a:r>
              <a:rPr lang="fr-FR" sz="2400" b="1" dirty="0">
                <a:latin typeface="Montserrat"/>
              </a:rPr>
              <a:t>symboliques</a:t>
            </a:r>
            <a:endParaRPr lang="fr-FR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Exemple : </a:t>
            </a:r>
          </a:p>
          <a:p>
            <a:r>
              <a:rPr lang="fr-FR" b="1" dirty="0" err="1"/>
              <a:t>user@mycomputer</a:t>
            </a:r>
            <a:r>
              <a:rPr lang="fr-FR" b="1" dirty="0"/>
              <a:t>:~$ </a:t>
            </a:r>
            <a:r>
              <a:rPr lang="fr-FR" dirty="0" err="1"/>
              <a:t>rm</a:t>
            </a:r>
            <a:r>
              <a:rPr lang="fr-FR" dirty="0"/>
              <a:t> fichier2</a:t>
            </a:r>
          </a:p>
          <a:p>
            <a:r>
              <a:rPr lang="fr-FR" b="1" dirty="0" err="1"/>
              <a:t>user@mycomputer</a:t>
            </a:r>
            <a:r>
              <a:rPr lang="fr-FR" b="1" dirty="0"/>
              <a:t>:~$ </a:t>
            </a:r>
            <a:r>
              <a:rPr lang="fr-FR" dirty="0"/>
              <a:t>ln -s fichier1 fichier2</a:t>
            </a:r>
          </a:p>
          <a:p>
            <a:r>
              <a:rPr lang="fr-FR" b="1" dirty="0" err="1"/>
              <a:t>user@mycomputer</a:t>
            </a:r>
            <a:r>
              <a:rPr lang="fr-FR" b="1" dirty="0"/>
              <a:t>:~$ </a:t>
            </a:r>
            <a:r>
              <a:rPr lang="fr-FR" dirty="0"/>
              <a:t>ls -l</a:t>
            </a:r>
          </a:p>
          <a:p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xmlns="" id="{D7137D51-DA83-4D88-804A-50B5C6BFD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xmlns="" id="{066D4462-5858-453E-9533-599F38FAA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46</a:t>
            </a:fld>
            <a:endParaRPr lang="fr-FR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xmlns="" id="{745C1679-A282-4456-B5BA-B20B9BB96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392" y="1823145"/>
            <a:ext cx="2777389" cy="2712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xmlns="" id="{60A3EA31-CA3E-4A90-98DE-5BDF3A548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568" y="4644016"/>
            <a:ext cx="8110855" cy="122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535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47</a:t>
            </a:fld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01" y="1415056"/>
            <a:ext cx="5944876" cy="123529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001" y="2859580"/>
            <a:ext cx="3497419" cy="1441968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317" y="3256252"/>
            <a:ext cx="7691036" cy="2597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756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37138" y="286603"/>
            <a:ext cx="8618542" cy="1450757"/>
          </a:xfrm>
        </p:spPr>
        <p:txBody>
          <a:bodyPr>
            <a:normAutofit/>
          </a:bodyPr>
          <a:lstStyle/>
          <a:p>
            <a:r>
              <a:rPr lang="fr-FR" b="1" dirty="0" err="1"/>
              <a:t>Grep</a:t>
            </a:r>
            <a:r>
              <a:rPr lang="fr-FR" b="1" dirty="0"/>
              <a:t> : filtrer des données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Son rôle est de rechercher un mot dans un fichier et d'afficher les lignes dans lesquelles ce mot a été trouvé. L'avantage de cette commande est qu'elle peut être utilisée de manière très simple ou plus complexe (mais plus précise) selon les besoins en faisant appel aux expressions régulières.</a:t>
            </a:r>
          </a:p>
          <a:p>
            <a:r>
              <a:rPr lang="fr-FR" u="sng" dirty="0"/>
              <a:t>Syntaxe : </a:t>
            </a:r>
          </a:p>
          <a:p>
            <a:r>
              <a:rPr lang="fr-FR" b="1" dirty="0" err="1"/>
              <a:t>user@mycomputer</a:t>
            </a:r>
            <a:r>
              <a:rPr lang="fr-FR" b="1" dirty="0"/>
              <a:t>:~$ </a:t>
            </a:r>
            <a:r>
              <a:rPr lang="fr-FR" dirty="0" err="1"/>
              <a:t>grep</a:t>
            </a:r>
            <a:r>
              <a:rPr lang="fr-FR" dirty="0"/>
              <a:t> texte </a:t>
            </a:r>
            <a:r>
              <a:rPr lang="fr-FR" dirty="0" err="1"/>
              <a:t>nomfichier</a:t>
            </a:r>
            <a:endParaRPr lang="fr-FR" dirty="0"/>
          </a:p>
          <a:p>
            <a:r>
              <a:rPr lang="fr-FR" u="sng" dirty="0"/>
              <a:t>Exemple : </a:t>
            </a:r>
          </a:p>
          <a:p>
            <a:r>
              <a:rPr lang="fr-FR" b="1" dirty="0" err="1">
                <a:solidFill>
                  <a:srgbClr val="FF0000"/>
                </a:solidFill>
              </a:rPr>
              <a:t>grep</a:t>
            </a:r>
            <a:r>
              <a:rPr lang="fr-FR" b="1" dirty="0">
                <a:solidFill>
                  <a:srgbClr val="FF0000"/>
                </a:solidFill>
              </a:rPr>
              <a:t> </a:t>
            </a:r>
            <a:r>
              <a:rPr lang="fr-FR" b="1" dirty="0"/>
              <a:t>"erreur" journal.log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48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678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        Options : GREP</a:t>
            </a:r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5550247"/>
              </p:ext>
            </p:extLst>
          </p:nvPr>
        </p:nvGraphicFramePr>
        <p:xfrm>
          <a:off x="1738648" y="1846263"/>
          <a:ext cx="7881870" cy="4233477"/>
        </p:xfrm>
        <a:graphic>
          <a:graphicData uri="http://schemas.openxmlformats.org/drawingml/2006/table">
            <a:tbl>
              <a:tblPr/>
              <a:tblGrid>
                <a:gridCol w="16227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25913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927615">
                <a:tc>
                  <a:txBody>
                    <a:bodyPr/>
                    <a:lstStyle/>
                    <a:p>
                      <a:pPr algn="ctr"/>
                      <a:r>
                        <a:rPr lang="fr-FR" sz="2400" b="1" dirty="0"/>
                        <a:t>Option</a:t>
                      </a:r>
                      <a:endParaRPr lang="fr-FR" sz="2400" dirty="0"/>
                    </a:p>
                  </a:txBody>
                  <a:tcPr marL="22961" marR="22961" marT="22961" marB="229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400" b="1" dirty="0"/>
                    </a:p>
                    <a:p>
                      <a:pPr algn="ctr"/>
                      <a:r>
                        <a:rPr lang="fr-FR" sz="2400" b="1" dirty="0"/>
                        <a:t>Signification</a:t>
                      </a:r>
                      <a:endParaRPr lang="fr-FR" sz="2400" dirty="0"/>
                    </a:p>
                  </a:txBody>
                  <a:tcPr marL="22961" marR="22961" marT="22961" marB="229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86768">
                <a:tc>
                  <a:txBody>
                    <a:bodyPr/>
                    <a:lstStyle/>
                    <a:p>
                      <a:pPr algn="ctr"/>
                      <a:r>
                        <a:rPr lang="fr-FR" sz="2400" b="1"/>
                        <a:t>-c</a:t>
                      </a:r>
                      <a:endParaRPr lang="fr-FR" sz="2400"/>
                    </a:p>
                  </a:txBody>
                  <a:tcPr marL="22961" marR="22961" marT="22961" marB="229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400"/>
                        <a:t>Nombre de ligne trouvées (sans les afficher).</a:t>
                      </a:r>
                    </a:p>
                  </a:txBody>
                  <a:tcPr marL="22961" marR="22961" marT="22961" marB="229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07191">
                <a:tc>
                  <a:txBody>
                    <a:bodyPr/>
                    <a:lstStyle/>
                    <a:p>
                      <a:pPr algn="ctr"/>
                      <a:r>
                        <a:rPr lang="fr-FR" sz="2400" b="1"/>
                        <a:t>-i</a:t>
                      </a:r>
                      <a:endParaRPr lang="fr-FR" sz="2400"/>
                    </a:p>
                  </a:txBody>
                  <a:tcPr marL="22961" marR="22961" marT="22961" marB="229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400" dirty="0"/>
                        <a:t>Ne fait pas la différence entre majuscule et minuscule.</a:t>
                      </a:r>
                    </a:p>
                  </a:txBody>
                  <a:tcPr marL="22961" marR="22961" marT="22961" marB="229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86768">
                <a:tc>
                  <a:txBody>
                    <a:bodyPr/>
                    <a:lstStyle/>
                    <a:p>
                      <a:pPr algn="ctr"/>
                      <a:r>
                        <a:rPr lang="fr-FR" sz="2400" b="1"/>
                        <a:t>-n</a:t>
                      </a:r>
                      <a:endParaRPr lang="fr-FR" sz="2400"/>
                    </a:p>
                  </a:txBody>
                  <a:tcPr marL="22961" marR="22961" marT="22961" marB="229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400"/>
                        <a:t>Affiche le numero de la ligne.</a:t>
                      </a:r>
                    </a:p>
                  </a:txBody>
                  <a:tcPr marL="22961" marR="22961" marT="22961" marB="229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07191">
                <a:tc>
                  <a:txBody>
                    <a:bodyPr/>
                    <a:lstStyle/>
                    <a:p>
                      <a:pPr algn="ctr"/>
                      <a:r>
                        <a:rPr lang="fr-FR" sz="2400" b="1"/>
                        <a:t>-l</a:t>
                      </a:r>
                      <a:endParaRPr lang="fr-FR" sz="2400"/>
                    </a:p>
                  </a:txBody>
                  <a:tcPr marL="22961" marR="22961" marT="22961" marB="229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400"/>
                        <a:t>Affiche le nom du fichier contenant la ligne (et pas la ligne).</a:t>
                      </a:r>
                    </a:p>
                  </a:txBody>
                  <a:tcPr marL="22961" marR="22961" marT="22961" marB="229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07191">
                <a:tc>
                  <a:txBody>
                    <a:bodyPr/>
                    <a:lstStyle/>
                    <a:p>
                      <a:pPr algn="ctr"/>
                      <a:r>
                        <a:rPr lang="fr-FR" sz="2400" b="1"/>
                        <a:t>-v</a:t>
                      </a:r>
                      <a:endParaRPr lang="fr-FR" sz="2400"/>
                    </a:p>
                  </a:txBody>
                  <a:tcPr marL="22961" marR="22961" marT="22961" marB="229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400" dirty="0"/>
                        <a:t>Affiche toutes les lignes qui ne contiennent pas le mot en question.</a:t>
                      </a:r>
                    </a:p>
                  </a:txBody>
                  <a:tcPr marL="22961" marR="22961" marT="22961" marB="229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49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71798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             </a:t>
            </a:r>
            <a:r>
              <a:rPr lang="fr-FR" b="1" dirty="0" err="1"/>
              <a:t>Grep</a:t>
            </a:r>
            <a:r>
              <a:rPr lang="fr-FR" b="1" dirty="0"/>
              <a:t> : filtrer des données</a:t>
            </a:r>
            <a:endParaRPr lang="fr-FR" dirty="0"/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7758528"/>
              </p:ext>
            </p:extLst>
          </p:nvPr>
        </p:nvGraphicFramePr>
        <p:xfrm>
          <a:off x="2151614" y="1846264"/>
          <a:ext cx="7949098" cy="4022722"/>
        </p:xfrm>
        <a:graphic>
          <a:graphicData uri="http://schemas.openxmlformats.org/drawingml/2006/table">
            <a:tbl>
              <a:tblPr/>
              <a:tblGrid>
                <a:gridCol w="397454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97454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37234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chemeClr val="tx1"/>
                          </a:solidFill>
                          <a:effectLst/>
                        </a:rPr>
                        <a:t>Caractère spécial</a:t>
                      </a:r>
                    </a:p>
                  </a:txBody>
                  <a:tcPr marL="60220" marR="60220" marT="60220" marB="602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chemeClr val="tx1"/>
                          </a:solidFill>
                          <a:effectLst/>
                        </a:rPr>
                        <a:t>Signification</a:t>
                      </a:r>
                    </a:p>
                  </a:txBody>
                  <a:tcPr marL="60220" marR="60220" marT="60220" marB="602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37234">
                <a:tc>
                  <a:txBody>
                    <a:bodyPr/>
                    <a:lstStyle/>
                    <a:p>
                      <a:pPr fontAlgn="t"/>
                      <a:r>
                        <a:rPr lang="fr-FR" sz="1400">
                          <a:effectLst/>
                        </a:rPr>
                        <a:t>.</a:t>
                      </a:r>
                    </a:p>
                  </a:txBody>
                  <a:tcPr marL="60220" marR="60220" marT="60220" marB="602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fr-FR" sz="1400">
                          <a:effectLst/>
                        </a:rPr>
                        <a:t>Caractère quelconque</a:t>
                      </a:r>
                    </a:p>
                  </a:txBody>
                  <a:tcPr marL="60220" marR="60220" marT="60220" marB="602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37234">
                <a:tc>
                  <a:txBody>
                    <a:bodyPr/>
                    <a:lstStyle/>
                    <a:p>
                      <a:pPr fontAlgn="t"/>
                      <a:r>
                        <a:rPr lang="fr-FR" sz="1400">
                          <a:effectLst/>
                        </a:rPr>
                        <a:t>^</a:t>
                      </a:r>
                    </a:p>
                  </a:txBody>
                  <a:tcPr marL="60220" marR="60220" marT="60220" marB="602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fr-FR" sz="1400">
                          <a:effectLst/>
                        </a:rPr>
                        <a:t>Début de ligne</a:t>
                      </a:r>
                    </a:p>
                  </a:txBody>
                  <a:tcPr marL="60220" marR="60220" marT="60220" marB="602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37234">
                <a:tc>
                  <a:txBody>
                    <a:bodyPr/>
                    <a:lstStyle/>
                    <a:p>
                      <a:pPr fontAlgn="t"/>
                      <a:r>
                        <a:rPr lang="fr-FR" sz="1400">
                          <a:effectLst/>
                        </a:rPr>
                        <a:t>$</a:t>
                      </a:r>
                    </a:p>
                  </a:txBody>
                  <a:tcPr marL="60220" marR="60220" marT="60220" marB="602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fr-FR" sz="1400">
                          <a:effectLst/>
                        </a:rPr>
                        <a:t>Fin de ligne</a:t>
                      </a:r>
                    </a:p>
                  </a:txBody>
                  <a:tcPr marL="60220" marR="60220" marT="60220" marB="602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37234">
                <a:tc>
                  <a:txBody>
                    <a:bodyPr/>
                    <a:lstStyle/>
                    <a:p>
                      <a:pPr fontAlgn="t"/>
                      <a:r>
                        <a:rPr lang="fr-FR" sz="1400">
                          <a:effectLst/>
                        </a:rPr>
                        <a:t>[]</a:t>
                      </a:r>
                    </a:p>
                  </a:txBody>
                  <a:tcPr marL="60220" marR="60220" marT="60220" marB="602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fr-FR" sz="1400">
                          <a:effectLst/>
                        </a:rPr>
                        <a:t>Un des caractères entre les crochets</a:t>
                      </a:r>
                    </a:p>
                  </a:txBody>
                  <a:tcPr marL="60220" marR="60220" marT="60220" marB="602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54028">
                <a:tc>
                  <a:txBody>
                    <a:bodyPr/>
                    <a:lstStyle/>
                    <a:p>
                      <a:pPr fontAlgn="t"/>
                      <a:r>
                        <a:rPr lang="fr-FR" sz="1400">
                          <a:effectLst/>
                        </a:rPr>
                        <a:t>?</a:t>
                      </a:r>
                    </a:p>
                  </a:txBody>
                  <a:tcPr marL="60220" marR="60220" marT="60220" marB="602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fr-FR" sz="1400">
                          <a:effectLst/>
                        </a:rPr>
                        <a:t>L'élément précédent est optionnel (peut être présent 0 ou 1 fois)</a:t>
                      </a:r>
                    </a:p>
                  </a:txBody>
                  <a:tcPr marL="60220" marR="60220" marT="60220" marB="602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54028">
                <a:tc>
                  <a:txBody>
                    <a:bodyPr/>
                    <a:lstStyle/>
                    <a:p>
                      <a:pPr fontAlgn="t"/>
                      <a:r>
                        <a:rPr lang="fr-FR" sz="1400">
                          <a:effectLst/>
                        </a:rPr>
                        <a:t>*</a:t>
                      </a:r>
                    </a:p>
                  </a:txBody>
                  <a:tcPr marL="60220" marR="60220" marT="60220" marB="602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fr-FR" sz="1400">
                          <a:effectLst/>
                        </a:rPr>
                        <a:t>L'élément précédent peut être présent 0, 1 ou plusieurs fois</a:t>
                      </a:r>
                    </a:p>
                  </a:txBody>
                  <a:tcPr marL="60220" marR="60220" marT="60220" marB="602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54028">
                <a:tc>
                  <a:txBody>
                    <a:bodyPr/>
                    <a:lstStyle/>
                    <a:p>
                      <a:pPr fontAlgn="t"/>
                      <a:r>
                        <a:rPr lang="fr-FR" sz="1400">
                          <a:effectLst/>
                        </a:rPr>
                        <a:t>+</a:t>
                      </a:r>
                    </a:p>
                  </a:txBody>
                  <a:tcPr marL="60220" marR="60220" marT="60220" marB="602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fr-FR" sz="1400">
                          <a:effectLst/>
                        </a:rPr>
                        <a:t>L'élément précédent doit être présent 1 ou plusieurs fois</a:t>
                      </a:r>
                    </a:p>
                  </a:txBody>
                  <a:tcPr marL="60220" marR="60220" marT="60220" marB="602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37234">
                <a:tc>
                  <a:txBody>
                    <a:bodyPr/>
                    <a:lstStyle/>
                    <a:p>
                      <a:pPr fontAlgn="t"/>
                      <a:r>
                        <a:rPr lang="fr-FR" sz="1400">
                          <a:effectLst/>
                        </a:rPr>
                        <a:t>|</a:t>
                      </a:r>
                    </a:p>
                  </a:txBody>
                  <a:tcPr marL="60220" marR="60220" marT="60220" marB="602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fr-FR" sz="1400">
                          <a:effectLst/>
                        </a:rPr>
                        <a:t>Ou</a:t>
                      </a:r>
                    </a:p>
                  </a:txBody>
                  <a:tcPr marL="60220" marR="60220" marT="60220" marB="602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37234">
                <a:tc>
                  <a:txBody>
                    <a:bodyPr/>
                    <a:lstStyle/>
                    <a:p>
                      <a:pPr fontAlgn="t"/>
                      <a:r>
                        <a:rPr lang="fr-FR" sz="1400">
                          <a:effectLst/>
                        </a:rPr>
                        <a:t>()</a:t>
                      </a:r>
                    </a:p>
                  </a:txBody>
                  <a:tcPr marL="60220" marR="60220" marT="60220" marB="602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fr-FR" sz="1400" dirty="0">
                          <a:effectLst/>
                        </a:rPr>
                        <a:t>Groupement d'expressions</a:t>
                      </a:r>
                    </a:p>
                  </a:txBody>
                  <a:tcPr marL="60220" marR="60220" marT="60220" marB="602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50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97370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51</a:t>
            </a:fld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052" y="0"/>
            <a:ext cx="7012010" cy="6260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485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52</a:t>
            </a:fld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711" y="1144094"/>
            <a:ext cx="8154747" cy="399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386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686184" y="286603"/>
            <a:ext cx="7469495" cy="1450757"/>
          </a:xfrm>
        </p:spPr>
        <p:txBody>
          <a:bodyPr/>
          <a:lstStyle/>
          <a:p>
            <a:r>
              <a:rPr lang="fr-FR" dirty="0"/>
              <a:t>Questions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Signification de l’expression régulière comme </a:t>
            </a:r>
            <a:r>
              <a:rPr lang="fr-FR" b="1" dirty="0" err="1"/>
              <a:t>écri</a:t>
            </a:r>
            <a:r>
              <a:rPr lang="fr-FR" b="1" dirty="0"/>
              <a:t>[a-z</a:t>
            </a:r>
            <a:r>
              <a:rPr lang="fr-FR" b="1" dirty="0" smtClean="0"/>
              <a:t>]+</a:t>
            </a:r>
            <a:endParaRPr lang="fr-FR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Signification de l’expression régulière comme </a:t>
            </a:r>
            <a:r>
              <a:rPr lang="fr-FR" b="1" dirty="0"/>
              <a:t>[</a:t>
            </a:r>
            <a:r>
              <a:rPr lang="fr-FR" b="1" dirty="0" err="1" smtClean="0"/>
              <a:t>Ww</a:t>
            </a:r>
            <a:r>
              <a:rPr lang="fr-FR" b="1" dirty="0" smtClean="0"/>
              <a:t>]</a:t>
            </a:r>
            <a:r>
              <a:rPr lang="fr-FR" b="1" dirty="0" err="1" smtClean="0"/>
              <a:t>ork</a:t>
            </a:r>
            <a:r>
              <a:rPr lang="fr-FR" b="1" dirty="0" smtClean="0"/>
              <a:t>(</a:t>
            </a:r>
            <a:r>
              <a:rPr lang="fr-FR" b="1" dirty="0" err="1" smtClean="0"/>
              <a:t>s|ing|ed</a:t>
            </a:r>
            <a:r>
              <a:rPr lang="fr-FR" b="1" dirty="0" smtClean="0"/>
              <a:t>)</a:t>
            </a:r>
            <a:endParaRPr lang="fr-FR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Quelle est la différence entre </a:t>
            </a:r>
            <a:r>
              <a:rPr lang="fr-FR" b="1" dirty="0"/>
              <a:t>[^abc] </a:t>
            </a:r>
            <a:r>
              <a:rPr lang="fr-FR" dirty="0"/>
              <a:t>et </a:t>
            </a:r>
            <a:r>
              <a:rPr lang="fr-FR" b="1" dirty="0"/>
              <a:t>^[abc] 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53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59643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7200" b="1" dirty="0"/>
              <a:t>&gt;TD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54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35628" y="286603"/>
            <a:ext cx="7820052" cy="1450757"/>
          </a:xfrm>
        </p:spPr>
        <p:txBody>
          <a:bodyPr/>
          <a:lstStyle/>
          <a:p>
            <a:r>
              <a:rPr lang="fr-FR" dirty="0"/>
              <a:t>Sort : trier les lignes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commande</a:t>
            </a:r>
            <a:r>
              <a:rPr lang="fr-FR" b="1" dirty="0"/>
              <a:t> sort </a:t>
            </a:r>
            <a:r>
              <a:rPr lang="fr-FR" dirty="0"/>
              <a:t>se révèle bien utile lorsqu'on a besoin de trier le contenu d'un fichier.</a:t>
            </a:r>
          </a:p>
          <a:p>
            <a:r>
              <a:rPr lang="fr-FR" u="sng" dirty="0"/>
              <a:t>Syntaxe : </a:t>
            </a:r>
          </a:p>
          <a:p>
            <a:r>
              <a:rPr lang="fr-FR" b="1" dirty="0" err="1"/>
              <a:t>user@mycomputer</a:t>
            </a:r>
            <a:r>
              <a:rPr lang="fr-FR" b="1" dirty="0"/>
              <a:t>:~$ </a:t>
            </a:r>
            <a:r>
              <a:rPr lang="fr-FR" dirty="0"/>
              <a:t>sort nomfichier.txt</a:t>
            </a:r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55</a:t>
            </a:fld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373392"/>
            <a:ext cx="9290452" cy="249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301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03054" y="286603"/>
            <a:ext cx="7652626" cy="1450757"/>
          </a:xfrm>
        </p:spPr>
        <p:txBody>
          <a:bodyPr/>
          <a:lstStyle/>
          <a:p>
            <a:r>
              <a:rPr lang="fr-FR" dirty="0"/>
              <a:t>Sort : trier les lignes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5012266"/>
          </a:xfrm>
        </p:spPr>
        <p:txBody>
          <a:bodyPr>
            <a:normAutofit/>
          </a:bodyPr>
          <a:lstStyle/>
          <a:p>
            <a:r>
              <a:rPr lang="fr-FR" dirty="0" err="1"/>
              <a:t>Excutez</a:t>
            </a:r>
            <a:r>
              <a:rPr lang="fr-FR" dirty="0"/>
              <a:t> la commande </a:t>
            </a:r>
            <a:r>
              <a:rPr lang="fr-FR" b="1" dirty="0"/>
              <a:t>sort </a:t>
            </a:r>
            <a:r>
              <a:rPr lang="fr-FR" dirty="0"/>
              <a:t>sur le fichier </a:t>
            </a:r>
            <a:r>
              <a:rPr lang="fr-FR" b="1" dirty="0"/>
              <a:t>noms.txt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Le contenu du fichier est trié alphabétiquement et le résultat est affiché dans la console.</a:t>
            </a:r>
            <a:br>
              <a:rPr lang="fr-FR" dirty="0"/>
            </a:br>
            <a:r>
              <a:rPr lang="fr-FR" dirty="0"/>
              <a:t>Vous noterez que </a:t>
            </a:r>
            <a:r>
              <a:rPr lang="fr-FR" b="1" dirty="0"/>
              <a:t>Sort  n</a:t>
            </a:r>
            <a:r>
              <a:rPr lang="fr-FR" dirty="0"/>
              <a:t>e fait pas attention à la casse (majuscules / minuscules).</a:t>
            </a:r>
            <a:endParaRPr lang="fr-FR" b="1" dirty="0"/>
          </a:p>
          <a:p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56</a:t>
            </a:fld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297" y="2425279"/>
            <a:ext cx="8790868" cy="286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571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686184" y="286603"/>
            <a:ext cx="7469495" cy="1450757"/>
          </a:xfrm>
        </p:spPr>
        <p:txBody>
          <a:bodyPr/>
          <a:lstStyle/>
          <a:p>
            <a:r>
              <a:rPr lang="fr-FR" dirty="0"/>
              <a:t>Options </a:t>
            </a:r>
            <a:r>
              <a:rPr lang="fr-FR" b="1" dirty="0"/>
              <a:t>Sort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FR" b="1" dirty="0"/>
              <a:t> -o : écrire le résultat dans un fichier</a:t>
            </a:r>
          </a:p>
          <a:p>
            <a:r>
              <a:rPr lang="fr-FR" dirty="0"/>
              <a:t>Le fichier en lui-même n'a pas été modifié lorsque nous avons lancé la commande. Seul le résultat était affiché dans la console.</a:t>
            </a:r>
          </a:p>
          <a:p>
            <a:r>
              <a:rPr lang="fr-FR" dirty="0"/>
              <a:t>Vous pouvez faire en sorte que le fichier soit modifié en précisant un nom de fichier avec l'option –o</a:t>
            </a:r>
          </a:p>
          <a:p>
            <a:r>
              <a:rPr lang="fr-FR" b="1" dirty="0" err="1"/>
              <a:t>user@mycomputer</a:t>
            </a:r>
            <a:r>
              <a:rPr lang="fr-FR" b="1" dirty="0"/>
              <a:t>:~$ </a:t>
            </a:r>
            <a:r>
              <a:rPr lang="fr-FR" dirty="0"/>
              <a:t>sort –o  fichier_trié.txt fichier.txt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b="1" dirty="0"/>
              <a:t> -r : trier en ordre inverse</a:t>
            </a:r>
          </a:p>
          <a:p>
            <a:r>
              <a:rPr lang="fr-FR" dirty="0"/>
              <a:t>L’option –r permet d'inverser le tri 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b="1" dirty="0"/>
              <a:t> -R : trier aléatoirement</a:t>
            </a:r>
          </a:p>
          <a:p>
            <a:r>
              <a:rPr lang="fr-FR" dirty="0"/>
              <a:t>Cette option permet de trier aléatoirement les lignes d'un fichier. </a:t>
            </a:r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57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97790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-n : trier des nombres</a:t>
            </a:r>
          </a:p>
          <a:p>
            <a:r>
              <a:rPr lang="fr-FR" dirty="0"/>
              <a:t>Le tri de nombres est un peu particulier. En effet, la commande </a:t>
            </a:r>
            <a:r>
              <a:rPr lang="fr-FR" b="1" dirty="0"/>
              <a:t>sort </a:t>
            </a:r>
            <a:r>
              <a:rPr lang="fr-FR" dirty="0"/>
              <a:t>ne distingue pas si les caractères sont des nombres et va donc par défaut les trier par ordre alphanumérique, en prenant en compte le premier chiffre uniquement. Par conséquent, le « mot » 129 précèdera 42 alors que ça devrait être l'inverse !</a:t>
            </a:r>
          </a:p>
          <a:p>
            <a:endParaRPr lang="fr-FR" b="1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58</a:t>
            </a:fld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2"/>
          <a:srcRect r="38090"/>
          <a:stretch/>
        </p:blipFill>
        <p:spPr>
          <a:xfrm>
            <a:off x="1321156" y="3857414"/>
            <a:ext cx="4152365" cy="1630184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580" y="3857414"/>
            <a:ext cx="4316368" cy="1863575"/>
          </a:xfrm>
          <a:prstGeom prst="rect">
            <a:avLst/>
          </a:prstGeom>
        </p:spPr>
      </p:pic>
      <p:sp>
        <p:nvSpPr>
          <p:cNvPr id="8" name="Titre 1"/>
          <p:cNvSpPr txBox="1">
            <a:spLocks/>
          </p:cNvSpPr>
          <p:nvPr/>
        </p:nvSpPr>
        <p:spPr>
          <a:xfrm>
            <a:off x="3686184" y="286603"/>
            <a:ext cx="7469495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Options </a:t>
            </a:r>
            <a:r>
              <a:rPr lang="fr-FR" b="1" dirty="0"/>
              <a:t>Sort</a:t>
            </a:r>
          </a:p>
        </p:txBody>
      </p:sp>
    </p:spTree>
    <p:extLst>
      <p:ext uri="{BB962C8B-B14F-4D97-AF65-F5344CB8AC3E}">
        <p14:creationId xmlns:p14="http://schemas.microsoft.com/office/powerpoint/2010/main" val="1117554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C'est là que l'option –n intervient. Elle permet de trier en considérant le texte comme des nombres. Cette fois, le nombre 42 sera bien placé avant 129 !</a:t>
            </a:r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59</a:t>
            </a:fld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686050"/>
            <a:ext cx="9533198" cy="2568530"/>
          </a:xfrm>
          <a:prstGeom prst="rect">
            <a:avLst/>
          </a:prstGeom>
        </p:spPr>
      </p:pic>
      <p:sp>
        <p:nvSpPr>
          <p:cNvPr id="7" name="Titre 1"/>
          <p:cNvSpPr txBox="1">
            <a:spLocks/>
          </p:cNvSpPr>
          <p:nvPr/>
        </p:nvSpPr>
        <p:spPr>
          <a:xfrm>
            <a:off x="3686184" y="286603"/>
            <a:ext cx="7469495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Options </a:t>
            </a:r>
            <a:r>
              <a:rPr lang="fr-FR" b="1" dirty="0"/>
              <a:t>Sort</a:t>
            </a:r>
          </a:p>
        </p:txBody>
      </p:sp>
    </p:spTree>
    <p:extLst>
      <p:ext uri="{BB962C8B-B14F-4D97-AF65-F5344CB8AC3E}">
        <p14:creationId xmlns:p14="http://schemas.microsoft.com/office/powerpoint/2010/main" val="361970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79560" y="286603"/>
            <a:ext cx="8876119" cy="1450757"/>
          </a:xfrm>
        </p:spPr>
        <p:txBody>
          <a:bodyPr/>
          <a:lstStyle/>
          <a:p>
            <a:r>
              <a:rPr lang="fr-FR" b="1" dirty="0" err="1"/>
              <a:t>wc</a:t>
            </a:r>
            <a:r>
              <a:rPr lang="fr-FR" b="1" dirty="0"/>
              <a:t> : compter le nombre de lignes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77793"/>
          </a:xfrm>
        </p:spPr>
        <p:txBody>
          <a:bodyPr>
            <a:normAutofit/>
          </a:bodyPr>
          <a:lstStyle/>
          <a:p>
            <a:r>
              <a:rPr lang="fr-FR" dirty="0"/>
              <a:t>La commande </a:t>
            </a:r>
            <a:r>
              <a:rPr lang="fr-FR" dirty="0" err="1"/>
              <a:t>wc</a:t>
            </a:r>
            <a:r>
              <a:rPr lang="fr-FR" dirty="0"/>
              <a:t> signifie </a:t>
            </a:r>
            <a:r>
              <a:rPr lang="fr-FR" i="1" dirty="0" err="1"/>
              <a:t>word</a:t>
            </a:r>
            <a:r>
              <a:rPr lang="fr-FR" i="1" dirty="0"/>
              <a:t> count</a:t>
            </a:r>
            <a:r>
              <a:rPr lang="fr-FR" dirty="0"/>
              <a:t>. C'est donc a priori un compteur de mots mais en fait, on lui trouve plusieurs autres utilités : compter le nombre de lignes (très fréquent) et compter le nombre de caractères.</a:t>
            </a:r>
          </a:p>
          <a:p>
            <a:endParaRPr lang="fr-FR" dirty="0"/>
          </a:p>
          <a:p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Ces trois nombres signifient, dans l'ordre 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le nombre de lignes.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le nombre de mots.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le nombre d'octets.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60</a:t>
            </a:fld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694" y="2976898"/>
            <a:ext cx="10545738" cy="138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49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37904" y="286603"/>
            <a:ext cx="7317776" cy="1450757"/>
          </a:xfrm>
        </p:spPr>
        <p:txBody>
          <a:bodyPr/>
          <a:lstStyle/>
          <a:p>
            <a:r>
              <a:rPr lang="fr-FR" dirty="0"/>
              <a:t>Options : </a:t>
            </a:r>
            <a:r>
              <a:rPr lang="fr-FR" dirty="0" err="1"/>
              <a:t>wc</a:t>
            </a:r>
            <a:r>
              <a:rPr lang="fr-FR" dirty="0"/>
              <a:t>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845733"/>
            <a:ext cx="10429312" cy="461405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FR" b="1" dirty="0"/>
              <a:t>-l : compter le nombre de lignes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dirty="0"/>
              <a:t>$ </a:t>
            </a:r>
            <a:r>
              <a:rPr lang="fr-FR" dirty="0" err="1"/>
              <a:t>wc</a:t>
            </a:r>
            <a:r>
              <a:rPr lang="fr-FR" dirty="0"/>
              <a:t> -l noms.txt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dirty="0"/>
              <a:t>8 noms.txt</a:t>
            </a:r>
            <a:endParaRPr lang="fr-FR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b="1" dirty="0"/>
              <a:t>-w : compter le nombre de mots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dirty="0"/>
              <a:t>$ </a:t>
            </a:r>
            <a:r>
              <a:rPr lang="fr-FR" dirty="0" err="1"/>
              <a:t>wc</a:t>
            </a:r>
            <a:r>
              <a:rPr lang="fr-FR" dirty="0"/>
              <a:t> -w noms.txt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dirty="0"/>
              <a:t>8 noms.txt</a:t>
            </a:r>
            <a:endParaRPr lang="fr-FR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b="1" dirty="0"/>
              <a:t>-c : compter le nombre d'octets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dirty="0"/>
              <a:t>$ </a:t>
            </a:r>
            <a:r>
              <a:rPr lang="fr-FR" dirty="0" err="1"/>
              <a:t>wc</a:t>
            </a:r>
            <a:r>
              <a:rPr lang="fr-FR" dirty="0"/>
              <a:t> -c noms.txt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dirty="0"/>
              <a:t>64 noms.txt</a:t>
            </a:r>
            <a:endParaRPr lang="fr-FR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b="1" dirty="0"/>
              <a:t>-m : compter le nombre de caractères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dirty="0"/>
              <a:t>$ </a:t>
            </a:r>
            <a:r>
              <a:rPr lang="fr-FR" dirty="0" err="1"/>
              <a:t>wc</a:t>
            </a:r>
            <a:r>
              <a:rPr lang="fr-FR" dirty="0"/>
              <a:t> -m noms.txt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dirty="0"/>
              <a:t>62 noms.txt</a:t>
            </a:r>
            <a:endParaRPr lang="fr-FR" b="1" dirty="0"/>
          </a:p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61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83374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41576" y="286604"/>
            <a:ext cx="6175156" cy="1075666"/>
          </a:xfrm>
        </p:spPr>
        <p:txBody>
          <a:bodyPr/>
          <a:lstStyle/>
          <a:p>
            <a:r>
              <a:rPr lang="fr-FR" dirty="0"/>
              <a:t>Travail à rendre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810140"/>
            <a:ext cx="10058400" cy="4534676"/>
          </a:xfrm>
        </p:spPr>
        <p:txBody>
          <a:bodyPr>
            <a:normAutofit fontScale="62500" lnSpcReduction="20000"/>
          </a:bodyPr>
          <a:lstStyle/>
          <a:p>
            <a:r>
              <a:rPr lang="fr-FR" dirty="0"/>
              <a:t>1. Rappeler les commandes de base de navigation dans le système de fichiers. Utiliser ces commandes afin d'explorer l'arborescence du système.</a:t>
            </a:r>
          </a:p>
          <a:p>
            <a:r>
              <a:rPr lang="fr-FR" dirty="0"/>
              <a:t> 2. A l’aide de la commande </a:t>
            </a:r>
            <a:r>
              <a:rPr lang="fr-FR" dirty="0" err="1"/>
              <a:t>echo</a:t>
            </a:r>
            <a:r>
              <a:rPr lang="fr-FR" dirty="0"/>
              <a:t>, créer un fichier essai contenant le texte « ceci est un essai » </a:t>
            </a:r>
          </a:p>
          <a:p>
            <a:r>
              <a:rPr lang="fr-FR" dirty="0"/>
              <a:t> 3. Donner une commande qui permet d'afficher le contenu du fichier essai. </a:t>
            </a:r>
          </a:p>
          <a:p>
            <a:r>
              <a:rPr lang="fr-FR" dirty="0"/>
              <a:t>4.  Afficher le nom du répertoire de travail</a:t>
            </a:r>
          </a:p>
          <a:p>
            <a:r>
              <a:rPr lang="fr-FR" dirty="0"/>
              <a:t> 5. Sauvegarder la liste des fichiers contenus dans le répertoire de travail dans un fichier nommé list.txt </a:t>
            </a:r>
          </a:p>
          <a:p>
            <a:r>
              <a:rPr lang="fr-FR" dirty="0"/>
              <a:t>6. Donner une commande qui permet de créer dans /</a:t>
            </a:r>
            <a:r>
              <a:rPr lang="fr-FR" dirty="0" err="1"/>
              <a:t>tmp</a:t>
            </a:r>
            <a:r>
              <a:rPr lang="fr-FR" dirty="0"/>
              <a:t> un répertoire moduleR3 qui contient un répertoire nommé tp1. </a:t>
            </a:r>
          </a:p>
          <a:p>
            <a:r>
              <a:rPr lang="fr-FR" dirty="0"/>
              <a:t>7. Copier le fichier essai dans le répertoire /</a:t>
            </a:r>
            <a:r>
              <a:rPr lang="fr-FR" dirty="0" err="1"/>
              <a:t>tmp</a:t>
            </a:r>
            <a:r>
              <a:rPr lang="fr-FR" dirty="0"/>
              <a:t>/moduleR3/tp1 </a:t>
            </a:r>
          </a:p>
          <a:p>
            <a:r>
              <a:rPr lang="fr-FR" dirty="0"/>
              <a:t>8. Déplacer le fichier list.txt dans le répertoire /</a:t>
            </a:r>
            <a:r>
              <a:rPr lang="fr-FR" dirty="0" err="1"/>
              <a:t>tmp</a:t>
            </a:r>
            <a:r>
              <a:rPr lang="fr-FR" dirty="0"/>
              <a:t>/moduleR3 </a:t>
            </a:r>
          </a:p>
          <a:p>
            <a:r>
              <a:rPr lang="fr-FR" dirty="0"/>
              <a:t>9. Effacer le fichier  /</a:t>
            </a:r>
            <a:r>
              <a:rPr lang="fr-FR" dirty="0" err="1"/>
              <a:t>tmp</a:t>
            </a:r>
            <a:r>
              <a:rPr lang="fr-FR" dirty="0"/>
              <a:t>/moduleR3/list.txt. </a:t>
            </a:r>
          </a:p>
          <a:p>
            <a:r>
              <a:rPr lang="fr-FR" dirty="0"/>
              <a:t>10. Donner une commande qui permet d'effacer le contenu du /</a:t>
            </a:r>
            <a:r>
              <a:rPr lang="fr-FR" dirty="0" err="1"/>
              <a:t>tmp</a:t>
            </a:r>
            <a:r>
              <a:rPr lang="fr-FR" dirty="0"/>
              <a:t>. (y compris les </a:t>
            </a:r>
            <a:r>
              <a:rPr lang="fr-FR" dirty="0" err="1"/>
              <a:t>sousrépertoires</a:t>
            </a:r>
            <a:r>
              <a:rPr lang="fr-FR" dirty="0"/>
              <a:t> de /</a:t>
            </a:r>
            <a:r>
              <a:rPr lang="fr-FR" dirty="0" err="1"/>
              <a:t>tmp</a:t>
            </a:r>
            <a:r>
              <a:rPr lang="fr-FR" dirty="0"/>
              <a:t>) </a:t>
            </a:r>
          </a:p>
          <a:p>
            <a:r>
              <a:rPr lang="fr-FR" dirty="0"/>
              <a:t>11. Donner une commande qui retourne le contenu du répertoire « / » trié en ordre alphabétique inversée. </a:t>
            </a:r>
          </a:p>
          <a:p>
            <a:r>
              <a:rPr lang="fr-FR" dirty="0"/>
              <a:t>12. Donner une commande qui affiche les trois premiers lignes du fichier /</a:t>
            </a:r>
            <a:r>
              <a:rPr lang="fr-FR" dirty="0" err="1"/>
              <a:t>etc</a:t>
            </a:r>
            <a:r>
              <a:rPr lang="fr-FR" dirty="0"/>
              <a:t>/</a:t>
            </a:r>
            <a:r>
              <a:rPr lang="fr-FR" dirty="0" err="1"/>
              <a:t>passwd</a:t>
            </a:r>
            <a:r>
              <a:rPr lang="fr-FR" dirty="0"/>
              <a:t>. Donner une commande qui affiche l'avant dernière ligne de ce même fichier. 13. Que fait la commande </a:t>
            </a:r>
            <a:r>
              <a:rPr lang="fr-FR" dirty="0" err="1"/>
              <a:t>touch</a:t>
            </a:r>
            <a:r>
              <a:rPr lang="fr-FR" dirty="0"/>
              <a:t> ? et la commande file ? </a:t>
            </a:r>
          </a:p>
          <a:p>
            <a:r>
              <a:rPr lang="fr-FR" dirty="0"/>
              <a:t>14. Créer des fichiers vides (de tailles 0 octets) dans /</a:t>
            </a:r>
            <a:r>
              <a:rPr lang="fr-FR" dirty="0" err="1"/>
              <a:t>tmp</a:t>
            </a:r>
            <a:r>
              <a:rPr lang="fr-FR" dirty="0"/>
              <a:t>. </a:t>
            </a:r>
          </a:p>
          <a:p>
            <a:r>
              <a:rPr lang="fr-FR" dirty="0"/>
              <a:t>15. Donner une commande qui permet d'effacer tous les fichiers vides se trouvant dans /</a:t>
            </a:r>
            <a:r>
              <a:rPr lang="fr-FR" dirty="0" err="1"/>
              <a:t>tmp</a:t>
            </a:r>
            <a:r>
              <a:rPr lang="fr-FR" dirty="0"/>
              <a:t>. 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Administration système LINUX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D86B2-A351-4942-86B0-4445DAD130EE}" type="slidenum">
              <a:rPr lang="fr-FR" smtClean="0"/>
              <a:pPr/>
              <a:t>62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32001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étrospective">
  <a:themeElements>
    <a:clrScheme name="Rétrospectiv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étrospectiv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22585</TotalTime>
  <Words>1633</Words>
  <Application>Microsoft Office PowerPoint</Application>
  <PresentationFormat>Grand écran</PresentationFormat>
  <Paragraphs>502</Paragraphs>
  <Slides>62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62</vt:i4>
      </vt:variant>
    </vt:vector>
  </HeadingPairs>
  <TitlesOfParts>
    <vt:vector size="69" baseType="lpstr">
      <vt:lpstr>Arial</vt:lpstr>
      <vt:lpstr>Calibri</vt:lpstr>
      <vt:lpstr>Calibri Light</vt:lpstr>
      <vt:lpstr>Courier New</vt:lpstr>
      <vt:lpstr>Montserrat</vt:lpstr>
      <vt:lpstr>Wingdings</vt:lpstr>
      <vt:lpstr>Rétrospective</vt:lpstr>
      <vt:lpstr>Présentation PowerPoint</vt:lpstr>
      <vt:lpstr>Sommaire</vt:lpstr>
      <vt:lpstr>Partie 1 : Linux </vt:lpstr>
      <vt:lpstr>1. Rappel Système d’exploitation</vt:lpstr>
      <vt:lpstr>Démarrage du système d'exploitation (Windows) </vt:lpstr>
      <vt:lpstr>          C’est quoi LINUX ?</vt:lpstr>
      <vt:lpstr>Peut-on faire cohabiter deux OS sur son ordinateur ?</vt:lpstr>
      <vt:lpstr>                           Boot Loader</vt:lpstr>
      <vt:lpstr>Programmes sous LINUX</vt:lpstr>
      <vt:lpstr>                La naissance de Linux</vt:lpstr>
      <vt:lpstr>La naissance de Linux</vt:lpstr>
      <vt:lpstr>Schéma : Naissance de Linux</vt:lpstr>
      <vt:lpstr>             Les distributions de Linux</vt:lpstr>
      <vt:lpstr>Schéma :Les distributions de Linux</vt:lpstr>
      <vt:lpstr>En résumé : Partie 1</vt:lpstr>
      <vt:lpstr>Partie 2 : Gestionnaire de bureau Linux</vt:lpstr>
      <vt:lpstr>Partie 2 : Les deux visages de Linux</vt:lpstr>
      <vt:lpstr>Mode graphique : Principaux gestionnaires de bureau</vt:lpstr>
      <vt:lpstr>En résumé : Partie 2</vt:lpstr>
      <vt:lpstr>Partie 3 : Console </vt:lpstr>
      <vt:lpstr>Manipuler la console </vt:lpstr>
      <vt:lpstr>La console en mode graphique</vt:lpstr>
      <vt:lpstr>Partie 4 : Commandes Linux </vt:lpstr>
      <vt:lpstr>Présentation PowerPoint</vt:lpstr>
      <vt:lpstr>Présentation PowerPoint</vt:lpstr>
      <vt:lpstr>Commandes et paramètres</vt:lpstr>
      <vt:lpstr>Entrer une commande</vt:lpstr>
      <vt:lpstr>Entrer une commande</vt:lpstr>
      <vt:lpstr>Résumé</vt:lpstr>
      <vt:lpstr>La structure des dossiers et fichiers</vt:lpstr>
      <vt:lpstr>La structure des dossiers et fichiers</vt:lpstr>
      <vt:lpstr>Les dossiers de la racine</vt:lpstr>
      <vt:lpstr>             pwd &amp; which : où suis-je ?</vt:lpstr>
      <vt:lpstr>         ls : lister les fichiers et dossiers</vt:lpstr>
      <vt:lpstr>                  cd: changer de dossier</vt:lpstr>
      <vt:lpstr>                  cd: changer de dossier</vt:lpstr>
      <vt:lpstr>                  cd: changer de dossier</vt:lpstr>
      <vt:lpstr>Résumé</vt:lpstr>
      <vt:lpstr>touch &amp; mkdir : créer des fichiers et dossiers</vt:lpstr>
      <vt:lpstr>          cat &amp; less : afficher un fichier</vt:lpstr>
      <vt:lpstr>head &amp; tail : afficher le début et la fin d'un fichier</vt:lpstr>
      <vt:lpstr>cp &amp; mv : copier et déplacer un fichier</vt:lpstr>
      <vt:lpstr>rm : supprimer des fichiers et dossiers</vt:lpstr>
      <vt:lpstr>Ln : créer des liens entre fichiers</vt:lpstr>
      <vt:lpstr>Ln : créer des liens physiques </vt:lpstr>
      <vt:lpstr>Ln : créer des liens symboliques</vt:lpstr>
      <vt:lpstr>Présentation PowerPoint</vt:lpstr>
      <vt:lpstr>Grep : filtrer des données</vt:lpstr>
      <vt:lpstr>         Options : GREP</vt:lpstr>
      <vt:lpstr>             Grep : filtrer des données</vt:lpstr>
      <vt:lpstr>Présentation PowerPoint</vt:lpstr>
      <vt:lpstr>Présentation PowerPoint</vt:lpstr>
      <vt:lpstr>Questions </vt:lpstr>
      <vt:lpstr>Présentation PowerPoint</vt:lpstr>
      <vt:lpstr>Sort : trier les lignes</vt:lpstr>
      <vt:lpstr>Sort : trier les lignes</vt:lpstr>
      <vt:lpstr>Options Sort</vt:lpstr>
      <vt:lpstr>Présentation PowerPoint</vt:lpstr>
      <vt:lpstr>Présentation PowerPoint</vt:lpstr>
      <vt:lpstr>wc : compter le nombre de lignes</vt:lpstr>
      <vt:lpstr>Options : wc </vt:lpstr>
      <vt:lpstr>Travail à rendre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Reda BOUCHIKHI</dc:creator>
  <cp:lastModifiedBy>lenovo</cp:lastModifiedBy>
  <cp:revision>123</cp:revision>
  <dcterms:created xsi:type="dcterms:W3CDTF">2018-10-05T10:15:49Z</dcterms:created>
  <dcterms:modified xsi:type="dcterms:W3CDTF">2024-10-08T09:06:16Z</dcterms:modified>
</cp:coreProperties>
</file>